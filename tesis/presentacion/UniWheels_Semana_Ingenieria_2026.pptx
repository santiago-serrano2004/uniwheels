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5.jpe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1pPr>
    <a:lvl2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2pPr>
    <a:lvl3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3pPr>
    <a:lvl4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4pPr>
    <a:lvl5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5pPr>
    <a:lvl6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6pPr>
    <a:lvl7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7pPr>
    <a:lvl8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8pPr>
    <a:lvl9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FFF"/>
          </a:solidFill>
        </a:fill>
      </a:tcStyle>
    </a:wholeTbl>
    <a:band2H>
      <a:tcTxStyle b="def" i="def"/>
      <a:tcStyle>
        <a:tcBdr/>
        <a:fill>
          <a:solidFill>
            <a:srgbClr val="E6F0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F0CC"/>
          </a:solidFill>
        </a:fill>
      </a:tcStyle>
    </a:wholeTbl>
    <a:band2H>
      <a:tcTxStyle b="def" i="def"/>
      <a:tcStyle>
        <a:tcBdr/>
        <a:fill>
          <a:solidFill>
            <a:srgbClr val="EAF8E7"/>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CDDF"/>
          </a:solidFill>
        </a:fill>
      </a:tcStyle>
    </a:wholeTbl>
    <a:band2H>
      <a:tcTxStyle b="def" i="def"/>
      <a:tcStyle>
        <a:tcBdr/>
        <a:fill>
          <a:solidFill>
            <a:srgbClr val="FFE8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5E5E5E"/>
        </a:fontRef>
        <a:srgbClr val="5E5E5E"/>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5E5E5E"/>
        </a:fontRef>
        <a:srgbClr val="5E5E5E"/>
      </a:tcTxStyle>
      <a:tcStyle>
        <a:tcBdr>
          <a:left>
            <a:ln w="12700" cap="flat">
              <a:noFill/>
              <a:miter lim="400000"/>
            </a:ln>
          </a:left>
          <a:right>
            <a:ln w="12700" cap="flat">
              <a:noFill/>
              <a:miter lim="400000"/>
            </a:ln>
          </a:right>
          <a:top>
            <a:ln w="508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D1D1"/>
          </a:solidFill>
        </a:fill>
      </a:tcStyle>
    </a:wholeTbl>
    <a:band2H>
      <a:tcTxStyle b="def" i="def"/>
      <a:tcStyle>
        <a:tcBdr/>
        <a:fill>
          <a:solidFill>
            <a:srgbClr val="E9E9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Row>
  </a:tblStyle>
  <a:tblStyle styleId="{2708684C-4D16-4618-839F-0558EEFCDFE6}" styleName="">
    <a:tblBg/>
    <a:wholeTbl>
      <a:tcTxStyle b="off" i="off">
        <a:fontRef idx="min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solidFill>
            <a:srgbClr val="5E5E5E">
              <a:alpha val="20000"/>
            </a:srgbClr>
          </a:solidFill>
        </a:fill>
      </a:tcStyle>
    </a:wholeTbl>
    <a:band2H>
      <a:tcTxStyle b="def" i="def"/>
      <a:tcStyle>
        <a:tcBdr/>
        <a:fill>
          <a:solidFill>
            <a:srgbClr val="FFFFFF"/>
          </a:solidFill>
        </a:fill>
      </a:tcStyle>
    </a:band2H>
    <a:firstCol>
      <a:tcTxStyle b="on" i="off">
        <a:fontRef idx="min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solidFill>
            <a:srgbClr val="5E5E5E">
              <a:alpha val="20000"/>
            </a:srgbClr>
          </a:solidFill>
        </a:fill>
      </a:tcStyle>
    </a:firstCol>
    <a:lastRow>
      <a:tcTxStyle b="on" i="off">
        <a:fontRef idx="min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508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noFill/>
        </a:fill>
      </a:tcStyle>
    </a:lastRow>
    <a:firstRow>
      <a:tcTxStyle b="on" i="off">
        <a:fontRef idx="min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254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1" name="Shape 31"/>
          <p:cNvSpPr/>
          <p:nvPr>
            <p:ph type="sldImg"/>
          </p:nvPr>
        </p:nvSpPr>
        <p:spPr>
          <a:xfrm>
            <a:off x="1143000" y="685800"/>
            <a:ext cx="4572000" cy="3429000"/>
          </a:xfrm>
          <a:prstGeom prst="rect">
            <a:avLst/>
          </a:prstGeom>
        </p:spPr>
        <p:txBody>
          <a:bodyPr/>
          <a:lstStyle/>
          <a:p>
            <a:pPr/>
          </a:p>
        </p:txBody>
      </p:sp>
      <p:sp>
        <p:nvSpPr>
          <p:cNvPr id="32" name="Shape 3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311726" latinLnBrk="0">
      <a:lnSpc>
        <a:spcPct val="117999"/>
      </a:lnSpc>
      <a:defRPr sz="1400">
        <a:latin typeface="+mj-lt"/>
        <a:ea typeface="+mj-ea"/>
        <a:cs typeface="+mj-cs"/>
        <a:sym typeface="Helvetica Neue"/>
      </a:defRPr>
    </a:lvl1pPr>
    <a:lvl2pPr indent="228600" defTabSz="311726" latinLnBrk="0">
      <a:lnSpc>
        <a:spcPct val="117999"/>
      </a:lnSpc>
      <a:defRPr sz="1400">
        <a:latin typeface="+mj-lt"/>
        <a:ea typeface="+mj-ea"/>
        <a:cs typeface="+mj-cs"/>
        <a:sym typeface="Helvetica Neue"/>
      </a:defRPr>
    </a:lvl2pPr>
    <a:lvl3pPr indent="457200" defTabSz="311726" latinLnBrk="0">
      <a:lnSpc>
        <a:spcPct val="117999"/>
      </a:lnSpc>
      <a:defRPr sz="1400">
        <a:latin typeface="+mj-lt"/>
        <a:ea typeface="+mj-ea"/>
        <a:cs typeface="+mj-cs"/>
        <a:sym typeface="Helvetica Neue"/>
      </a:defRPr>
    </a:lvl3pPr>
    <a:lvl4pPr indent="685800" defTabSz="311726" latinLnBrk="0">
      <a:lnSpc>
        <a:spcPct val="117999"/>
      </a:lnSpc>
      <a:defRPr sz="1400">
        <a:latin typeface="+mj-lt"/>
        <a:ea typeface="+mj-ea"/>
        <a:cs typeface="+mj-cs"/>
        <a:sym typeface="Helvetica Neue"/>
      </a:defRPr>
    </a:lvl4pPr>
    <a:lvl5pPr indent="914400" defTabSz="311726" latinLnBrk="0">
      <a:lnSpc>
        <a:spcPct val="117999"/>
      </a:lnSpc>
      <a:defRPr sz="1400">
        <a:latin typeface="+mj-lt"/>
        <a:ea typeface="+mj-ea"/>
        <a:cs typeface="+mj-cs"/>
        <a:sym typeface="Helvetica Neue"/>
      </a:defRPr>
    </a:lvl5pPr>
    <a:lvl6pPr indent="1143000" defTabSz="311726" latinLnBrk="0">
      <a:lnSpc>
        <a:spcPct val="117999"/>
      </a:lnSpc>
      <a:defRPr sz="1400">
        <a:latin typeface="+mj-lt"/>
        <a:ea typeface="+mj-ea"/>
        <a:cs typeface="+mj-cs"/>
        <a:sym typeface="Helvetica Neue"/>
      </a:defRPr>
    </a:lvl6pPr>
    <a:lvl7pPr indent="1371600" defTabSz="311726" latinLnBrk="0">
      <a:lnSpc>
        <a:spcPct val="117999"/>
      </a:lnSpc>
      <a:defRPr sz="1400">
        <a:latin typeface="+mj-lt"/>
        <a:ea typeface="+mj-ea"/>
        <a:cs typeface="+mj-cs"/>
        <a:sym typeface="Helvetica Neue"/>
      </a:defRPr>
    </a:lvl7pPr>
    <a:lvl8pPr indent="1600200" defTabSz="311726" latinLnBrk="0">
      <a:lnSpc>
        <a:spcPct val="117999"/>
      </a:lnSpc>
      <a:defRPr sz="1400">
        <a:latin typeface="+mj-lt"/>
        <a:ea typeface="+mj-ea"/>
        <a:cs typeface="+mj-cs"/>
        <a:sym typeface="Helvetica Neue"/>
      </a:defRPr>
    </a:lvl8pPr>
    <a:lvl9pPr indent="1828800" defTabSz="311726" latinLnBrk="0">
      <a:lnSpc>
        <a:spcPct val="117999"/>
      </a:lnSpc>
      <a:defRPr sz="1400">
        <a:latin typeface="+mj-lt"/>
        <a:ea typeface="+mj-ea"/>
        <a:cs typeface="+mj-cs"/>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[0:30] Buenas tardes. Soy Santiago Serrano Ortiz, de Ingeniería de Sistemas, y les presento UniWheels: una plataforma de carpooling en tiempo real para la movilidad de la comunidad UNAB. El proyecto lo dirige el profesor Julian Santiago Santoyo Diaz. En diez minutos les cuento el problema, la solución y cómo la vamos a validar. Empecemos por el problema.</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[0:50] Moverse hacia la UNAB cuesta. En el área metropolitana circulan más de seiscientas cuarenta mil motocicletas, cuarenta y cuatro por cada cien habitantes, y los carros siguen el paso. A las sedes —El Jardín, CSU, La Casona y El Bosque— se llega entre estancamientos en las horas pico, de cinco y media a seis y media, de la mañana y de la tarde. Los parqueaderos están desbordados y un carro paga desde ciento veinticinco mil pesos al mes. Y en promedio llega un solo ocupante por vehículo. Hay demanda y asientos vacíos, pero nada que los conecte. Veamos por qué importa.</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[0:40] Esto importa por cuatro razones. Congestión: las vías de acceso se estancan en hora pico. Costo: el galón de gasolina está en dieciséis mil cuarenta y nueve pesos y los parqueaderos de la universidad están saturados. Seguridad: quien no tiene vehículo recurre al transporte informal, que es de alto riesgo, o paga aplicaciones privadas. Y sostenibilidad: cada carro con un solo ocupante pesa en la huella de carbono institucional. Esto nos lleva a la pregunta que guía el trabajo y a sus objetivos.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[0:50] El objetivo general es desarrollar una plataforma desacoplada de carpooling, asistida por inteligencia artificial, para la comunidad UNAB, que optimice los tiempos de desplazamiento, reduzca los sobrecostos y aumente la ocupación vehicular durante 2026. Lo desglosamos en cuatro objetivos específicos: diagnosticar los hábitos de movilidad y los requisitos de seguridad con encuestas y entrevistas; modelar una arquitectura modular con un componente de optimización de rutas; desarrollar la plataforma, con rastreo en vivo y notificaciones; y evaluar su rendimiento, usabilidad e impacto. Ahora, ¿qué existe hoy?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[0:40] El carpooling universitario no es nuevo. Hoy se resuelve publicando trayectos en redes sociales, de forma precaria, o con plataformas formales como Vai, en la Universidad de los Andes, que arrancó con una inversión ángel cercana a quinientos treinta mil dólares. El valor diferencial de UniWheels es emparejar trayectorias sobre el mapa vial y decidir dónde insertar paradas, para que un desvío solo se sugiera si es óptimo y el conductor lo tolera. Veamos la solución.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[0:50] UniWheels es una aplicación móvil de carpooling para la comunidad universitaria. Conecta conductores y pasajeros verificados: hacia las sedes, desde ellas y entre ellas. Verificados significa que solo entra quien tiene correo institucional vigente. Y es importante: la aplicación no procesa pagos. El modelo es B2B, la universidad es quien contrata, y el aporte al conductor se acuerda por fuera de la app. La imagen es ilustrativa, con el campus y la marca. Veamos cómo funciona un viaje.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[0:40] El flujo tiene cuatro pasos. Uno: el conductor publica la ruta que ya hace todos los días. Dos: el pasajero la reserva y fija su punto de recogida con coordenadas reales sobre el mapa. Tres: al recoger, el viaje inicia con una verificación por PIN entre conductor y pasajero. Cuatro: el conductor finaliza el viaje en el servidor. Todo ese ciclo lo gobierna una máquina de estados en el servicio de viajes. Ahora, qué hay por debajo.</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[0:50] La arquitectura es de microservicios, como propone el documento. El cliente es la aplicación móvil en Expo y React Native, más un panel de administración para Bienestar. Todo entra por un gateway nginx que reparte a cinco servicios Laravel: autenticación con JWT, vehículos, emparejamiento de rutas sobre PostGIS, viajes y notificaciones. El emparejamiento consulta al servicio de inteligencia artificial en FastAPI, que predice el tiempo de llegada con XGBoost y optimiza paradas con ALNS. Cada servicio tiene su propia base PostgreSQL, hay Redis compartido y el correo sale por Resend. Esa separación permite escalar cada pieza por separado. Veamos cómo lo construimos.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[0:40] Metodológicamente combino tres marcos. El ciclo PHVA —planear, hacer, verificar, actuar— para el control de calidad. Las cinco fases de PMBOK —inicio, planificación, ejecución, monitoreo y control, y cierre— para gestionar alcance, tiempo y riesgos. Y, como el desarrollo lo hago yo solo, un enfoque iterativo e incremental apoyado en Kanban. La madurez tecnológica parte de un TRL 3, prueba de concepto, y apunta a un TRL 6: un prototipo integrado y validado en un entorno relevante. (Para ti: las fases PHVA y PMBOK del documento vienen de un texto genérico de la rúbrica; confirma que describen tu plan real.)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[0:40] La confianza es la base de un carpooling. UniWheels está delimitado a la comunidad UNAB con cuenta de correo institucional vigente; eso funciona como control de acceso. Sobre esa comunidad cerrada emparejamos conductores y pasajeros verificados. Y el modelo es colaborativo: se comparten gastos de combustible y parqueadero, sin ánimo de lucro mercantil y sin prestar un servicio de transporte remunerado. (Para ti: el marco normativo y las consideraciones éticas del documento son texto de ejemplo de la rúbrica; si el jurado pregunta por la Ley 1581 de 2012, responde con lo que ya implementa el sistema y reconoce que el apartado se está redactando.)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[0:50] Un anteproyecto se valida con metas medibles, y estas son las mías. Usabilidad: una puntuación de al menos ochenta sobre cien en la escala SUS. Rendimiento: respuestas de menos de dos segundos con cien usuarios concurrentes. Compatibilidad: pruebas en al menos dos versiones recientes de Android e iOS. Las obtendré con pruebas unitarias automatizadas, pruebas de carga y una evaluación de campo con la comunidad UNAB, y también aplicaré la guía de pruebas de seguridad móvil de OWASP. Son metas, no resultados: el documento todavía no reporta mediciones. (Para ti: si ya tienes datos reales —usuarios, pruebas, despliegue— agrégalos aquí.)</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[0:40] Identifiqué tres riesgos. Fallos de sincronización entre la nube y el móvil, de impacto alto: lo mitigo con almacenamiento local temporal y reintentos automáticos. Baja adopción, de impacto medio: capacitación previa y mejoras en la interfaz. Y vulnerabilidades de seguridad, de impacto alto: auditorías de código y cifrado. Para un sistema que mueve personas en el mundo real, la seguridad es el riesgo que más vigilo. (Para ti: esta tabla del documento es genérica y no trae probabilidad; ajústala a tus riesgos reales si cambian.)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[0:40] Qué aporta UniWheels si cumple sus objetivos. Al pasajero, una alternativa económica, segura y predecible. Al conductor, la posibilidad de compartir gastos de combustible y parqueadero. Y a la universidad, aliviar la presión sobre los parqueaderos sin invertir en infraestructura física. Lo que sigue es llevar el sistema de TRL 3 a TRL 6, con un prototipo integrado validado en un entorno relevante, y dejar la base para futuras fases de escalamiento. Cierro con cómo pueden conocerlo.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[0:20] Si quieren ver UniWheels, escaneen este código o entren a uniwheels.org. Muchas gracias por su atención; con gusto recibo sus preguntas.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Abro los cinco minutos de preguntas. Tengo respaldo con arquitectura detallada, variables de validación y el análisis de actores si lo piden. (Guion de respuestas: preguntas_probables.md.)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RESPALDO. Servicios del sistema y su responsabilidad. Cada servicio tiene su base de datos; el JWT lo emite solo auth-service y los demás lo validan con un secreto compartido.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RESPALDO. Variables de validación del documento que sí aplican a UniWheels, como metas. Se excluyeron las filas heredadas de un proyecto de gestión documental.</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RESPALDO. Actores y sus necesidades, tomados del análisis de necesidades del documento.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Portada">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11" name="Slide Number"/>
          <p:cNvSpPr txBox="1"/>
          <p:nvPr>
            <p:ph type="sldNum" sz="quarter" idx="2"/>
          </p:nvPr>
        </p:nvSpPr>
        <p:spPr>
          <a:xfrm>
            <a:off x="12044267" y="9167929"/>
            <a:ext cx="295469" cy="27972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Interna">
    <p:spTree>
      <p:nvGrpSpPr>
        <p:cNvPr id="1" name=""/>
        <p:cNvGrpSpPr/>
        <p:nvPr/>
      </p:nvGrpSpPr>
      <p:grpSpPr>
        <a:xfrm>
          <a:off x="0" y="0"/>
          <a:ext cx="0" cy="0"/>
          <a:chOff x="0" y="0"/>
          <a:chExt cx="0" cy="0"/>
        </a:xfrm>
      </p:grpSpPr>
      <p:sp>
        <p:nvSpPr>
          <p:cNvPr id="1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ierre">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25" name="Slide Number"/>
          <p:cNvSpPr txBox="1"/>
          <p:nvPr>
            <p:ph type="sldNum" sz="quarter" idx="2"/>
          </p:nvPr>
        </p:nvSpPr>
        <p:spPr>
          <a:xfrm>
            <a:off x="12042371" y="9167929"/>
            <a:ext cx="295469" cy="27972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Oscuro contenido">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25" name="Slide Number"/>
          <p:cNvSpPr txBox="1"/>
          <p:nvPr>
            <p:ph type="sldNum" sz="quarter" idx="2"/>
          </p:nvPr>
        </p:nvSpPr>
        <p:spPr>
          <a:xfrm>
            <a:off x="12042371" y="9167929"/>
            <a:ext cx="295469" cy="27972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2" name="Title Text"/>
          <p:cNvSpPr txBox="1"/>
          <p:nvPr>
            <p:ph type="title"/>
          </p:nvPr>
        </p:nvSpPr>
        <p:spPr>
          <a:xfrm>
            <a:off x="3653366" y="0"/>
            <a:ext cx="19507201" cy="3673475"/>
          </a:xfrm>
          <a:prstGeom prst="rect">
            <a:avLst/>
          </a:prstGeom>
          <a:ln w="12700">
            <a:miter lim="400000"/>
          </a:ln>
          <a:extLst>
            <a:ext uri="{C572A759-6A51-4108-AA02-DFA0A04FC94B}">
              <ma14:wrappingTextBoxFlag xmlns:ma14="http://schemas.microsoft.com/office/mac/drawingml/2011/main" val="1"/>
            </a:ext>
          </a:extLst>
        </p:spPr>
        <p:txBody>
          <a:bodyPr lIns="28405" tIns="28405" rIns="28405" bIns="28405" anchor="b">
            <a:normAutofit fontScale="100000" lnSpcReduction="0"/>
          </a:bodyPr>
          <a:lstStyle/>
          <a:p>
            <a:pPr/>
            <a:r>
              <a:t>Title Text</a:t>
            </a:r>
          </a:p>
        </p:txBody>
      </p:sp>
      <p:sp>
        <p:nvSpPr>
          <p:cNvPr id="3" name="Body Level One…"/>
          <p:cNvSpPr txBox="1"/>
          <p:nvPr>
            <p:ph type="body" idx="1"/>
          </p:nvPr>
        </p:nvSpPr>
        <p:spPr>
          <a:xfrm>
            <a:off x="13610166" y="4876800"/>
            <a:ext cx="9550401" cy="8839200"/>
          </a:xfrm>
          <a:prstGeom prst="rect">
            <a:avLst/>
          </a:prstGeom>
          <a:ln w="12700">
            <a:miter lim="400000"/>
          </a:ln>
          <a:extLst>
            <a:ext uri="{C572A759-6A51-4108-AA02-DFA0A04FC94B}">
              <ma14:wrappingTextBoxFlag xmlns:ma14="http://schemas.microsoft.com/office/mac/drawingml/2011/main" val="1"/>
            </a:ext>
          </a:extLst>
        </p:spPr>
        <p:txBody>
          <a:bodyPr lIns="28405" tIns="28405" rIns="28405" bIns="28405">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12042334" y="9167929"/>
            <a:ext cx="295470" cy="279721"/>
          </a:xfrm>
          <a:prstGeom prst="rect">
            <a:avLst/>
          </a:prstGeom>
          <a:ln w="12700">
            <a:miter lim="400000"/>
          </a:ln>
        </p:spPr>
        <p:txBody>
          <a:bodyPr wrap="none" lIns="28405" tIns="28405" rIns="28405" bIns="28405" anchor="b">
            <a:spAutoFit/>
          </a:bodyPr>
          <a:lstStyle>
            <a:lvl1pPr defTabSz="821529">
              <a:defRPr sz="1600">
                <a:solidFill>
                  <a:srgbClr val="000000"/>
                </a:solidFill>
                <a:latin typeface="+mj-lt"/>
                <a:ea typeface="+mj-ea"/>
                <a:cs typeface="+mj-cs"/>
                <a:sym typeface="Helvetica Neue"/>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3"/>
    <p:sldLayoutId id="2147483650" r:id="rId4"/>
    <p:sldLayoutId id="2147483651" r:id="rId5"/>
    <p:sldLayoutId id="2147483652" r:id="rId6"/>
  </p:sldLayoutIdLst>
  <p:transition xmlns:p14="http://schemas.microsoft.com/office/powerpoint/2010/main" spd="med" advClick="1"/>
  <p:txStyles>
    <p:titleStyle>
      <a:lvl1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1pPr>
      <a:lvl2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2pPr>
      <a:lvl3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3pPr>
      <a:lvl4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4pPr>
      <a:lvl5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5pPr>
      <a:lvl6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6pPr>
      <a:lvl7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7pPr>
      <a:lvl8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8pPr>
      <a:lvl9pPr marL="0" marR="0" indent="0" algn="l" defTabSz="2438337" rtl="0" latinLnBrk="0">
        <a:lnSpc>
          <a:spcPct val="80000"/>
        </a:lnSpc>
        <a:spcBef>
          <a:spcPts val="0"/>
        </a:spcBef>
        <a:spcAft>
          <a:spcPts val="0"/>
        </a:spcAft>
        <a:buClrTx/>
        <a:buSzTx/>
        <a:buFontTx/>
        <a:buNone/>
        <a:tabLst/>
        <a:defRPr b="1" baseline="0" cap="none" i="0" spc="-224" strike="noStrike" sz="11200" u="none">
          <a:solidFill>
            <a:srgbClr val="000000"/>
          </a:solidFill>
          <a:uFillTx/>
          <a:latin typeface="+mj-lt"/>
          <a:ea typeface="+mj-ea"/>
          <a:cs typeface="+mj-cs"/>
          <a:sym typeface="Helvetica Neue"/>
        </a:defRPr>
      </a:lvl9pPr>
    </p:titleStyle>
    <p:bodyStyle>
      <a:lvl1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1pPr>
      <a:lvl2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2pPr>
      <a:lvl3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3pPr>
      <a:lvl4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4pPr>
      <a:lvl5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5pPr>
      <a:lvl6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6pPr>
      <a:lvl7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7pPr>
      <a:lvl8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8pPr>
      <a:lvl9pPr marL="0" marR="0" indent="0" algn="l" defTabSz="825499" rtl="0" latinLnBrk="0">
        <a:lnSpc>
          <a:spcPct val="100000"/>
        </a:lnSpc>
        <a:spcBef>
          <a:spcPts val="0"/>
        </a:spcBef>
        <a:spcAft>
          <a:spcPts val="0"/>
        </a:spcAft>
        <a:buClrTx/>
        <a:buSzTx/>
        <a:buFontTx/>
        <a:buNone/>
        <a:tabLst/>
        <a:defRPr b="1" baseline="0" cap="none" i="0" spc="0" strike="noStrike" sz="5000" u="none">
          <a:solidFill>
            <a:srgbClr val="000000"/>
          </a:solidFill>
          <a:uFillTx/>
          <a:latin typeface="+mj-lt"/>
          <a:ea typeface="+mj-ea"/>
          <a:cs typeface="+mj-cs"/>
          <a:sym typeface="Helvetica Neue"/>
        </a:defRPr>
      </a:lvl9pPr>
    </p:bodyStyle>
    <p:otherStyle>
      <a:lvl1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1pPr>
      <a:lvl2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2pPr>
      <a:lvl3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3pPr>
      <a:lvl4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4pPr>
      <a:lvl5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5pPr>
      <a:lvl6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6pPr>
      <a:lvl7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7pPr>
      <a:lvl8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8pPr>
      <a:lvl9pPr marL="0" marR="0" indent="0" algn="ctr" defTabSz="821529" rtl="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nel UniWheels"/>
          <p:cNvSpPr/>
          <p:nvPr/>
        </p:nvSpPr>
        <p:spPr>
          <a:xfrm>
            <a:off x="12161520" y="2103120"/>
            <a:ext cx="10607040" cy="9601200"/>
          </a:xfrm>
          <a:prstGeom prst="roundRect">
            <a:avLst>
              <a:gd name="adj" fmla="val 4000"/>
            </a:avLst>
          </a:prstGeom>
          <a:solidFill>
            <a:srgbClr val="002617"/>
          </a:solidFill>
          <a:ln w="38100">
            <a:solidFill>
              <a:srgbClr val="84D7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Marca fondo"/>
          <p:cNvSpPr/>
          <p:nvPr/>
        </p:nvSpPr>
        <p:spPr>
          <a:xfrm>
            <a:off x="13258800" y="3200400"/>
            <a:ext cx="2651760" cy="265176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pic>
        <p:nvPicPr>
          <p:cNvPr id="4" name="Logo UniWheels" descr="Logo de UniWheels"/>
          <p:cNvPicPr>
            <a:picLocks noChangeAspect="1"/>
          </p:cNvPicPr>
          <p:nvPr/>
        </p:nvPicPr>
        <p:blipFill>
          <a:blip r:embed="rId2"/>
          <a:stretch>
            <a:fillRect/>
          </a:stretch>
        </p:blipFill>
        <p:spPr>
          <a:xfrm>
            <a:off x="13533120" y="3794760"/>
            <a:ext cx="2103120" cy="1421249"/>
          </a:xfrm>
          <a:prstGeom prst="rect">
            <a:avLst/>
          </a:prstGeom>
        </p:spPr>
      </p:pic>
      <p:sp>
        <p:nvSpPr>
          <p:cNvPr id="5" name="Título"/>
          <p:cNvSpPr txBox="1"/>
          <p:nvPr/>
        </p:nvSpPr>
        <p:spPr>
          <a:xfrm>
            <a:off x="13258800" y="6309360"/>
            <a:ext cx="8778240" cy="1737360"/>
          </a:xfrm>
          <a:prstGeom prst="rect">
            <a:avLst/>
          </a:prstGeom>
          <a:noFill/>
        </p:spPr>
        <p:txBody>
          <a:bodyPr wrap="square" lIns="0" rIns="0" tIns="0" bIns="0" anchor="ctr">
            <a:spAutoFit/>
          </a:bodyPr>
          <a:lstStyle/>
          <a:p>
            <a:pPr algn="l">
              <a:spcAft>
                <a:spcPts val="0"/>
              </a:spcAft>
            </a:pPr>
            <a:r>
              <a:rPr sz="11000" b="1">
                <a:solidFill>
                  <a:srgbClr val="FFFFFF"/>
                </a:solidFill>
                <a:latin typeface="OpenSans-ExtraBold"/>
                <a:ea typeface="OpenSans-ExtraBold"/>
                <a:cs typeface="OpenSans-ExtraBold"/>
              </a:rPr>
              <a:t>UniWheels</a:t>
            </a:r>
          </a:p>
        </p:txBody>
      </p:sp>
      <p:sp>
        <p:nvSpPr>
          <p:cNvPr id="6" name="Subtítulo"/>
          <p:cNvSpPr txBox="1"/>
          <p:nvPr/>
        </p:nvSpPr>
        <p:spPr>
          <a:xfrm>
            <a:off x="13258800" y="8138160"/>
            <a:ext cx="8778240" cy="1371600"/>
          </a:xfrm>
          <a:prstGeom prst="rect">
            <a:avLst/>
          </a:prstGeom>
          <a:noFill/>
        </p:spPr>
        <p:txBody>
          <a:bodyPr wrap="square" lIns="0" rIns="0" tIns="0" bIns="0" anchor="t">
            <a:spAutoFit/>
          </a:bodyPr>
          <a:lstStyle/>
          <a:p>
            <a:pPr algn="l">
              <a:spcAft>
                <a:spcPts val="0"/>
              </a:spcAft>
            </a:pPr>
            <a:r>
              <a:rPr sz="3600" b="0">
                <a:solidFill>
                  <a:srgbClr val="84D700"/>
                </a:solidFill>
                <a:latin typeface="Open Sans Regular"/>
                <a:ea typeface="Open Sans Regular"/>
                <a:cs typeface="Open Sans Regular"/>
              </a:rPr>
              <a:t>Carpooling en tiempo real para la movilidad de la comunidad UNAB</a:t>
            </a:r>
          </a:p>
        </p:txBody>
      </p:sp>
      <p:sp>
        <p:nvSpPr>
          <p:cNvPr id="7" name="Autoría"/>
          <p:cNvSpPr txBox="1"/>
          <p:nvPr/>
        </p:nvSpPr>
        <p:spPr>
          <a:xfrm>
            <a:off x="13258800" y="9784080"/>
            <a:ext cx="9052560" cy="1645920"/>
          </a:xfrm>
          <a:prstGeom prst="rect">
            <a:avLst/>
          </a:prstGeom>
          <a:noFill/>
        </p:spPr>
        <p:txBody>
          <a:bodyPr wrap="square" lIns="0" rIns="0" tIns="0" bIns="0" anchor="t">
            <a:spAutoFit/>
          </a:bodyPr>
          <a:lstStyle/>
          <a:p>
            <a:pPr algn="l">
              <a:spcAft>
                <a:spcPts val="0"/>
              </a:spcAft>
            </a:pPr>
            <a:r>
              <a:rPr sz="2600" b="1">
                <a:solidFill>
                  <a:srgbClr val="FFFFFF"/>
                </a:solidFill>
                <a:latin typeface="OpenSans-ExtraBold"/>
                <a:ea typeface="OpenSans-ExtraBold"/>
                <a:cs typeface="OpenSans-ExtraBold"/>
              </a:rPr>
              <a:t>Santiago Serrano Ortiz</a:t>
            </a:r>
          </a:p>
          <a:p>
            <a:pPr algn="l">
              <a:spcAft>
                <a:spcPts val="0"/>
              </a:spcAft>
            </a:pPr>
            <a:r>
              <a:rPr sz="2600" b="0">
                <a:solidFill>
                  <a:srgbClr val="FFFFFF"/>
                </a:solidFill>
                <a:latin typeface="Open Sans Regular"/>
                <a:ea typeface="Open Sans Regular"/>
                <a:cs typeface="Open Sans Regular"/>
              </a:rPr>
              <a:t>Director: Julian Santiago Santoyo Diaz</a:t>
            </a:r>
          </a:p>
          <a:p>
            <a:pPr algn="l">
              <a:spcAft>
                <a:spcPts val="0"/>
              </a:spcAft>
            </a:pPr>
            <a:r>
              <a:rPr sz="2600" b="0">
                <a:solidFill>
                  <a:srgbClr val="FFFFFF"/>
                </a:solidFill>
                <a:latin typeface="Open Sans Regular"/>
                <a:ea typeface="Open Sans Regular"/>
                <a:cs typeface="Open Sans Regular"/>
              </a:rPr>
              <a:t>Ingeniería de Sistemas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FFFFFF"/>
                </a:solidFill>
                <a:latin typeface="OpenSans-ExtraBold"/>
                <a:ea typeface="OpenSans-ExtraBold"/>
                <a:cs typeface="OpenSans-ExtraBold"/>
              </a:rPr>
              <a:t>El problema</a:t>
            </a:r>
          </a:p>
        </p:txBody>
      </p:sp>
      <p:sp>
        <p:nvSpPr>
          <p:cNvPr id="3" name="Cifra hero"/>
          <p:cNvSpPr txBox="1"/>
          <p:nvPr/>
        </p:nvSpPr>
        <p:spPr>
          <a:xfrm>
            <a:off x="1650492" y="4206240"/>
            <a:ext cx="12984480" cy="3840480"/>
          </a:xfrm>
          <a:prstGeom prst="rect">
            <a:avLst/>
          </a:prstGeom>
          <a:noFill/>
        </p:spPr>
        <p:txBody>
          <a:bodyPr wrap="square" lIns="0" rIns="0" tIns="0" bIns="0" anchor="ctr">
            <a:spAutoFit/>
          </a:bodyPr>
          <a:lstStyle/>
          <a:p>
            <a:pPr algn="l">
              <a:spcAft>
                <a:spcPts val="0"/>
              </a:spcAft>
            </a:pPr>
            <a:r>
              <a:rPr sz="16000" b="1">
                <a:solidFill>
                  <a:srgbClr val="84D700"/>
                </a:solidFill>
                <a:latin typeface="OpenSans-ExtraBold"/>
                <a:ea typeface="OpenSans-ExtraBold"/>
                <a:cs typeface="OpenSans-ExtraBold"/>
              </a:rPr>
              <a:t>+640.000</a:t>
            </a:r>
          </a:p>
        </p:txBody>
      </p:sp>
      <p:sp>
        <p:nvSpPr>
          <p:cNvPr id="4" name="Cifra hero detalle"/>
          <p:cNvSpPr txBox="1"/>
          <p:nvPr/>
        </p:nvSpPr>
        <p:spPr>
          <a:xfrm>
            <a:off x="1650492" y="8138160"/>
            <a:ext cx="12435840" cy="2011680"/>
          </a:xfrm>
          <a:prstGeom prst="rect">
            <a:avLst/>
          </a:prstGeom>
          <a:noFill/>
        </p:spPr>
        <p:txBody>
          <a:bodyPr wrap="square" lIns="0" rIns="0" tIns="0" bIns="0" anchor="t">
            <a:spAutoFit/>
          </a:bodyPr>
          <a:lstStyle/>
          <a:p>
            <a:pPr algn="l">
              <a:spcAft>
                <a:spcPts val="0"/>
              </a:spcAft>
            </a:pPr>
            <a:r>
              <a:rPr sz="4400" b="0">
                <a:solidFill>
                  <a:srgbClr val="FFFFFF"/>
                </a:solidFill>
                <a:latin typeface="Open Sans Regular"/>
                <a:ea typeface="Open Sans Regular"/>
                <a:cs typeface="Open Sans Regular"/>
              </a:rPr>
              <a:t>motocicletas en Bucaramanga:</a:t>
            </a:r>
          </a:p>
          <a:p>
            <a:pPr algn="l">
              <a:spcAft>
                <a:spcPts val="0"/>
              </a:spcAft>
            </a:pPr>
            <a:r>
              <a:rPr sz="4400" b="0">
                <a:solidFill>
                  <a:srgbClr val="FFFFFF"/>
                </a:solidFill>
                <a:latin typeface="Open Sans Regular"/>
                <a:ea typeface="Open Sans Regular"/>
                <a:cs typeface="Open Sans Regular"/>
              </a:rPr>
              <a:t>44 por cada 100 habitantes</a:t>
            </a:r>
          </a:p>
        </p:txBody>
      </p:sp>
      <p:sp>
        <p:nvSpPr>
          <p:cNvPr id="5" name="Dato 1"/>
          <p:cNvSpPr/>
          <p:nvPr/>
        </p:nvSpPr>
        <p:spPr>
          <a:xfrm>
            <a:off x="14813280" y="4480560"/>
            <a:ext cx="7863840" cy="2103120"/>
          </a:xfrm>
          <a:prstGeom prst="roundRect">
            <a:avLst>
              <a:gd name="adj" fmla="val 12000"/>
            </a:avLst>
          </a:prstGeom>
          <a:solidFill>
            <a:srgbClr val="0B3D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6" name="Dato 1 cifra"/>
          <p:cNvSpPr txBox="1"/>
          <p:nvPr/>
        </p:nvSpPr>
        <p:spPr>
          <a:xfrm>
            <a:off x="15179040" y="4617720"/>
            <a:ext cx="7132320" cy="1097280"/>
          </a:xfrm>
          <a:prstGeom prst="rect">
            <a:avLst/>
          </a:prstGeom>
          <a:noFill/>
        </p:spPr>
        <p:txBody>
          <a:bodyPr wrap="square" lIns="0" rIns="0" tIns="0" bIns="0" anchor="ctr">
            <a:spAutoFit/>
          </a:bodyPr>
          <a:lstStyle/>
          <a:p>
            <a:pPr algn="l">
              <a:spcAft>
                <a:spcPts val="0"/>
              </a:spcAft>
            </a:pPr>
            <a:r>
              <a:rPr sz="6400" b="1">
                <a:solidFill>
                  <a:srgbClr val="84D700"/>
                </a:solidFill>
                <a:latin typeface="OpenSans-ExtraBold"/>
                <a:ea typeface="OpenSans-ExtraBold"/>
                <a:cs typeface="OpenSans-ExtraBold"/>
              </a:rPr>
              <a:t>5:30–6:30</a:t>
            </a:r>
          </a:p>
        </p:txBody>
      </p:sp>
      <p:sp>
        <p:nvSpPr>
          <p:cNvPr id="7" name="Dato 1 texto"/>
          <p:cNvSpPr txBox="1"/>
          <p:nvPr/>
        </p:nvSpPr>
        <p:spPr>
          <a:xfrm>
            <a:off x="15179040" y="5715000"/>
            <a:ext cx="7132320" cy="731520"/>
          </a:xfrm>
          <a:prstGeom prst="rect">
            <a:avLst/>
          </a:prstGeom>
          <a:noFill/>
        </p:spPr>
        <p:txBody>
          <a:bodyPr wrap="square" lIns="0" rIns="0" tIns="0" bIns="0" anchor="t">
            <a:spAutoFit/>
          </a:bodyPr>
          <a:lstStyle/>
          <a:p>
            <a:pPr algn="l">
              <a:spcAft>
                <a:spcPts val="0"/>
              </a:spcAft>
            </a:pPr>
            <a:r>
              <a:rPr sz="2800" b="0">
                <a:solidFill>
                  <a:srgbClr val="FFFFFF"/>
                </a:solidFill>
                <a:latin typeface="Open Sans Regular"/>
                <a:ea typeface="Open Sans Regular"/>
                <a:cs typeface="Open Sans Regular"/>
              </a:rPr>
              <a:t>horas pico, mañana y tarde</a:t>
            </a:r>
          </a:p>
        </p:txBody>
      </p:sp>
      <p:sp>
        <p:nvSpPr>
          <p:cNvPr id="8" name="Dato 2"/>
          <p:cNvSpPr/>
          <p:nvPr/>
        </p:nvSpPr>
        <p:spPr>
          <a:xfrm>
            <a:off x="14813280" y="6949440"/>
            <a:ext cx="7863840" cy="2103120"/>
          </a:xfrm>
          <a:prstGeom prst="roundRect">
            <a:avLst>
              <a:gd name="adj" fmla="val 12000"/>
            </a:avLst>
          </a:prstGeom>
          <a:solidFill>
            <a:srgbClr val="0B3D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9" name="Dato 2 cifra"/>
          <p:cNvSpPr txBox="1"/>
          <p:nvPr/>
        </p:nvSpPr>
        <p:spPr>
          <a:xfrm>
            <a:off x="15179040" y="7086600"/>
            <a:ext cx="7132320" cy="1097280"/>
          </a:xfrm>
          <a:prstGeom prst="rect">
            <a:avLst/>
          </a:prstGeom>
          <a:noFill/>
        </p:spPr>
        <p:txBody>
          <a:bodyPr wrap="square" lIns="0" rIns="0" tIns="0" bIns="0" anchor="ctr">
            <a:spAutoFit/>
          </a:bodyPr>
          <a:lstStyle/>
          <a:p>
            <a:pPr algn="l">
              <a:spcAft>
                <a:spcPts val="0"/>
              </a:spcAft>
            </a:pPr>
            <a:r>
              <a:rPr sz="6400" b="1">
                <a:solidFill>
                  <a:srgbClr val="84D700"/>
                </a:solidFill>
                <a:latin typeface="OpenSans-ExtraBold"/>
                <a:ea typeface="OpenSans-ExtraBold"/>
                <a:cs typeface="OpenSans-ExtraBold"/>
              </a:rPr>
              <a:t>1</a:t>
            </a:r>
          </a:p>
        </p:txBody>
      </p:sp>
      <p:sp>
        <p:nvSpPr>
          <p:cNvPr id="10" name="Dato 2 texto"/>
          <p:cNvSpPr txBox="1"/>
          <p:nvPr/>
        </p:nvSpPr>
        <p:spPr>
          <a:xfrm>
            <a:off x="15179040" y="8183880"/>
            <a:ext cx="7132320" cy="731520"/>
          </a:xfrm>
          <a:prstGeom prst="rect">
            <a:avLst/>
          </a:prstGeom>
          <a:noFill/>
        </p:spPr>
        <p:txBody>
          <a:bodyPr wrap="square" lIns="0" rIns="0" tIns="0" bIns="0" anchor="t">
            <a:spAutoFit/>
          </a:bodyPr>
          <a:lstStyle/>
          <a:p>
            <a:pPr algn="l">
              <a:spcAft>
                <a:spcPts val="0"/>
              </a:spcAft>
            </a:pPr>
            <a:r>
              <a:rPr sz="2800" b="0">
                <a:solidFill>
                  <a:srgbClr val="FFFFFF"/>
                </a:solidFill>
                <a:latin typeface="Open Sans Regular"/>
                <a:ea typeface="Open Sans Regular"/>
                <a:cs typeface="Open Sans Regular"/>
              </a:rPr>
              <a:t>ocupante por vehículo, en promedio</a:t>
            </a:r>
          </a:p>
        </p:txBody>
      </p:sp>
      <p:sp>
        <p:nvSpPr>
          <p:cNvPr id="11" name="Dato 3"/>
          <p:cNvSpPr/>
          <p:nvPr/>
        </p:nvSpPr>
        <p:spPr>
          <a:xfrm>
            <a:off x="14813280" y="9418320"/>
            <a:ext cx="7863840" cy="2103120"/>
          </a:xfrm>
          <a:prstGeom prst="roundRect">
            <a:avLst>
              <a:gd name="adj" fmla="val 12000"/>
            </a:avLst>
          </a:prstGeom>
          <a:solidFill>
            <a:srgbClr val="0B3D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Dato 3 cifra"/>
          <p:cNvSpPr txBox="1"/>
          <p:nvPr/>
        </p:nvSpPr>
        <p:spPr>
          <a:xfrm>
            <a:off x="15179040" y="9555480"/>
            <a:ext cx="7132320" cy="1097280"/>
          </a:xfrm>
          <a:prstGeom prst="rect">
            <a:avLst/>
          </a:prstGeom>
          <a:noFill/>
        </p:spPr>
        <p:txBody>
          <a:bodyPr wrap="square" lIns="0" rIns="0" tIns="0" bIns="0" anchor="ctr">
            <a:spAutoFit/>
          </a:bodyPr>
          <a:lstStyle/>
          <a:p>
            <a:pPr algn="l">
              <a:spcAft>
                <a:spcPts val="0"/>
              </a:spcAft>
            </a:pPr>
            <a:r>
              <a:rPr sz="6400" b="1">
                <a:solidFill>
                  <a:srgbClr val="84D700"/>
                </a:solidFill>
                <a:latin typeface="OpenSans-ExtraBold"/>
                <a:ea typeface="OpenSans-ExtraBold"/>
                <a:cs typeface="OpenSans-ExtraBold"/>
              </a:rPr>
              <a:t>$125.000+</a:t>
            </a:r>
          </a:p>
        </p:txBody>
      </p:sp>
      <p:sp>
        <p:nvSpPr>
          <p:cNvPr id="13" name="Dato 3 texto"/>
          <p:cNvSpPr txBox="1"/>
          <p:nvPr/>
        </p:nvSpPr>
        <p:spPr>
          <a:xfrm>
            <a:off x="15179040" y="10652760"/>
            <a:ext cx="7132320" cy="731520"/>
          </a:xfrm>
          <a:prstGeom prst="rect">
            <a:avLst/>
          </a:prstGeom>
          <a:noFill/>
        </p:spPr>
        <p:txBody>
          <a:bodyPr wrap="square" lIns="0" rIns="0" tIns="0" bIns="0" anchor="t">
            <a:spAutoFit/>
          </a:bodyPr>
          <a:lstStyle/>
          <a:p>
            <a:pPr algn="l">
              <a:spcAft>
                <a:spcPts val="0"/>
              </a:spcAft>
            </a:pPr>
            <a:r>
              <a:rPr sz="2800" b="0">
                <a:solidFill>
                  <a:srgbClr val="FFFFFF"/>
                </a:solidFill>
                <a:latin typeface="Open Sans Regular"/>
                <a:ea typeface="Open Sans Regular"/>
                <a:cs typeface="Open Sans Regular"/>
              </a:rPr>
              <a:t>parqueadero mensual de un carro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¿Por qué importa?</a:t>
            </a:r>
          </a:p>
        </p:txBody>
      </p:sp>
      <p:sp>
        <p:nvSpPr>
          <p:cNvPr id="3" name="Tarjeta Congestión"/>
          <p:cNvSpPr/>
          <p:nvPr/>
        </p:nvSpPr>
        <p:spPr>
          <a:xfrm>
            <a:off x="1650492" y="4206240"/>
            <a:ext cx="4892040" cy="65836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4" name="Icono fondo"/>
          <p:cNvSpPr/>
          <p:nvPr/>
        </p:nvSpPr>
        <p:spPr>
          <a:xfrm>
            <a:off x="2061972" y="4709160"/>
            <a:ext cx="2103120" cy="210312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5" name="Icono auto"/>
          <p:cNvSpPr/>
          <p:nvPr/>
        </p:nvSpPr>
        <p:spPr>
          <a:xfrm>
            <a:off x="2382012" y="5650992"/>
            <a:ext cx="1463040" cy="502920"/>
          </a:xfrm>
          <a:prstGeom prst="roundRect">
            <a:avLst>
              <a:gd name="adj" fmla="val 3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6" name="Icono auto techo"/>
          <p:cNvSpPr/>
          <p:nvPr/>
        </p:nvSpPr>
        <p:spPr>
          <a:xfrm>
            <a:off x="2656332" y="5303520"/>
            <a:ext cx="914400" cy="457200"/>
          </a:xfrm>
          <a:prstGeom prst="roundRect">
            <a:avLst>
              <a:gd name="adj" fmla="val 4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Icono rueda"/>
          <p:cNvSpPr/>
          <p:nvPr/>
        </p:nvSpPr>
        <p:spPr>
          <a:xfrm>
            <a:off x="2473452" y="5989320"/>
            <a:ext cx="365760" cy="365760"/>
          </a:xfrm>
          <a:prstGeom prst="ellipse">
            <a:avLst/>
          </a:prstGeom>
          <a:solidFill>
            <a:srgbClr val="000000"/>
          </a:solidFill>
          <a:ln w="38100">
            <a:solidFill>
              <a:srgbClr val="84D7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Icono rueda"/>
          <p:cNvSpPr/>
          <p:nvPr/>
        </p:nvSpPr>
        <p:spPr>
          <a:xfrm>
            <a:off x="3387852" y="5989320"/>
            <a:ext cx="365760" cy="365760"/>
          </a:xfrm>
          <a:prstGeom prst="ellipse">
            <a:avLst/>
          </a:prstGeom>
          <a:solidFill>
            <a:srgbClr val="000000"/>
          </a:solidFill>
          <a:ln w="38100">
            <a:solidFill>
              <a:srgbClr val="84D7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9" name="Congestión título"/>
          <p:cNvSpPr txBox="1"/>
          <p:nvPr/>
        </p:nvSpPr>
        <p:spPr>
          <a:xfrm>
            <a:off x="2016252" y="7406640"/>
            <a:ext cx="4160520" cy="822960"/>
          </a:xfrm>
          <a:prstGeom prst="rect">
            <a:avLst/>
          </a:prstGeom>
          <a:noFill/>
        </p:spPr>
        <p:txBody>
          <a:bodyPr wrap="square" lIns="0" rIns="0" tIns="0" bIns="0" anchor="t">
            <a:spAutoFit/>
          </a:bodyPr>
          <a:lstStyle/>
          <a:p>
            <a:pPr algn="l">
              <a:spcAft>
                <a:spcPts val="0"/>
              </a:spcAft>
            </a:pPr>
            <a:r>
              <a:rPr sz="4200" b="1">
                <a:solidFill>
                  <a:srgbClr val="000000"/>
                </a:solidFill>
                <a:latin typeface="OpenSans-ExtraBold"/>
                <a:ea typeface="OpenSans-ExtraBold"/>
                <a:cs typeface="OpenSans-ExtraBold"/>
              </a:rPr>
              <a:t>Congestión</a:t>
            </a:r>
          </a:p>
        </p:txBody>
      </p:sp>
      <p:sp>
        <p:nvSpPr>
          <p:cNvPr id="10" name="Congestión texto"/>
          <p:cNvSpPr txBox="1"/>
          <p:nvPr/>
        </p:nvSpPr>
        <p:spPr>
          <a:xfrm>
            <a:off x="2016252" y="8412480"/>
            <a:ext cx="4160520" cy="2194560"/>
          </a:xfrm>
          <a:prstGeom prst="rect">
            <a:avLst/>
          </a:prstGeom>
          <a:noFill/>
        </p:spPr>
        <p:txBody>
          <a:bodyPr wrap="square" lIns="0" rIns="0" tIns="0" bIns="0" anchor="t">
            <a:spAutoFit/>
          </a:bodyPr>
          <a:lstStyle/>
          <a:p>
            <a:pPr algn="l">
              <a:spcAft>
                <a:spcPts val="0"/>
              </a:spcAft>
            </a:pPr>
            <a:r>
              <a:rPr sz="3200" b="0">
                <a:solidFill>
                  <a:srgbClr val="535353"/>
                </a:solidFill>
                <a:latin typeface="Open Sans Regular"/>
                <a:ea typeface="Open Sans Regular"/>
                <a:cs typeface="Open Sans Regular"/>
              </a:rPr>
              <a:t>Estancamientos en las horas pico</a:t>
            </a:r>
          </a:p>
        </p:txBody>
      </p:sp>
      <p:sp>
        <p:nvSpPr>
          <p:cNvPr id="11" name="Tarjeta Costo"/>
          <p:cNvSpPr/>
          <p:nvPr/>
        </p:nvSpPr>
        <p:spPr>
          <a:xfrm>
            <a:off x="7045451" y="4206240"/>
            <a:ext cx="4892040" cy="65836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Icono fondo"/>
          <p:cNvSpPr/>
          <p:nvPr/>
        </p:nvSpPr>
        <p:spPr>
          <a:xfrm>
            <a:off x="7456931" y="4709160"/>
            <a:ext cx="2103120" cy="210312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3" name="Icono moneda"/>
          <p:cNvSpPr/>
          <p:nvPr/>
        </p:nvSpPr>
        <p:spPr>
          <a:xfrm>
            <a:off x="7822692" y="5074920"/>
            <a:ext cx="1371600" cy="1371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6000" b="1">
                <a:solidFill>
                  <a:srgbClr val="84D700"/>
                </a:solidFill>
                <a:latin typeface="OpenSans-ExtraBold"/>
                <a:ea typeface="OpenSans-ExtraBold"/>
                <a:cs typeface="OpenSans-ExtraBold"/>
              </a:rPr>
              <a:t>$</a:t>
            </a:r>
          </a:p>
        </p:txBody>
      </p:sp>
      <p:sp>
        <p:nvSpPr>
          <p:cNvPr id="14" name="Costo título"/>
          <p:cNvSpPr txBox="1"/>
          <p:nvPr/>
        </p:nvSpPr>
        <p:spPr>
          <a:xfrm>
            <a:off x="7411211" y="7406640"/>
            <a:ext cx="4160520" cy="822960"/>
          </a:xfrm>
          <a:prstGeom prst="rect">
            <a:avLst/>
          </a:prstGeom>
          <a:noFill/>
        </p:spPr>
        <p:txBody>
          <a:bodyPr wrap="square" lIns="0" rIns="0" tIns="0" bIns="0" anchor="t">
            <a:spAutoFit/>
          </a:bodyPr>
          <a:lstStyle/>
          <a:p>
            <a:pPr algn="l">
              <a:spcAft>
                <a:spcPts val="0"/>
              </a:spcAft>
            </a:pPr>
            <a:r>
              <a:rPr sz="4200" b="1">
                <a:solidFill>
                  <a:srgbClr val="000000"/>
                </a:solidFill>
                <a:latin typeface="OpenSans-ExtraBold"/>
                <a:ea typeface="OpenSans-ExtraBold"/>
                <a:cs typeface="OpenSans-ExtraBold"/>
              </a:rPr>
              <a:t>Costo</a:t>
            </a:r>
          </a:p>
        </p:txBody>
      </p:sp>
      <p:sp>
        <p:nvSpPr>
          <p:cNvPr id="15" name="Costo texto"/>
          <p:cNvSpPr txBox="1"/>
          <p:nvPr/>
        </p:nvSpPr>
        <p:spPr>
          <a:xfrm>
            <a:off x="7411211" y="8412480"/>
            <a:ext cx="4160520" cy="2194560"/>
          </a:xfrm>
          <a:prstGeom prst="rect">
            <a:avLst/>
          </a:prstGeom>
          <a:noFill/>
        </p:spPr>
        <p:txBody>
          <a:bodyPr wrap="square" lIns="0" rIns="0" tIns="0" bIns="0" anchor="t">
            <a:spAutoFit/>
          </a:bodyPr>
          <a:lstStyle/>
          <a:p>
            <a:pPr algn="l">
              <a:spcAft>
                <a:spcPts val="0"/>
              </a:spcAft>
            </a:pPr>
            <a:r>
              <a:rPr sz="3200" b="0">
                <a:solidFill>
                  <a:srgbClr val="535353"/>
                </a:solidFill>
                <a:latin typeface="Open Sans Regular"/>
                <a:ea typeface="Open Sans Regular"/>
                <a:cs typeface="Open Sans Regular"/>
              </a:rPr>
              <a:t>Gasolina a $16.049 por galón y parqueaderos saturados</a:t>
            </a:r>
          </a:p>
        </p:txBody>
      </p:sp>
      <p:sp>
        <p:nvSpPr>
          <p:cNvPr id="16" name="Tarjeta Seguridad"/>
          <p:cNvSpPr/>
          <p:nvPr/>
        </p:nvSpPr>
        <p:spPr>
          <a:xfrm>
            <a:off x="12440411" y="4206240"/>
            <a:ext cx="4892040" cy="65836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7" name="Icono fondo"/>
          <p:cNvSpPr/>
          <p:nvPr/>
        </p:nvSpPr>
        <p:spPr>
          <a:xfrm>
            <a:off x="12851891" y="4709160"/>
            <a:ext cx="2103120" cy="210312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8" name="Icono escudo"/>
          <p:cNvSpPr/>
          <p:nvPr/>
        </p:nvSpPr>
        <p:spPr>
          <a:xfrm>
            <a:off x="13263372" y="5029200"/>
            <a:ext cx="1280160" cy="1463040"/>
          </a:xfrm>
          <a:prstGeom prst="flowChartOffpageConnector">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9" name="Icono check"/>
          <p:cNvSpPr/>
          <p:nvPr/>
        </p:nvSpPr>
        <p:spPr>
          <a:xfrm>
            <a:off x="13583411" y="5440680"/>
            <a:ext cx="685800" cy="548640"/>
          </a:xfrm>
          <a:custGeom>
            <a:avLst/>
            <a:gdLst/>
            <a:ahLst/>
            <a:cxnLst/>
            <a:rect l="l" t="t" r="r" b="b"/>
            <a:pathLst>
              <a:path w="685800" h="548640">
                <a:moveTo>
                  <a:pt x="0" y="274320"/>
                </a:moveTo>
                <a:lnTo>
                  <a:pt x="246888" y="548640"/>
                </a:lnTo>
                <a:lnTo>
                  <a:pt x="685800" y="0"/>
                </a:lnTo>
              </a:path>
            </a:pathLst>
          </a:custGeom>
          <a:noFill/>
          <a:ln w="127000">
            <a:solidFill>
              <a:srgbClr val="84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eguridad título"/>
          <p:cNvSpPr txBox="1"/>
          <p:nvPr/>
        </p:nvSpPr>
        <p:spPr>
          <a:xfrm>
            <a:off x="12806172" y="7406640"/>
            <a:ext cx="4160520" cy="822960"/>
          </a:xfrm>
          <a:prstGeom prst="rect">
            <a:avLst/>
          </a:prstGeom>
          <a:noFill/>
        </p:spPr>
        <p:txBody>
          <a:bodyPr wrap="square" lIns="0" rIns="0" tIns="0" bIns="0" anchor="t">
            <a:spAutoFit/>
          </a:bodyPr>
          <a:lstStyle/>
          <a:p>
            <a:pPr algn="l">
              <a:spcAft>
                <a:spcPts val="0"/>
              </a:spcAft>
            </a:pPr>
            <a:r>
              <a:rPr sz="4200" b="1">
                <a:solidFill>
                  <a:srgbClr val="000000"/>
                </a:solidFill>
                <a:latin typeface="OpenSans-ExtraBold"/>
                <a:ea typeface="OpenSans-ExtraBold"/>
                <a:cs typeface="OpenSans-ExtraBold"/>
              </a:rPr>
              <a:t>Seguridad</a:t>
            </a:r>
          </a:p>
        </p:txBody>
      </p:sp>
      <p:sp>
        <p:nvSpPr>
          <p:cNvPr id="21" name="Seguridad texto"/>
          <p:cNvSpPr txBox="1"/>
          <p:nvPr/>
        </p:nvSpPr>
        <p:spPr>
          <a:xfrm>
            <a:off x="12806172" y="8412480"/>
            <a:ext cx="4160520" cy="2194560"/>
          </a:xfrm>
          <a:prstGeom prst="rect">
            <a:avLst/>
          </a:prstGeom>
          <a:noFill/>
        </p:spPr>
        <p:txBody>
          <a:bodyPr wrap="square" lIns="0" rIns="0" tIns="0" bIns="0" anchor="t">
            <a:spAutoFit/>
          </a:bodyPr>
          <a:lstStyle/>
          <a:p>
            <a:pPr algn="l">
              <a:spcAft>
                <a:spcPts val="0"/>
              </a:spcAft>
            </a:pPr>
            <a:r>
              <a:rPr sz="3200" b="0">
                <a:solidFill>
                  <a:srgbClr val="535353"/>
                </a:solidFill>
                <a:latin typeface="Open Sans Regular"/>
                <a:ea typeface="Open Sans Regular"/>
                <a:cs typeface="Open Sans Regular"/>
              </a:rPr>
              <a:t>Alternativa frente al transporte informal</a:t>
            </a:r>
          </a:p>
        </p:txBody>
      </p:sp>
      <p:sp>
        <p:nvSpPr>
          <p:cNvPr id="22" name="Tarjeta Sostenibilidad"/>
          <p:cNvSpPr/>
          <p:nvPr/>
        </p:nvSpPr>
        <p:spPr>
          <a:xfrm>
            <a:off x="17835372" y="4206240"/>
            <a:ext cx="4892040" cy="65836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3" name="Icono fondo"/>
          <p:cNvSpPr/>
          <p:nvPr/>
        </p:nvSpPr>
        <p:spPr>
          <a:xfrm>
            <a:off x="18246852" y="4709160"/>
            <a:ext cx="2103120" cy="210312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4" name="Icono hoja"/>
          <p:cNvSpPr/>
          <p:nvPr/>
        </p:nvSpPr>
        <p:spPr>
          <a:xfrm>
            <a:off x="18704052" y="5166359"/>
            <a:ext cx="1188720" cy="1188720"/>
          </a:xfrm>
          <a:prstGeom prst="teardrop">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cxnSp>
        <p:nvCxnSpPr>
          <p:cNvPr id="25" name="Icono nervio"/>
          <p:cNvCxnSpPr/>
          <p:nvPr/>
        </p:nvCxnSpPr>
        <p:spPr>
          <a:xfrm flipV="1">
            <a:off x="18932652" y="5623559"/>
            <a:ext cx="502920" cy="502921"/>
          </a:xfrm>
          <a:prstGeom prst="line">
            <a:avLst/>
          </a:prstGeom>
          <a:ln w="63500">
            <a:solidFill>
              <a:srgbClr val="84D700"/>
            </a:solidFill>
          </a:ln>
        </p:spPr>
        <p:style>
          <a:lnRef idx="2">
            <a:schemeClr val="accent1"/>
          </a:lnRef>
          <a:fillRef idx="0">
            <a:schemeClr val="accent1"/>
          </a:fillRef>
          <a:effectRef idx="1">
            <a:schemeClr val="accent1"/>
          </a:effectRef>
          <a:fontRef idx="minor">
            <a:schemeClr val="tx1"/>
          </a:fontRef>
        </p:style>
      </p:cxnSp>
      <p:sp>
        <p:nvSpPr>
          <p:cNvPr id="26" name="Sostenibilidad título"/>
          <p:cNvSpPr txBox="1"/>
          <p:nvPr/>
        </p:nvSpPr>
        <p:spPr>
          <a:xfrm>
            <a:off x="18201131" y="7406640"/>
            <a:ext cx="4160520" cy="822960"/>
          </a:xfrm>
          <a:prstGeom prst="rect">
            <a:avLst/>
          </a:prstGeom>
          <a:noFill/>
        </p:spPr>
        <p:txBody>
          <a:bodyPr wrap="square" lIns="0" rIns="0" tIns="0" bIns="0" anchor="t">
            <a:spAutoFit/>
          </a:bodyPr>
          <a:lstStyle/>
          <a:p>
            <a:pPr algn="l">
              <a:spcAft>
                <a:spcPts val="0"/>
              </a:spcAft>
            </a:pPr>
            <a:r>
              <a:rPr sz="4200" b="1">
                <a:solidFill>
                  <a:srgbClr val="000000"/>
                </a:solidFill>
                <a:latin typeface="OpenSans-ExtraBold"/>
                <a:ea typeface="OpenSans-ExtraBold"/>
                <a:cs typeface="OpenSans-ExtraBold"/>
              </a:rPr>
              <a:t>Sostenibilidad</a:t>
            </a:r>
          </a:p>
        </p:txBody>
      </p:sp>
      <p:sp>
        <p:nvSpPr>
          <p:cNvPr id="27" name="Sostenibilidad texto"/>
          <p:cNvSpPr txBox="1"/>
          <p:nvPr/>
        </p:nvSpPr>
        <p:spPr>
          <a:xfrm>
            <a:off x="18201131" y="8412480"/>
            <a:ext cx="4160520" cy="2194560"/>
          </a:xfrm>
          <a:prstGeom prst="rect">
            <a:avLst/>
          </a:prstGeom>
          <a:noFill/>
        </p:spPr>
        <p:txBody>
          <a:bodyPr wrap="square" lIns="0" rIns="0" tIns="0" bIns="0" anchor="t">
            <a:spAutoFit/>
          </a:bodyPr>
          <a:lstStyle/>
          <a:p>
            <a:pPr algn="l">
              <a:spcAft>
                <a:spcPts val="0"/>
              </a:spcAft>
            </a:pPr>
            <a:r>
              <a:rPr sz="3200" b="0">
                <a:solidFill>
                  <a:srgbClr val="535353"/>
                </a:solidFill>
                <a:latin typeface="Open Sans Regular"/>
                <a:ea typeface="Open Sans Regular"/>
                <a:cs typeface="Open Sans Regular"/>
              </a:rPr>
              <a:t>Menor huella de carbono institucional</a:t>
            </a:r>
          </a:p>
        </p:txBody>
      </p:sp>
      <p:sp>
        <p:nvSpPr>
          <p:cNvPr id="28" name="Citas"/>
          <p:cNvSpPr txBox="1"/>
          <p:nvPr/>
        </p:nvSpPr>
        <p:spPr>
          <a:xfrm>
            <a:off x="1650492" y="11064240"/>
            <a:ext cx="15544800" cy="548640"/>
          </a:xfrm>
          <a:prstGeom prst="rect">
            <a:avLst/>
          </a:prstGeom>
          <a:noFill/>
        </p:spPr>
        <p:txBody>
          <a:bodyPr wrap="square" lIns="0" rIns="0" tIns="0" bIns="0" anchor="t">
            <a:spAutoFit/>
          </a:bodyPr>
          <a:lstStyle/>
          <a:p>
            <a:pPr algn="l">
              <a:spcAft>
                <a:spcPts val="0"/>
              </a:spcAft>
            </a:pPr>
            <a:r>
              <a:rPr sz="2200" b="0">
                <a:solidFill>
                  <a:srgbClr val="5E5E5E"/>
                </a:solidFill>
                <a:latin typeface="Open Sans Regular"/>
                <a:ea typeface="Open Sans Regular"/>
                <a:cs typeface="Open Sans Regular"/>
              </a:rPr>
              <a:t>(RUNT, 2026; UNAB, 2026; CREG, 2026; UTS,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Objetivos</a:t>
            </a:r>
          </a:p>
        </p:txBody>
      </p:sp>
      <p:sp>
        <p:nvSpPr>
          <p:cNvPr id="3" name="Etiqueta general"/>
          <p:cNvSpPr txBox="1"/>
          <p:nvPr/>
        </p:nvSpPr>
        <p:spPr>
          <a:xfrm>
            <a:off x="1650492" y="3566160"/>
            <a:ext cx="19659600" cy="457200"/>
          </a:xfrm>
          <a:prstGeom prst="rect">
            <a:avLst/>
          </a:prstGeom>
          <a:noFill/>
        </p:spPr>
        <p:txBody>
          <a:bodyPr wrap="square" lIns="0" rIns="0" tIns="0" bIns="0" anchor="t">
            <a:spAutoFit/>
          </a:bodyPr>
          <a:lstStyle/>
          <a:p>
            <a:pPr algn="l">
              <a:spcAft>
                <a:spcPts val="0"/>
              </a:spcAft>
            </a:pPr>
            <a:r>
              <a:rPr sz="2600" b="1">
                <a:solidFill>
                  <a:srgbClr val="5E5E5E"/>
                </a:solidFill>
                <a:latin typeface="OpenSans-ExtraBold"/>
                <a:ea typeface="OpenSans-ExtraBold"/>
                <a:cs typeface="OpenSans-ExtraBold"/>
              </a:rPr>
              <a:t>OBJETIVO GENERAL</a:t>
            </a:r>
          </a:p>
        </p:txBody>
      </p:sp>
      <p:sp>
        <p:nvSpPr>
          <p:cNvPr id="4" name="Objetivo general"/>
          <p:cNvSpPr txBox="1"/>
          <p:nvPr/>
        </p:nvSpPr>
        <p:spPr>
          <a:xfrm>
            <a:off x="1650492" y="4114800"/>
            <a:ext cx="20482560" cy="2560320"/>
          </a:xfrm>
          <a:prstGeom prst="rect">
            <a:avLst/>
          </a:prstGeom>
          <a:noFill/>
        </p:spPr>
        <p:txBody>
          <a:bodyPr wrap="square" lIns="0" rIns="0" tIns="0" bIns="0" anchor="t">
            <a:spAutoFit/>
          </a:bodyPr>
          <a:lstStyle/>
          <a:p>
            <a:pPr algn="l">
              <a:spcAft>
                <a:spcPts val="0"/>
              </a:spcAft>
            </a:pPr>
            <a:r>
              <a:rPr sz="3600" b="0">
                <a:solidFill>
                  <a:srgbClr val="000000"/>
                </a:solidFill>
                <a:latin typeface="Open Sans Regular"/>
                <a:ea typeface="Open Sans Regular"/>
                <a:cs typeface="Open Sans Regular"/>
              </a:rPr>
              <a:t>Una plataforma desacoplada de carpooling asistida por IA para la comunidad UNAB: optimizar tiempos de desplazamiento, reducir sobrecostos e incrementar la ocupación vehicular en 2026.</a:t>
            </a:r>
          </a:p>
        </p:txBody>
      </p:sp>
      <p:sp>
        <p:nvSpPr>
          <p:cNvPr id="5" name="Etiqueta específicos"/>
          <p:cNvSpPr txBox="1"/>
          <p:nvPr/>
        </p:nvSpPr>
        <p:spPr>
          <a:xfrm>
            <a:off x="1650492" y="7086600"/>
            <a:ext cx="19659600" cy="457200"/>
          </a:xfrm>
          <a:prstGeom prst="rect">
            <a:avLst/>
          </a:prstGeom>
          <a:noFill/>
        </p:spPr>
        <p:txBody>
          <a:bodyPr wrap="square" lIns="0" rIns="0" tIns="0" bIns="0" anchor="t">
            <a:spAutoFit/>
          </a:bodyPr>
          <a:lstStyle/>
          <a:p>
            <a:pPr algn="l">
              <a:spcAft>
                <a:spcPts val="0"/>
              </a:spcAft>
            </a:pPr>
            <a:r>
              <a:rPr sz="2600" b="1">
                <a:solidFill>
                  <a:srgbClr val="5E5E5E"/>
                </a:solidFill>
                <a:latin typeface="OpenSans-ExtraBold"/>
                <a:ea typeface="OpenSans-ExtraBold"/>
                <a:cs typeface="OpenSans-ExtraBold"/>
              </a:rPr>
              <a:t>OBJETIVOS ESPECÍFICOS</a:t>
            </a:r>
          </a:p>
        </p:txBody>
      </p:sp>
      <p:sp>
        <p:nvSpPr>
          <p:cNvPr id="6" name="Objetivo 1"/>
          <p:cNvSpPr/>
          <p:nvPr/>
        </p:nvSpPr>
        <p:spPr>
          <a:xfrm>
            <a:off x="1650492" y="7726679"/>
            <a:ext cx="4892040" cy="35661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Objetivo 1 número"/>
          <p:cNvSpPr/>
          <p:nvPr/>
        </p:nvSpPr>
        <p:spPr>
          <a:xfrm>
            <a:off x="2016252" y="8092440"/>
            <a:ext cx="1005840" cy="100584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4400" b="1">
                <a:solidFill>
                  <a:srgbClr val="000000"/>
                </a:solidFill>
                <a:latin typeface="OpenSans-ExtraBold"/>
                <a:ea typeface="OpenSans-ExtraBold"/>
                <a:cs typeface="OpenSans-ExtraBold"/>
              </a:rPr>
              <a:t>1</a:t>
            </a:r>
          </a:p>
        </p:txBody>
      </p:sp>
      <p:sp>
        <p:nvSpPr>
          <p:cNvPr id="8" name="Objetivo 1 verbo"/>
          <p:cNvSpPr txBox="1"/>
          <p:nvPr/>
        </p:nvSpPr>
        <p:spPr>
          <a:xfrm>
            <a:off x="3250691" y="8092440"/>
            <a:ext cx="3063239" cy="1005840"/>
          </a:xfrm>
          <a:prstGeom prst="rect">
            <a:avLst/>
          </a:prstGeom>
          <a:noFill/>
        </p:spPr>
        <p:txBody>
          <a:bodyPr wrap="square" lIns="0" rIns="0" tIns="0" bIns="0" anchor="ctr">
            <a:spAutoFit/>
          </a:bodyPr>
          <a:lstStyle/>
          <a:p>
            <a:pPr algn="l">
              <a:spcAft>
                <a:spcPts val="0"/>
              </a:spcAft>
            </a:pPr>
            <a:r>
              <a:rPr sz="3600" b="1">
                <a:solidFill>
                  <a:srgbClr val="000000"/>
                </a:solidFill>
                <a:latin typeface="OpenSans-ExtraBold"/>
                <a:ea typeface="OpenSans-ExtraBold"/>
                <a:cs typeface="OpenSans-ExtraBold"/>
              </a:rPr>
              <a:t>Diagnosticar</a:t>
            </a:r>
          </a:p>
        </p:txBody>
      </p:sp>
      <p:sp>
        <p:nvSpPr>
          <p:cNvPr id="9" name="Objetivo 1 texto"/>
          <p:cNvSpPr txBox="1"/>
          <p:nvPr/>
        </p:nvSpPr>
        <p:spPr>
          <a:xfrm>
            <a:off x="2016252" y="9418320"/>
            <a:ext cx="4160520" cy="1737360"/>
          </a:xfrm>
          <a:prstGeom prst="rect">
            <a:avLst/>
          </a:prstGeom>
          <a:noFill/>
        </p:spPr>
        <p:txBody>
          <a:bodyPr wrap="square" lIns="0" rIns="0" tIns="0" bIns="0" anchor="t">
            <a:spAutoFit/>
          </a:bodyPr>
          <a:lstStyle/>
          <a:p>
            <a:pPr algn="l">
              <a:spcAft>
                <a:spcPts val="0"/>
              </a:spcAft>
            </a:pPr>
            <a:r>
              <a:rPr sz="2600" b="0">
                <a:solidFill>
                  <a:srgbClr val="535353"/>
                </a:solidFill>
                <a:latin typeface="Open Sans Regular"/>
                <a:ea typeface="Open Sans Regular"/>
                <a:cs typeface="Open Sans Regular"/>
              </a:rPr>
              <a:t>hábitos de movilidad y requisitos de seguridad</a:t>
            </a:r>
          </a:p>
        </p:txBody>
      </p:sp>
      <p:sp>
        <p:nvSpPr>
          <p:cNvPr id="10" name="Objetivo 2"/>
          <p:cNvSpPr/>
          <p:nvPr/>
        </p:nvSpPr>
        <p:spPr>
          <a:xfrm>
            <a:off x="7045451" y="7726679"/>
            <a:ext cx="4892040" cy="35661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Objetivo 2 número"/>
          <p:cNvSpPr/>
          <p:nvPr/>
        </p:nvSpPr>
        <p:spPr>
          <a:xfrm>
            <a:off x="7411211" y="8092440"/>
            <a:ext cx="1005840" cy="100584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4400" b="1">
                <a:solidFill>
                  <a:srgbClr val="000000"/>
                </a:solidFill>
                <a:latin typeface="OpenSans-ExtraBold"/>
                <a:ea typeface="OpenSans-ExtraBold"/>
                <a:cs typeface="OpenSans-ExtraBold"/>
              </a:rPr>
              <a:t>2</a:t>
            </a:r>
          </a:p>
        </p:txBody>
      </p:sp>
      <p:sp>
        <p:nvSpPr>
          <p:cNvPr id="12" name="Objetivo 2 verbo"/>
          <p:cNvSpPr txBox="1"/>
          <p:nvPr/>
        </p:nvSpPr>
        <p:spPr>
          <a:xfrm>
            <a:off x="8645651" y="8092440"/>
            <a:ext cx="3063239" cy="1005840"/>
          </a:xfrm>
          <a:prstGeom prst="rect">
            <a:avLst/>
          </a:prstGeom>
          <a:noFill/>
        </p:spPr>
        <p:txBody>
          <a:bodyPr wrap="square" lIns="0" rIns="0" tIns="0" bIns="0" anchor="ctr">
            <a:spAutoFit/>
          </a:bodyPr>
          <a:lstStyle/>
          <a:p>
            <a:pPr algn="l">
              <a:spcAft>
                <a:spcPts val="0"/>
              </a:spcAft>
            </a:pPr>
            <a:r>
              <a:rPr sz="3600" b="1">
                <a:solidFill>
                  <a:srgbClr val="000000"/>
                </a:solidFill>
                <a:latin typeface="OpenSans-ExtraBold"/>
                <a:ea typeface="OpenSans-ExtraBold"/>
                <a:cs typeface="OpenSans-ExtraBold"/>
              </a:rPr>
              <a:t>Modelar</a:t>
            </a:r>
          </a:p>
        </p:txBody>
      </p:sp>
      <p:sp>
        <p:nvSpPr>
          <p:cNvPr id="13" name="Objetivo 2 texto"/>
          <p:cNvSpPr txBox="1"/>
          <p:nvPr/>
        </p:nvSpPr>
        <p:spPr>
          <a:xfrm>
            <a:off x="7411211" y="9418320"/>
            <a:ext cx="4160520" cy="1737360"/>
          </a:xfrm>
          <a:prstGeom prst="rect">
            <a:avLst/>
          </a:prstGeom>
          <a:noFill/>
        </p:spPr>
        <p:txBody>
          <a:bodyPr wrap="square" lIns="0" rIns="0" tIns="0" bIns="0" anchor="t">
            <a:spAutoFit/>
          </a:bodyPr>
          <a:lstStyle/>
          <a:p>
            <a:pPr algn="l">
              <a:spcAft>
                <a:spcPts val="0"/>
              </a:spcAft>
            </a:pPr>
            <a:r>
              <a:rPr sz="2600" b="0">
                <a:solidFill>
                  <a:srgbClr val="535353"/>
                </a:solidFill>
                <a:latin typeface="Open Sans Regular"/>
                <a:ea typeface="Open Sans Regular"/>
                <a:cs typeface="Open Sans Regular"/>
              </a:rPr>
              <a:t>arquitectura modular y optimización de rutas</a:t>
            </a:r>
          </a:p>
        </p:txBody>
      </p:sp>
      <p:sp>
        <p:nvSpPr>
          <p:cNvPr id="14" name="Objetivo 3"/>
          <p:cNvSpPr/>
          <p:nvPr/>
        </p:nvSpPr>
        <p:spPr>
          <a:xfrm>
            <a:off x="12440411" y="7726679"/>
            <a:ext cx="4892040" cy="35661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5" name="Objetivo 3 número"/>
          <p:cNvSpPr/>
          <p:nvPr/>
        </p:nvSpPr>
        <p:spPr>
          <a:xfrm>
            <a:off x="12806172" y="8092440"/>
            <a:ext cx="1005840" cy="100584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4400" b="1">
                <a:solidFill>
                  <a:srgbClr val="000000"/>
                </a:solidFill>
                <a:latin typeface="OpenSans-ExtraBold"/>
                <a:ea typeface="OpenSans-ExtraBold"/>
                <a:cs typeface="OpenSans-ExtraBold"/>
              </a:rPr>
              <a:t>3</a:t>
            </a:r>
          </a:p>
        </p:txBody>
      </p:sp>
      <p:sp>
        <p:nvSpPr>
          <p:cNvPr id="16" name="Objetivo 3 verbo"/>
          <p:cNvSpPr txBox="1"/>
          <p:nvPr/>
        </p:nvSpPr>
        <p:spPr>
          <a:xfrm>
            <a:off x="14040611" y="8092440"/>
            <a:ext cx="3063239" cy="1005840"/>
          </a:xfrm>
          <a:prstGeom prst="rect">
            <a:avLst/>
          </a:prstGeom>
          <a:noFill/>
        </p:spPr>
        <p:txBody>
          <a:bodyPr wrap="square" lIns="0" rIns="0" tIns="0" bIns="0" anchor="ctr">
            <a:spAutoFit/>
          </a:bodyPr>
          <a:lstStyle/>
          <a:p>
            <a:pPr algn="l">
              <a:spcAft>
                <a:spcPts val="0"/>
              </a:spcAft>
            </a:pPr>
            <a:r>
              <a:rPr sz="3600" b="1">
                <a:solidFill>
                  <a:srgbClr val="000000"/>
                </a:solidFill>
                <a:latin typeface="OpenSans-ExtraBold"/>
                <a:ea typeface="OpenSans-ExtraBold"/>
                <a:cs typeface="OpenSans-ExtraBold"/>
              </a:rPr>
              <a:t>Desarrollar</a:t>
            </a:r>
          </a:p>
        </p:txBody>
      </p:sp>
      <p:sp>
        <p:nvSpPr>
          <p:cNvPr id="17" name="Objetivo 3 texto"/>
          <p:cNvSpPr txBox="1"/>
          <p:nvPr/>
        </p:nvSpPr>
        <p:spPr>
          <a:xfrm>
            <a:off x="12806172" y="9418320"/>
            <a:ext cx="4160520" cy="1737360"/>
          </a:xfrm>
          <a:prstGeom prst="rect">
            <a:avLst/>
          </a:prstGeom>
          <a:noFill/>
        </p:spPr>
        <p:txBody>
          <a:bodyPr wrap="square" lIns="0" rIns="0" tIns="0" bIns="0" anchor="t">
            <a:spAutoFit/>
          </a:bodyPr>
          <a:lstStyle/>
          <a:p>
            <a:pPr algn="l">
              <a:spcAft>
                <a:spcPts val="0"/>
              </a:spcAft>
            </a:pPr>
            <a:r>
              <a:rPr sz="2600" b="0">
                <a:solidFill>
                  <a:srgbClr val="535353"/>
                </a:solidFill>
                <a:latin typeface="Open Sans Regular"/>
                <a:ea typeface="Open Sans Regular"/>
                <a:cs typeface="Open Sans Regular"/>
              </a:rPr>
              <a:t>APIs, rastreo en vivo y notificaciones</a:t>
            </a:r>
          </a:p>
        </p:txBody>
      </p:sp>
      <p:sp>
        <p:nvSpPr>
          <p:cNvPr id="18" name="Objetivo 4"/>
          <p:cNvSpPr/>
          <p:nvPr/>
        </p:nvSpPr>
        <p:spPr>
          <a:xfrm>
            <a:off x="17835372" y="7726679"/>
            <a:ext cx="4892040" cy="35661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9" name="Objetivo 4 número"/>
          <p:cNvSpPr/>
          <p:nvPr/>
        </p:nvSpPr>
        <p:spPr>
          <a:xfrm>
            <a:off x="18201131" y="8092440"/>
            <a:ext cx="1005840" cy="100584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4400" b="1">
                <a:solidFill>
                  <a:srgbClr val="000000"/>
                </a:solidFill>
                <a:latin typeface="OpenSans-ExtraBold"/>
                <a:ea typeface="OpenSans-ExtraBold"/>
                <a:cs typeface="OpenSans-ExtraBold"/>
              </a:rPr>
              <a:t>4</a:t>
            </a:r>
          </a:p>
        </p:txBody>
      </p:sp>
      <p:sp>
        <p:nvSpPr>
          <p:cNvPr id="20" name="Objetivo 4 verbo"/>
          <p:cNvSpPr txBox="1"/>
          <p:nvPr/>
        </p:nvSpPr>
        <p:spPr>
          <a:xfrm>
            <a:off x="19435572" y="8092440"/>
            <a:ext cx="3063239" cy="1005840"/>
          </a:xfrm>
          <a:prstGeom prst="rect">
            <a:avLst/>
          </a:prstGeom>
          <a:noFill/>
        </p:spPr>
        <p:txBody>
          <a:bodyPr wrap="square" lIns="0" rIns="0" tIns="0" bIns="0" anchor="ctr">
            <a:spAutoFit/>
          </a:bodyPr>
          <a:lstStyle/>
          <a:p>
            <a:pPr algn="l">
              <a:spcAft>
                <a:spcPts val="0"/>
              </a:spcAft>
            </a:pPr>
            <a:r>
              <a:rPr sz="3600" b="1">
                <a:solidFill>
                  <a:srgbClr val="000000"/>
                </a:solidFill>
                <a:latin typeface="OpenSans-ExtraBold"/>
                <a:ea typeface="OpenSans-ExtraBold"/>
                <a:cs typeface="OpenSans-ExtraBold"/>
              </a:rPr>
              <a:t>Evaluar</a:t>
            </a:r>
          </a:p>
        </p:txBody>
      </p:sp>
      <p:sp>
        <p:nvSpPr>
          <p:cNvPr id="21" name="Objetivo 4 texto"/>
          <p:cNvSpPr txBox="1"/>
          <p:nvPr/>
        </p:nvSpPr>
        <p:spPr>
          <a:xfrm>
            <a:off x="18201131" y="9418320"/>
            <a:ext cx="4160520" cy="1737360"/>
          </a:xfrm>
          <a:prstGeom prst="rect">
            <a:avLst/>
          </a:prstGeom>
          <a:noFill/>
        </p:spPr>
        <p:txBody>
          <a:bodyPr wrap="square" lIns="0" rIns="0" tIns="0" bIns="0" anchor="t">
            <a:spAutoFit/>
          </a:bodyPr>
          <a:lstStyle/>
          <a:p>
            <a:pPr algn="l">
              <a:spcAft>
                <a:spcPts val="0"/>
              </a:spcAft>
            </a:pPr>
            <a:r>
              <a:rPr sz="2600" b="0">
                <a:solidFill>
                  <a:srgbClr val="535353"/>
                </a:solidFill>
                <a:latin typeface="Open Sans Regular"/>
                <a:ea typeface="Open Sans Regular"/>
                <a:cs typeface="Open Sans Regular"/>
              </a:rPr>
              <a:t>rendimiento, usabilidad e impacto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Estado del arte</a:t>
            </a:r>
          </a:p>
        </p:txBody>
      </p:sp>
      <p:sp>
        <p:nvSpPr>
          <p:cNvPr id="3" name="Referente Redes sociales"/>
          <p:cNvSpPr/>
          <p:nvPr/>
        </p:nvSpPr>
        <p:spPr>
          <a:xfrm>
            <a:off x="1650492" y="4297680"/>
            <a:ext cx="6583680" cy="5394960"/>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4" name="Redes sociales título"/>
          <p:cNvSpPr txBox="1"/>
          <p:nvPr/>
        </p:nvSpPr>
        <p:spPr>
          <a:xfrm>
            <a:off x="2107691" y="4937760"/>
            <a:ext cx="5669280" cy="914400"/>
          </a:xfrm>
          <a:prstGeom prst="rect">
            <a:avLst/>
          </a:prstGeom>
          <a:noFill/>
        </p:spPr>
        <p:txBody>
          <a:bodyPr wrap="square" lIns="0" rIns="0" tIns="0" bIns="0" anchor="t">
            <a:spAutoFit/>
          </a:bodyPr>
          <a:lstStyle/>
          <a:p>
            <a:pPr algn="l">
              <a:spcAft>
                <a:spcPts val="0"/>
              </a:spcAft>
            </a:pPr>
            <a:r>
              <a:rPr sz="4800" b="1">
                <a:solidFill>
                  <a:srgbClr val="000000"/>
                </a:solidFill>
                <a:latin typeface="OpenSans-ExtraBold"/>
                <a:ea typeface="OpenSans-ExtraBold"/>
                <a:cs typeface="OpenSans-ExtraBold"/>
              </a:rPr>
              <a:t>Redes sociales</a:t>
            </a:r>
          </a:p>
        </p:txBody>
      </p:sp>
      <p:sp>
        <p:nvSpPr>
          <p:cNvPr id="5" name="Redes sociales texto"/>
          <p:cNvSpPr txBox="1"/>
          <p:nvPr/>
        </p:nvSpPr>
        <p:spPr>
          <a:xfrm>
            <a:off x="2107691" y="6400800"/>
            <a:ext cx="5669280" cy="2743200"/>
          </a:xfrm>
          <a:prstGeom prst="rect">
            <a:avLst/>
          </a:prstGeom>
          <a:noFill/>
        </p:spPr>
        <p:txBody>
          <a:bodyPr wrap="square" lIns="0" rIns="0" tIns="0" bIns="0" anchor="t">
            <a:spAutoFit/>
          </a:bodyPr>
          <a:lstStyle/>
          <a:p>
            <a:pPr algn="l">
              <a:spcAft>
                <a:spcPts val="0"/>
              </a:spcAft>
            </a:pPr>
            <a:r>
              <a:rPr sz="3800" b="0">
                <a:solidFill>
                  <a:srgbClr val="535353"/>
                </a:solidFill>
                <a:latin typeface="Open Sans Regular"/>
                <a:ea typeface="Open Sans Regular"/>
                <a:cs typeface="Open Sans Regular"/>
              </a:rPr>
              <a:t>Publican trayectos; la gestión es precaria</a:t>
            </a:r>
          </a:p>
        </p:txBody>
      </p:sp>
      <p:sp>
        <p:nvSpPr>
          <p:cNvPr id="6" name="Referente Vai · Uniandes"/>
          <p:cNvSpPr/>
          <p:nvPr/>
        </p:nvSpPr>
        <p:spPr>
          <a:xfrm>
            <a:off x="8874252" y="4297680"/>
            <a:ext cx="6583680" cy="5394960"/>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Vai · Uniandes título"/>
          <p:cNvSpPr txBox="1"/>
          <p:nvPr/>
        </p:nvSpPr>
        <p:spPr>
          <a:xfrm>
            <a:off x="9331452" y="4937760"/>
            <a:ext cx="5669280" cy="914400"/>
          </a:xfrm>
          <a:prstGeom prst="rect">
            <a:avLst/>
          </a:prstGeom>
          <a:noFill/>
        </p:spPr>
        <p:txBody>
          <a:bodyPr wrap="square" lIns="0" rIns="0" tIns="0" bIns="0" anchor="t">
            <a:spAutoFit/>
          </a:bodyPr>
          <a:lstStyle/>
          <a:p>
            <a:pPr algn="l">
              <a:spcAft>
                <a:spcPts val="0"/>
              </a:spcAft>
            </a:pPr>
            <a:r>
              <a:rPr sz="4800" b="1">
                <a:solidFill>
                  <a:srgbClr val="000000"/>
                </a:solidFill>
                <a:latin typeface="OpenSans-ExtraBold"/>
                <a:ea typeface="OpenSans-ExtraBold"/>
                <a:cs typeface="OpenSans-ExtraBold"/>
              </a:rPr>
              <a:t>Vai · Uniandes</a:t>
            </a:r>
          </a:p>
        </p:txBody>
      </p:sp>
      <p:sp>
        <p:nvSpPr>
          <p:cNvPr id="8" name="Vai · Uniandes texto"/>
          <p:cNvSpPr txBox="1"/>
          <p:nvPr/>
        </p:nvSpPr>
        <p:spPr>
          <a:xfrm>
            <a:off x="9331452" y="6400800"/>
            <a:ext cx="5669280" cy="2743200"/>
          </a:xfrm>
          <a:prstGeom prst="rect">
            <a:avLst/>
          </a:prstGeom>
          <a:noFill/>
        </p:spPr>
        <p:txBody>
          <a:bodyPr wrap="square" lIns="0" rIns="0" tIns="0" bIns="0" anchor="t">
            <a:spAutoFit/>
          </a:bodyPr>
          <a:lstStyle/>
          <a:p>
            <a:pPr algn="l">
              <a:spcAft>
                <a:spcPts val="0"/>
              </a:spcAft>
            </a:pPr>
            <a:r>
              <a:rPr sz="3800" b="0">
                <a:solidFill>
                  <a:srgbClr val="535353"/>
                </a:solidFill>
                <a:latin typeface="Open Sans Regular"/>
                <a:ea typeface="Open Sans Regular"/>
                <a:cs typeface="Open Sans Regular"/>
              </a:rPr>
              <a:t>Formaliza el carpooling universitario</a:t>
            </a:r>
          </a:p>
        </p:txBody>
      </p:sp>
      <p:sp>
        <p:nvSpPr>
          <p:cNvPr id="9" name="Referente UniWheels"/>
          <p:cNvSpPr/>
          <p:nvPr/>
        </p:nvSpPr>
        <p:spPr>
          <a:xfrm>
            <a:off x="16098012" y="4297680"/>
            <a:ext cx="6583680" cy="5394960"/>
          </a:xfrm>
          <a:prstGeom prst="roundRect">
            <a:avLst>
              <a:gd name="adj" fmla="val 5000"/>
            </a:avLst>
          </a:prstGeom>
          <a:solidFill>
            <a:srgbClr val="00261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0" name="UniWheels título"/>
          <p:cNvSpPr txBox="1"/>
          <p:nvPr/>
        </p:nvSpPr>
        <p:spPr>
          <a:xfrm>
            <a:off x="16555212" y="4937760"/>
            <a:ext cx="5669280" cy="914400"/>
          </a:xfrm>
          <a:prstGeom prst="rect">
            <a:avLst/>
          </a:prstGeom>
          <a:noFill/>
        </p:spPr>
        <p:txBody>
          <a:bodyPr wrap="square" lIns="0" rIns="0" tIns="0" bIns="0" anchor="t">
            <a:spAutoFit/>
          </a:bodyPr>
          <a:lstStyle/>
          <a:p>
            <a:pPr algn="l">
              <a:spcAft>
                <a:spcPts val="0"/>
              </a:spcAft>
            </a:pPr>
            <a:r>
              <a:rPr sz="4800" b="1">
                <a:solidFill>
                  <a:srgbClr val="84D700"/>
                </a:solidFill>
                <a:latin typeface="OpenSans-ExtraBold"/>
                <a:ea typeface="OpenSans-ExtraBold"/>
                <a:cs typeface="OpenSans-ExtraBold"/>
              </a:rPr>
              <a:t>UniWheels</a:t>
            </a:r>
          </a:p>
        </p:txBody>
      </p:sp>
      <p:sp>
        <p:nvSpPr>
          <p:cNvPr id="11" name="UniWheels texto"/>
          <p:cNvSpPr txBox="1"/>
          <p:nvPr/>
        </p:nvSpPr>
        <p:spPr>
          <a:xfrm>
            <a:off x="16555212" y="6400800"/>
            <a:ext cx="5669280" cy="2743200"/>
          </a:xfrm>
          <a:prstGeom prst="rect">
            <a:avLst/>
          </a:prstGeom>
          <a:noFill/>
        </p:spPr>
        <p:txBody>
          <a:bodyPr wrap="square" lIns="0" rIns="0" tIns="0" bIns="0" anchor="t">
            <a:spAutoFit/>
          </a:bodyPr>
          <a:lstStyle/>
          <a:p>
            <a:pPr algn="l">
              <a:spcAft>
                <a:spcPts val="0"/>
              </a:spcAft>
            </a:pPr>
            <a:r>
              <a:rPr sz="3800" b="0">
                <a:solidFill>
                  <a:srgbClr val="FFFFFF"/>
                </a:solidFill>
                <a:latin typeface="Open Sans Regular"/>
                <a:ea typeface="Open Sans Regular"/>
                <a:cs typeface="Open Sans Regular"/>
              </a:rPr>
              <a:t>Empareja rutas sobre el mapa vial y propone paradas óptimas</a:t>
            </a:r>
          </a:p>
        </p:txBody>
      </p:sp>
      <p:sp>
        <p:nvSpPr>
          <p:cNvPr id="12" name="Etiqueta diferenciador"/>
          <p:cNvSpPr/>
          <p:nvPr/>
        </p:nvSpPr>
        <p:spPr>
          <a:xfrm>
            <a:off x="16555212" y="8686800"/>
            <a:ext cx="3383280" cy="685800"/>
          </a:xfrm>
          <a:prstGeom prst="roundRect">
            <a:avLst>
              <a:gd name="adj" fmla="val 50000"/>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2600" b="1">
                <a:solidFill>
                  <a:srgbClr val="000000"/>
                </a:solidFill>
                <a:latin typeface="OpenSans-ExtraBold"/>
                <a:ea typeface="OpenSans-ExtraBold"/>
                <a:cs typeface="OpenSans-ExtraBold"/>
              </a:rPr>
              <a:t>Diferenciador</a:t>
            </a:r>
          </a:p>
        </p:txBody>
      </p:sp>
      <p:sp>
        <p:nvSpPr>
          <p:cNvPr id="13" name="Citas"/>
          <p:cNvSpPr txBox="1"/>
          <p:nvPr/>
        </p:nvSpPr>
        <p:spPr>
          <a:xfrm>
            <a:off x="1650492" y="10058400"/>
            <a:ext cx="15544800" cy="548640"/>
          </a:xfrm>
          <a:prstGeom prst="rect">
            <a:avLst/>
          </a:prstGeom>
          <a:noFill/>
        </p:spPr>
        <p:txBody>
          <a:bodyPr wrap="square" lIns="0" rIns="0" tIns="0" bIns="0" anchor="t">
            <a:spAutoFit/>
          </a:bodyPr>
          <a:lstStyle/>
          <a:p>
            <a:pPr algn="l">
              <a:spcAft>
                <a:spcPts val="0"/>
              </a:spcAft>
            </a:pPr>
            <a:r>
              <a:rPr sz="2200" b="0">
                <a:solidFill>
                  <a:srgbClr val="5E5E5E"/>
                </a:solidFill>
                <a:latin typeface="Open Sans Regular"/>
                <a:ea typeface="Open Sans Regular"/>
                <a:cs typeface="Open Sans Regular"/>
              </a:rPr>
              <a:t>(Forbes,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La solución</a:t>
            </a:r>
          </a:p>
        </p:txBody>
      </p:sp>
      <p:sp>
        <p:nvSpPr>
          <p:cNvPr id="3" name="Marco teléfono"/>
          <p:cNvSpPr/>
          <p:nvPr/>
        </p:nvSpPr>
        <p:spPr>
          <a:xfrm>
            <a:off x="2926080" y="3566160"/>
            <a:ext cx="4206240" cy="7955279"/>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pic>
        <p:nvPicPr>
          <p:cNvPr id="4" name="Foto campus" descr="Campus El Jardín de la UNAB"/>
          <p:cNvPicPr>
            <a:picLocks noChangeAspect="1"/>
          </p:cNvPicPr>
          <p:nvPr/>
        </p:nvPicPr>
        <p:blipFill>
          <a:blip r:embed="rId2"/>
          <a:srcRect l="25472" r="25472"/>
          <a:stretch>
            <a:fillRect/>
          </a:stretch>
        </p:blipFill>
        <p:spPr>
          <a:xfrm>
            <a:off x="3127248" y="3767328"/>
            <a:ext cx="3803903" cy="4846320"/>
          </a:xfrm>
          <a:prstGeom prst="rect">
            <a:avLst/>
          </a:prstGeom>
        </p:spPr>
      </p:pic>
      <p:sp>
        <p:nvSpPr>
          <p:cNvPr id="5" name="Pantalla base"/>
          <p:cNvSpPr/>
          <p:nvPr/>
        </p:nvSpPr>
        <p:spPr>
          <a:xfrm>
            <a:off x="3127248" y="8613648"/>
            <a:ext cx="3803903" cy="2706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pic>
        <p:nvPicPr>
          <p:cNvPr id="6" name="Logo UniWheels" descr="Logo de UniWheels"/>
          <p:cNvPicPr>
            <a:picLocks noChangeAspect="1"/>
          </p:cNvPicPr>
          <p:nvPr/>
        </p:nvPicPr>
        <p:blipFill>
          <a:blip r:embed="rId3"/>
          <a:stretch>
            <a:fillRect/>
          </a:stretch>
        </p:blipFill>
        <p:spPr>
          <a:xfrm>
            <a:off x="3767328" y="9116568"/>
            <a:ext cx="2523743" cy="1705498"/>
          </a:xfrm>
          <a:prstGeom prst="rect">
            <a:avLst/>
          </a:prstGeom>
        </p:spPr>
      </p:pic>
      <p:sp>
        <p:nvSpPr>
          <p:cNvPr id="7" name="Pie de foto"/>
          <p:cNvSpPr txBox="1"/>
          <p:nvPr/>
        </p:nvSpPr>
        <p:spPr>
          <a:xfrm>
            <a:off x="1645920" y="11658600"/>
            <a:ext cx="6766559" cy="457200"/>
          </a:xfrm>
          <a:prstGeom prst="rect">
            <a:avLst/>
          </a:prstGeom>
          <a:noFill/>
        </p:spPr>
        <p:txBody>
          <a:bodyPr wrap="square" lIns="0" rIns="0" tIns="0" bIns="0" anchor="t">
            <a:spAutoFit/>
          </a:bodyPr>
          <a:lstStyle/>
          <a:p>
            <a:pPr algn="ctr">
              <a:spcAft>
                <a:spcPts val="0"/>
              </a:spcAft>
            </a:pPr>
            <a:r>
              <a:rPr sz="2200" b="0">
                <a:solidFill>
                  <a:srgbClr val="5E5E5E"/>
                </a:solidFill>
                <a:latin typeface="Open Sans Regular"/>
                <a:ea typeface="Open Sans Regular"/>
                <a:cs typeface="Open Sans Regular"/>
              </a:rPr>
              <a:t>Ilustración: campus UNAB y marca</a:t>
            </a:r>
          </a:p>
        </p:txBody>
      </p:sp>
      <p:sp>
        <p:nvSpPr>
          <p:cNvPr id="8" name="Subtítulo"/>
          <p:cNvSpPr txBox="1"/>
          <p:nvPr/>
        </p:nvSpPr>
        <p:spPr>
          <a:xfrm>
            <a:off x="8961120" y="3657600"/>
            <a:ext cx="13258800" cy="1463040"/>
          </a:xfrm>
          <a:prstGeom prst="rect">
            <a:avLst/>
          </a:prstGeom>
          <a:noFill/>
        </p:spPr>
        <p:txBody>
          <a:bodyPr wrap="square" lIns="0" rIns="0" tIns="0" bIns="0" anchor="t">
            <a:spAutoFit/>
          </a:bodyPr>
          <a:lstStyle/>
          <a:p>
            <a:pPr algn="l">
              <a:spcAft>
                <a:spcPts val="0"/>
              </a:spcAft>
            </a:pPr>
            <a:r>
              <a:rPr sz="6400" b="1">
                <a:solidFill>
                  <a:srgbClr val="000000"/>
                </a:solidFill>
                <a:latin typeface="OpenSans-ExtraBold"/>
                <a:ea typeface="OpenSans-ExtraBold"/>
                <a:cs typeface="OpenSans-ExtraBold"/>
              </a:rPr>
              <a:t>Carpooling verificado</a:t>
            </a:r>
          </a:p>
        </p:txBody>
      </p:sp>
      <p:sp>
        <p:nvSpPr>
          <p:cNvPr id="9" name="Descripción"/>
          <p:cNvSpPr txBox="1"/>
          <p:nvPr/>
        </p:nvSpPr>
        <p:spPr>
          <a:xfrm>
            <a:off x="8961120" y="5394960"/>
            <a:ext cx="13533120" cy="3108960"/>
          </a:xfrm>
          <a:prstGeom prst="rect">
            <a:avLst/>
          </a:prstGeom>
          <a:noFill/>
        </p:spPr>
        <p:txBody>
          <a:bodyPr wrap="square" lIns="0" rIns="0" tIns="0" bIns="0" anchor="t">
            <a:spAutoFit/>
          </a:bodyPr>
          <a:lstStyle/>
          <a:p>
            <a:pPr algn="l">
              <a:spcAft>
                <a:spcPts val="0"/>
              </a:spcAft>
            </a:pPr>
            <a:r>
              <a:rPr sz="4200" b="0">
                <a:solidFill>
                  <a:srgbClr val="535353"/>
                </a:solidFill>
                <a:latin typeface="Open Sans Regular"/>
                <a:ea typeface="Open Sans Regular"/>
                <a:cs typeface="Open Sans Regular"/>
              </a:rPr>
              <a:t>Conectamos conductores y pasajeros verificados de la comunidad UNAB: hacia las sedes, desde ellas y entre ellas.</a:t>
            </a:r>
          </a:p>
        </p:txBody>
      </p:sp>
      <p:sp>
        <p:nvSpPr>
          <p:cNvPr id="10" name="Etiqueta App móvil"/>
          <p:cNvSpPr/>
          <p:nvPr/>
        </p:nvSpPr>
        <p:spPr>
          <a:xfrm>
            <a:off x="8961120" y="8686800"/>
            <a:ext cx="4059935" cy="914400"/>
          </a:xfrm>
          <a:prstGeom prst="roundRect">
            <a:avLst>
              <a:gd name="adj" fmla="val 50000"/>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App móvil</a:t>
            </a:r>
          </a:p>
        </p:txBody>
      </p:sp>
      <p:sp>
        <p:nvSpPr>
          <p:cNvPr id="11" name="Etiqueta Correo institucional"/>
          <p:cNvSpPr/>
          <p:nvPr/>
        </p:nvSpPr>
        <p:spPr>
          <a:xfrm>
            <a:off x="8961120" y="9875520"/>
            <a:ext cx="7680959" cy="914400"/>
          </a:xfrm>
          <a:prstGeom prst="roundRect">
            <a:avLst>
              <a:gd name="adj" fmla="val 50000"/>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Correo institucional</a:t>
            </a:r>
          </a:p>
        </p:txBody>
      </p:sp>
      <p:sp>
        <p:nvSpPr>
          <p:cNvPr id="12" name="Etiqueta Sin pagos en la app"/>
          <p:cNvSpPr/>
          <p:nvPr/>
        </p:nvSpPr>
        <p:spPr>
          <a:xfrm>
            <a:off x="8961120" y="11064240"/>
            <a:ext cx="7351775" cy="914400"/>
          </a:xfrm>
          <a:prstGeom prst="roundRect">
            <a:avLst>
              <a:gd name="adj" fmla="val 50000"/>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Sin pagos en la app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Cómo funciona</a:t>
            </a:r>
          </a:p>
        </p:txBody>
      </p:sp>
      <p:cxnSp>
        <p:nvCxnSpPr>
          <p:cNvPr id="3" name="Línea del flujo"/>
          <p:cNvCxnSpPr/>
          <p:nvPr/>
        </p:nvCxnSpPr>
        <p:spPr>
          <a:xfrm>
            <a:off x="3936491" y="5669280"/>
            <a:ext cx="16459201" cy="0"/>
          </a:xfrm>
          <a:prstGeom prst="line">
            <a:avLst/>
          </a:prstGeom>
          <a:ln w="7620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Paso 1 número"/>
          <p:cNvSpPr/>
          <p:nvPr/>
        </p:nvSpPr>
        <p:spPr>
          <a:xfrm>
            <a:off x="2930651" y="4663440"/>
            <a:ext cx="2011680" cy="201168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7200" b="1">
                <a:solidFill>
                  <a:srgbClr val="000000"/>
                </a:solidFill>
                <a:latin typeface="OpenSans-ExtraBold"/>
                <a:ea typeface="OpenSans-ExtraBold"/>
                <a:cs typeface="OpenSans-ExtraBold"/>
              </a:rPr>
              <a:t>1</a:t>
            </a:r>
          </a:p>
        </p:txBody>
      </p:sp>
      <p:sp>
        <p:nvSpPr>
          <p:cNvPr id="5" name="Paso 1 título"/>
          <p:cNvSpPr txBox="1"/>
          <p:nvPr/>
        </p:nvSpPr>
        <p:spPr>
          <a:xfrm>
            <a:off x="1650492" y="7406640"/>
            <a:ext cx="4572000" cy="1097280"/>
          </a:xfrm>
          <a:prstGeom prst="rect">
            <a:avLst/>
          </a:prstGeom>
          <a:noFill/>
        </p:spPr>
        <p:txBody>
          <a:bodyPr wrap="square" lIns="0" rIns="0" tIns="0" bIns="0" anchor="t">
            <a:spAutoFit/>
          </a:bodyPr>
          <a:lstStyle/>
          <a:p>
            <a:pPr algn="ctr">
              <a:spcAft>
                <a:spcPts val="0"/>
              </a:spcAft>
            </a:pPr>
            <a:r>
              <a:rPr sz="5400" b="1">
                <a:solidFill>
                  <a:srgbClr val="000000"/>
                </a:solidFill>
                <a:latin typeface="OpenSans-ExtraBold"/>
                <a:ea typeface="OpenSans-ExtraBold"/>
                <a:cs typeface="OpenSans-ExtraBold"/>
              </a:rPr>
              <a:t>Publicar</a:t>
            </a:r>
          </a:p>
        </p:txBody>
      </p:sp>
      <p:sp>
        <p:nvSpPr>
          <p:cNvPr id="6" name="Paso 1 texto"/>
          <p:cNvSpPr txBox="1"/>
          <p:nvPr/>
        </p:nvSpPr>
        <p:spPr>
          <a:xfrm>
            <a:off x="1741932" y="8869680"/>
            <a:ext cx="4389120" cy="2560320"/>
          </a:xfrm>
          <a:prstGeom prst="rect">
            <a:avLst/>
          </a:prstGeom>
          <a:noFill/>
        </p:spPr>
        <p:txBody>
          <a:bodyPr wrap="square" lIns="0" rIns="0" tIns="0" bIns="0" anchor="t">
            <a:spAutoFit/>
          </a:bodyPr>
          <a:lstStyle/>
          <a:p>
            <a:pPr algn="ctr">
              <a:spcAft>
                <a:spcPts val="0"/>
              </a:spcAft>
            </a:pPr>
            <a:r>
              <a:rPr sz="3600" b="0">
                <a:solidFill>
                  <a:srgbClr val="535353"/>
                </a:solidFill>
                <a:latin typeface="Open Sans Regular"/>
                <a:ea typeface="Open Sans Regular"/>
                <a:cs typeface="Open Sans Regular"/>
              </a:rPr>
              <a:t>El conductor define la ruta que ya hace</a:t>
            </a:r>
          </a:p>
        </p:txBody>
      </p:sp>
      <p:sp>
        <p:nvSpPr>
          <p:cNvPr id="7" name="Paso 2 número"/>
          <p:cNvSpPr/>
          <p:nvPr/>
        </p:nvSpPr>
        <p:spPr>
          <a:xfrm>
            <a:off x="8417052" y="4663440"/>
            <a:ext cx="2011680" cy="201168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7200" b="1">
                <a:solidFill>
                  <a:srgbClr val="000000"/>
                </a:solidFill>
                <a:latin typeface="OpenSans-ExtraBold"/>
                <a:ea typeface="OpenSans-ExtraBold"/>
                <a:cs typeface="OpenSans-ExtraBold"/>
              </a:rPr>
              <a:t>2</a:t>
            </a:r>
          </a:p>
        </p:txBody>
      </p:sp>
      <p:sp>
        <p:nvSpPr>
          <p:cNvPr id="8" name="Paso 2 título"/>
          <p:cNvSpPr txBox="1"/>
          <p:nvPr/>
        </p:nvSpPr>
        <p:spPr>
          <a:xfrm>
            <a:off x="7136892" y="7406640"/>
            <a:ext cx="4572000" cy="1097280"/>
          </a:xfrm>
          <a:prstGeom prst="rect">
            <a:avLst/>
          </a:prstGeom>
          <a:noFill/>
        </p:spPr>
        <p:txBody>
          <a:bodyPr wrap="square" lIns="0" rIns="0" tIns="0" bIns="0" anchor="t">
            <a:spAutoFit/>
          </a:bodyPr>
          <a:lstStyle/>
          <a:p>
            <a:pPr algn="ctr">
              <a:spcAft>
                <a:spcPts val="0"/>
              </a:spcAft>
            </a:pPr>
            <a:r>
              <a:rPr sz="5400" b="1">
                <a:solidFill>
                  <a:srgbClr val="000000"/>
                </a:solidFill>
                <a:latin typeface="OpenSans-ExtraBold"/>
                <a:ea typeface="OpenSans-ExtraBold"/>
                <a:cs typeface="OpenSans-ExtraBold"/>
              </a:rPr>
              <a:t>Reservar</a:t>
            </a:r>
          </a:p>
        </p:txBody>
      </p:sp>
      <p:sp>
        <p:nvSpPr>
          <p:cNvPr id="9" name="Paso 2 texto"/>
          <p:cNvSpPr txBox="1"/>
          <p:nvPr/>
        </p:nvSpPr>
        <p:spPr>
          <a:xfrm>
            <a:off x="7228331" y="8869680"/>
            <a:ext cx="4389120" cy="2560320"/>
          </a:xfrm>
          <a:prstGeom prst="rect">
            <a:avLst/>
          </a:prstGeom>
          <a:noFill/>
        </p:spPr>
        <p:txBody>
          <a:bodyPr wrap="square" lIns="0" rIns="0" tIns="0" bIns="0" anchor="t">
            <a:spAutoFit/>
          </a:bodyPr>
          <a:lstStyle/>
          <a:p>
            <a:pPr algn="ctr">
              <a:spcAft>
                <a:spcPts val="0"/>
              </a:spcAft>
            </a:pPr>
            <a:r>
              <a:rPr sz="3600" b="0">
                <a:solidFill>
                  <a:srgbClr val="535353"/>
                </a:solidFill>
                <a:latin typeface="Open Sans Regular"/>
                <a:ea typeface="Open Sans Regular"/>
                <a:cs typeface="Open Sans Regular"/>
              </a:rPr>
              <a:t>El pasajero fija su punto de recogida</a:t>
            </a:r>
          </a:p>
        </p:txBody>
      </p:sp>
      <p:sp>
        <p:nvSpPr>
          <p:cNvPr id="10" name="Paso 3 número"/>
          <p:cNvSpPr/>
          <p:nvPr/>
        </p:nvSpPr>
        <p:spPr>
          <a:xfrm>
            <a:off x="13903452" y="4663440"/>
            <a:ext cx="2011680" cy="201168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7200" b="1">
                <a:solidFill>
                  <a:srgbClr val="000000"/>
                </a:solidFill>
                <a:latin typeface="OpenSans-ExtraBold"/>
                <a:ea typeface="OpenSans-ExtraBold"/>
                <a:cs typeface="OpenSans-ExtraBold"/>
              </a:rPr>
              <a:t>3</a:t>
            </a:r>
          </a:p>
        </p:txBody>
      </p:sp>
      <p:sp>
        <p:nvSpPr>
          <p:cNvPr id="11" name="Paso 3 título"/>
          <p:cNvSpPr txBox="1"/>
          <p:nvPr/>
        </p:nvSpPr>
        <p:spPr>
          <a:xfrm>
            <a:off x="12623292" y="7406640"/>
            <a:ext cx="4572000" cy="1097280"/>
          </a:xfrm>
          <a:prstGeom prst="rect">
            <a:avLst/>
          </a:prstGeom>
          <a:noFill/>
        </p:spPr>
        <p:txBody>
          <a:bodyPr wrap="square" lIns="0" rIns="0" tIns="0" bIns="0" anchor="t">
            <a:spAutoFit/>
          </a:bodyPr>
          <a:lstStyle/>
          <a:p>
            <a:pPr algn="ctr">
              <a:spcAft>
                <a:spcPts val="0"/>
              </a:spcAft>
            </a:pPr>
            <a:r>
              <a:rPr sz="5400" b="1">
                <a:solidFill>
                  <a:srgbClr val="000000"/>
                </a:solidFill>
                <a:latin typeface="OpenSans-ExtraBold"/>
                <a:ea typeface="OpenSans-ExtraBold"/>
                <a:cs typeface="OpenSans-ExtraBold"/>
              </a:rPr>
              <a:t>Recoger</a:t>
            </a:r>
          </a:p>
        </p:txBody>
      </p:sp>
      <p:sp>
        <p:nvSpPr>
          <p:cNvPr id="12" name="Paso 3 texto"/>
          <p:cNvSpPr txBox="1"/>
          <p:nvPr/>
        </p:nvSpPr>
        <p:spPr>
          <a:xfrm>
            <a:off x="12714732" y="8869680"/>
            <a:ext cx="4389120" cy="2560320"/>
          </a:xfrm>
          <a:prstGeom prst="rect">
            <a:avLst/>
          </a:prstGeom>
          <a:noFill/>
        </p:spPr>
        <p:txBody>
          <a:bodyPr wrap="square" lIns="0" rIns="0" tIns="0" bIns="0" anchor="t">
            <a:spAutoFit/>
          </a:bodyPr>
          <a:lstStyle/>
          <a:p>
            <a:pPr algn="ctr">
              <a:spcAft>
                <a:spcPts val="0"/>
              </a:spcAft>
            </a:pPr>
            <a:r>
              <a:rPr sz="3600" b="0">
                <a:solidFill>
                  <a:srgbClr val="535353"/>
                </a:solidFill>
                <a:latin typeface="Open Sans Regular"/>
                <a:ea typeface="Open Sans Regular"/>
                <a:cs typeface="Open Sans Regular"/>
              </a:rPr>
              <a:t>El viaje inicia con verificación por PIN</a:t>
            </a:r>
          </a:p>
        </p:txBody>
      </p:sp>
      <p:sp>
        <p:nvSpPr>
          <p:cNvPr id="13" name="Paso 4 número"/>
          <p:cNvSpPr/>
          <p:nvPr/>
        </p:nvSpPr>
        <p:spPr>
          <a:xfrm>
            <a:off x="19389852" y="4663440"/>
            <a:ext cx="2011680" cy="201168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7200" b="1">
                <a:solidFill>
                  <a:srgbClr val="000000"/>
                </a:solidFill>
                <a:latin typeface="OpenSans-ExtraBold"/>
                <a:ea typeface="OpenSans-ExtraBold"/>
                <a:cs typeface="OpenSans-ExtraBold"/>
              </a:rPr>
              <a:t>4</a:t>
            </a:r>
          </a:p>
        </p:txBody>
      </p:sp>
      <p:sp>
        <p:nvSpPr>
          <p:cNvPr id="14" name="Paso 4 título"/>
          <p:cNvSpPr txBox="1"/>
          <p:nvPr/>
        </p:nvSpPr>
        <p:spPr>
          <a:xfrm>
            <a:off x="18109692" y="7406640"/>
            <a:ext cx="4572000" cy="1097280"/>
          </a:xfrm>
          <a:prstGeom prst="rect">
            <a:avLst/>
          </a:prstGeom>
          <a:noFill/>
        </p:spPr>
        <p:txBody>
          <a:bodyPr wrap="square" lIns="0" rIns="0" tIns="0" bIns="0" anchor="t">
            <a:spAutoFit/>
          </a:bodyPr>
          <a:lstStyle/>
          <a:p>
            <a:pPr algn="ctr">
              <a:spcAft>
                <a:spcPts val="0"/>
              </a:spcAft>
            </a:pPr>
            <a:r>
              <a:rPr sz="5400" b="1">
                <a:solidFill>
                  <a:srgbClr val="000000"/>
                </a:solidFill>
                <a:latin typeface="OpenSans-ExtraBold"/>
                <a:ea typeface="OpenSans-ExtraBold"/>
                <a:cs typeface="OpenSans-ExtraBold"/>
              </a:rPr>
              <a:t>Finalizar</a:t>
            </a:r>
          </a:p>
        </p:txBody>
      </p:sp>
      <p:sp>
        <p:nvSpPr>
          <p:cNvPr id="15" name="Paso 4 texto"/>
          <p:cNvSpPr txBox="1"/>
          <p:nvPr/>
        </p:nvSpPr>
        <p:spPr>
          <a:xfrm>
            <a:off x="18201132" y="8869680"/>
            <a:ext cx="4389120" cy="2560320"/>
          </a:xfrm>
          <a:prstGeom prst="rect">
            <a:avLst/>
          </a:prstGeom>
          <a:noFill/>
        </p:spPr>
        <p:txBody>
          <a:bodyPr wrap="square" lIns="0" rIns="0" tIns="0" bIns="0" anchor="t">
            <a:spAutoFit/>
          </a:bodyPr>
          <a:lstStyle/>
          <a:p>
            <a:pPr algn="ctr">
              <a:spcAft>
                <a:spcPts val="0"/>
              </a:spcAft>
            </a:pPr>
            <a:r>
              <a:rPr sz="3600" b="0">
                <a:solidFill>
                  <a:srgbClr val="535353"/>
                </a:solidFill>
                <a:latin typeface="Open Sans Regular"/>
                <a:ea typeface="Open Sans Regular"/>
                <a:cs typeface="Open Sans Regular"/>
              </a:rPr>
              <a:t>El conductor cierra el viaje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Arquitectura</a:t>
            </a:r>
          </a:p>
        </p:txBody>
      </p:sp>
      <p:sp>
        <p:nvSpPr>
          <p:cNvPr id="3" name="App móvil"/>
          <p:cNvSpPr/>
          <p:nvPr/>
        </p:nvSpPr>
        <p:spPr>
          <a:xfrm>
            <a:off x="1650492" y="4023360"/>
            <a:ext cx="4206240" cy="2011680"/>
          </a:xfrm>
          <a:prstGeom prst="roundRect">
            <a:avLst>
              <a:gd name="adj" fmla="val 12000"/>
            </a:avLst>
          </a:prstGeom>
          <a:solidFill>
            <a:srgbClr val="002617"/>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FFFFFF"/>
                </a:solidFill>
                <a:latin typeface="OpenSans-ExtraBold"/>
                <a:ea typeface="OpenSans-ExtraBold"/>
                <a:cs typeface="OpenSans-ExtraBold"/>
              </a:rPr>
              <a:t>App móvil</a:t>
            </a:r>
          </a:p>
          <a:p>
            <a:pPr algn="ctr"/>
            <a:r>
              <a:rPr sz="2600" b="0">
                <a:solidFill>
                  <a:srgbClr val="84D700"/>
                </a:solidFill>
                <a:latin typeface="Open Sans Regular"/>
                <a:ea typeface="Open Sans Regular"/>
                <a:cs typeface="Open Sans Regular"/>
              </a:rPr>
              <a:t>Expo · React Native</a:t>
            </a:r>
          </a:p>
        </p:txBody>
      </p:sp>
      <p:sp>
        <p:nvSpPr>
          <p:cNvPr id="4" name="Panel admin"/>
          <p:cNvSpPr/>
          <p:nvPr/>
        </p:nvSpPr>
        <p:spPr>
          <a:xfrm>
            <a:off x="1650492" y="6492240"/>
            <a:ext cx="420624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Panel admin</a:t>
            </a:r>
          </a:p>
          <a:p>
            <a:pPr algn="ctr"/>
            <a:r>
              <a:rPr sz="2600" b="0">
                <a:solidFill>
                  <a:srgbClr val="535353"/>
                </a:solidFill>
                <a:latin typeface="Open Sans Regular"/>
                <a:ea typeface="Open Sans Regular"/>
                <a:cs typeface="Open Sans Regular"/>
              </a:rPr>
              <a:t>React · Vite</a:t>
            </a:r>
          </a:p>
        </p:txBody>
      </p:sp>
      <p:sp>
        <p:nvSpPr>
          <p:cNvPr id="5" name="API Gateway"/>
          <p:cNvSpPr/>
          <p:nvPr/>
        </p:nvSpPr>
        <p:spPr>
          <a:xfrm>
            <a:off x="7315200" y="4023360"/>
            <a:ext cx="3291840" cy="6675120"/>
          </a:xfrm>
          <a:prstGeom prst="roundRect">
            <a:avLst>
              <a:gd name="adj" fmla="val 12000"/>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API Gateway</a:t>
            </a:r>
          </a:p>
          <a:p>
            <a:pPr algn="ctr"/>
            <a:r>
              <a:rPr sz="2600" b="0">
                <a:solidFill>
                  <a:srgbClr val="000000"/>
                </a:solidFill>
                <a:latin typeface="Open Sans Regular"/>
                <a:ea typeface="Open Sans Regular"/>
                <a:cs typeface="Open Sans Regular"/>
              </a:rPr>
              <a:t>nginx</a:t>
            </a:r>
          </a:p>
        </p:txBody>
      </p:sp>
      <p:sp>
        <p:nvSpPr>
          <p:cNvPr id="6" name="auth-service"/>
          <p:cNvSpPr/>
          <p:nvPr/>
        </p:nvSpPr>
        <p:spPr>
          <a:xfrm>
            <a:off x="12252960" y="4023360"/>
            <a:ext cx="5394960" cy="11887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auth-service</a:t>
            </a:r>
          </a:p>
          <a:p>
            <a:pPr algn="ctr"/>
            <a:r>
              <a:rPr sz="2600" b="0">
                <a:solidFill>
                  <a:srgbClr val="535353"/>
                </a:solidFill>
                <a:latin typeface="Open Sans Regular"/>
                <a:ea typeface="Open Sans Regular"/>
                <a:cs typeface="Open Sans Regular"/>
              </a:rPr>
              <a:t>Identidad · JWT</a:t>
            </a:r>
          </a:p>
        </p:txBody>
      </p:sp>
      <p:sp>
        <p:nvSpPr>
          <p:cNvPr id="7" name="vehicle-service"/>
          <p:cNvSpPr/>
          <p:nvPr/>
        </p:nvSpPr>
        <p:spPr>
          <a:xfrm>
            <a:off x="12252960" y="5394960"/>
            <a:ext cx="5394960" cy="11887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vehicle-service</a:t>
            </a:r>
          </a:p>
          <a:p>
            <a:pPr algn="ctr"/>
            <a:r>
              <a:rPr sz="2600" b="0">
                <a:solidFill>
                  <a:srgbClr val="535353"/>
                </a:solidFill>
                <a:latin typeface="Open Sans Regular"/>
                <a:ea typeface="Open Sans Regular"/>
                <a:cs typeface="Open Sans Regular"/>
              </a:rPr>
              <a:t>Vehículos · documentos</a:t>
            </a:r>
          </a:p>
        </p:txBody>
      </p:sp>
      <p:sp>
        <p:nvSpPr>
          <p:cNvPr id="8" name="route-matching"/>
          <p:cNvSpPr/>
          <p:nvPr/>
        </p:nvSpPr>
        <p:spPr>
          <a:xfrm>
            <a:off x="12252960" y="6766560"/>
            <a:ext cx="5394960" cy="11887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route-matching</a:t>
            </a:r>
          </a:p>
          <a:p>
            <a:pPr algn="ctr"/>
            <a:r>
              <a:rPr sz="2600" b="0">
                <a:solidFill>
                  <a:srgbClr val="535353"/>
                </a:solidFill>
                <a:latin typeface="Open Sans Regular"/>
                <a:ea typeface="Open Sans Regular"/>
                <a:cs typeface="Open Sans Regular"/>
              </a:rPr>
              <a:t>Rutas · PostGIS</a:t>
            </a:r>
          </a:p>
        </p:txBody>
      </p:sp>
      <p:sp>
        <p:nvSpPr>
          <p:cNvPr id="9" name="trip-service"/>
          <p:cNvSpPr/>
          <p:nvPr/>
        </p:nvSpPr>
        <p:spPr>
          <a:xfrm>
            <a:off x="12252960" y="8138160"/>
            <a:ext cx="5394960" cy="11887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trip-service</a:t>
            </a:r>
          </a:p>
          <a:p>
            <a:pPr algn="ctr"/>
            <a:r>
              <a:rPr sz="2600" b="0">
                <a:solidFill>
                  <a:srgbClr val="535353"/>
                </a:solidFill>
                <a:latin typeface="Open Sans Regular"/>
                <a:ea typeface="Open Sans Regular"/>
                <a:cs typeface="Open Sans Regular"/>
              </a:rPr>
              <a:t>Viajes · PIN</a:t>
            </a:r>
          </a:p>
        </p:txBody>
      </p:sp>
      <p:sp>
        <p:nvSpPr>
          <p:cNvPr id="10" name="notification-service"/>
          <p:cNvSpPr/>
          <p:nvPr/>
        </p:nvSpPr>
        <p:spPr>
          <a:xfrm>
            <a:off x="12252960" y="9509760"/>
            <a:ext cx="5394960" cy="11887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notification-service</a:t>
            </a:r>
          </a:p>
          <a:p>
            <a:pPr algn="ctr"/>
            <a:r>
              <a:rPr sz="2600" b="0">
                <a:solidFill>
                  <a:srgbClr val="535353"/>
                </a:solidFill>
                <a:latin typeface="Open Sans Regular"/>
                <a:ea typeface="Open Sans Regular"/>
                <a:cs typeface="Open Sans Regular"/>
              </a:rPr>
              <a:t>Calificaciones · push</a:t>
            </a:r>
          </a:p>
        </p:txBody>
      </p:sp>
      <p:sp>
        <p:nvSpPr>
          <p:cNvPr id="11" name="Resend"/>
          <p:cNvSpPr/>
          <p:nvPr/>
        </p:nvSpPr>
        <p:spPr>
          <a:xfrm>
            <a:off x="18836640" y="4023360"/>
            <a:ext cx="3840480" cy="1188720"/>
          </a:xfrm>
          <a:prstGeom prst="roundRect">
            <a:avLst>
              <a:gd name="adj" fmla="val 12000"/>
            </a:avLst>
          </a:prstGeom>
          <a:solidFill>
            <a:srgbClr val="FFFFFF"/>
          </a:solidFill>
          <a:ln w="19050">
            <a:solidFill>
              <a:srgbClr val="5E5E5E"/>
            </a:solid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Resend</a:t>
            </a:r>
          </a:p>
          <a:p>
            <a:pPr algn="ctr"/>
            <a:r>
              <a:rPr sz="2600" b="0">
                <a:solidFill>
                  <a:srgbClr val="535353"/>
                </a:solidFill>
                <a:latin typeface="Open Sans Regular"/>
                <a:ea typeface="Open Sans Regular"/>
                <a:cs typeface="Open Sans Regular"/>
              </a:rPr>
              <a:t>Correo</a:t>
            </a:r>
          </a:p>
        </p:txBody>
      </p:sp>
      <p:sp>
        <p:nvSpPr>
          <p:cNvPr id="12" name="ai-route-service"/>
          <p:cNvSpPr/>
          <p:nvPr/>
        </p:nvSpPr>
        <p:spPr>
          <a:xfrm>
            <a:off x="18836640" y="6400800"/>
            <a:ext cx="3840480" cy="1920240"/>
          </a:xfrm>
          <a:prstGeom prst="roundRect">
            <a:avLst>
              <a:gd name="adj" fmla="val 12000"/>
            </a:avLst>
          </a:prstGeom>
          <a:solidFill>
            <a:srgbClr val="002617"/>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FFFFFF"/>
                </a:solidFill>
                <a:latin typeface="OpenSans-ExtraBold"/>
                <a:ea typeface="OpenSans-ExtraBold"/>
                <a:cs typeface="OpenSans-ExtraBold"/>
              </a:rPr>
              <a:t>ai-route-service</a:t>
            </a:r>
          </a:p>
          <a:p>
            <a:pPr algn="ctr"/>
            <a:r>
              <a:rPr sz="2600" b="0">
                <a:solidFill>
                  <a:srgbClr val="84D700"/>
                </a:solidFill>
                <a:latin typeface="Open Sans Regular"/>
                <a:ea typeface="Open Sans Regular"/>
                <a:cs typeface="Open Sans Regular"/>
              </a:rPr>
              <a:t>FastAPI · XGBoost · ALNS</a:t>
            </a:r>
          </a:p>
        </p:txBody>
      </p:sp>
      <p:sp>
        <p:nvSpPr>
          <p:cNvPr id="13" name="Datos"/>
          <p:cNvSpPr/>
          <p:nvPr/>
        </p:nvSpPr>
        <p:spPr>
          <a:xfrm>
            <a:off x="12252960" y="11064240"/>
            <a:ext cx="10424160" cy="868680"/>
          </a:xfrm>
          <a:prstGeom prst="roundRect">
            <a:avLst>
              <a:gd name="adj" fmla="val 12000"/>
            </a:avLst>
          </a:prstGeom>
          <a:solidFill>
            <a:srgbClr val="FFFFFF"/>
          </a:solidFill>
          <a:ln w="19050">
            <a:solidFill>
              <a:srgbClr val="5E5E5E"/>
            </a:solid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000" b="1">
                <a:solidFill>
                  <a:srgbClr val="000000"/>
                </a:solidFill>
                <a:latin typeface="OpenSans-ExtraBold"/>
                <a:ea typeface="OpenSans-ExtraBold"/>
                <a:cs typeface="OpenSans-ExtraBold"/>
              </a:rPr>
              <a:t>Redis · PostgreSQL (una base por servicio)</a:t>
            </a:r>
          </a:p>
          <a:p>
            <a:pPr algn="ctr"/>
            <a:r>
              <a:rPr sz="2600" b="0">
                <a:solidFill>
                  <a:srgbClr val="535353"/>
                </a:solidFill>
                <a:latin typeface="Open Sans Regular"/>
                <a:ea typeface="Open Sans Regular"/>
                <a:cs typeface="Open Sans Regular"/>
              </a:rPr>
              <a:t/>
            </a:r>
          </a:p>
        </p:txBody>
      </p:sp>
      <p:cxnSp>
        <p:nvCxnSpPr>
          <p:cNvPr id="14" name="Móvil a gateway"/>
          <p:cNvCxnSpPr/>
          <p:nvPr/>
        </p:nvCxnSpPr>
        <p:spPr>
          <a:xfrm>
            <a:off x="5852160" y="5029200"/>
            <a:ext cx="1463040" cy="0"/>
          </a:xfrm>
          <a:prstGeom prst="line">
            <a:avLst/>
          </a:prstGeom>
          <a:ln w="508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Admin a gateway"/>
          <p:cNvCxnSpPr/>
          <p:nvPr/>
        </p:nvCxnSpPr>
        <p:spPr>
          <a:xfrm>
            <a:off x="5852160" y="7498079"/>
            <a:ext cx="1463040" cy="0"/>
          </a:xfrm>
          <a:prstGeom prst="line">
            <a:avLst/>
          </a:prstGeom>
          <a:ln w="508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Gateway a servicio"/>
          <p:cNvCxnSpPr/>
          <p:nvPr/>
        </p:nvCxnSpPr>
        <p:spPr>
          <a:xfrm flipV="1">
            <a:off x="10607040" y="4617720"/>
            <a:ext cx="1645920" cy="2743200"/>
          </a:xfrm>
          <a:prstGeom prst="line">
            <a:avLst/>
          </a:prstGeom>
          <a:ln w="381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7" name="Gateway a servicio"/>
          <p:cNvCxnSpPr/>
          <p:nvPr/>
        </p:nvCxnSpPr>
        <p:spPr>
          <a:xfrm flipV="1">
            <a:off x="10607040" y="5989320"/>
            <a:ext cx="1645920" cy="1371600"/>
          </a:xfrm>
          <a:prstGeom prst="line">
            <a:avLst/>
          </a:prstGeom>
          <a:ln w="381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8" name="Gateway a servicio"/>
          <p:cNvCxnSpPr/>
          <p:nvPr/>
        </p:nvCxnSpPr>
        <p:spPr>
          <a:xfrm>
            <a:off x="10607040" y="7360920"/>
            <a:ext cx="1645920" cy="0"/>
          </a:xfrm>
          <a:prstGeom prst="line">
            <a:avLst/>
          </a:prstGeom>
          <a:ln w="381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9" name="Gateway a servicio"/>
          <p:cNvCxnSpPr/>
          <p:nvPr/>
        </p:nvCxnSpPr>
        <p:spPr>
          <a:xfrm>
            <a:off x="10607040" y="7360920"/>
            <a:ext cx="1645920" cy="1371600"/>
          </a:xfrm>
          <a:prstGeom prst="line">
            <a:avLst/>
          </a:prstGeom>
          <a:ln w="381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0" name="Gateway a servicio"/>
          <p:cNvCxnSpPr/>
          <p:nvPr/>
        </p:nvCxnSpPr>
        <p:spPr>
          <a:xfrm>
            <a:off x="10607040" y="7360920"/>
            <a:ext cx="1645920" cy="2743200"/>
          </a:xfrm>
          <a:prstGeom prst="line">
            <a:avLst/>
          </a:prstGeom>
          <a:ln w="381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1" name="Matching a IA"/>
          <p:cNvCxnSpPr/>
          <p:nvPr/>
        </p:nvCxnSpPr>
        <p:spPr>
          <a:xfrm>
            <a:off x="17647920" y="7360920"/>
            <a:ext cx="1188720" cy="0"/>
          </a:xfrm>
          <a:prstGeom prst="line">
            <a:avLst/>
          </a:prstGeom>
          <a:ln w="508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2" name="Auth a correo"/>
          <p:cNvCxnSpPr/>
          <p:nvPr/>
        </p:nvCxnSpPr>
        <p:spPr>
          <a:xfrm>
            <a:off x="17647920" y="4617720"/>
            <a:ext cx="1188720" cy="0"/>
          </a:xfrm>
          <a:prstGeom prst="line">
            <a:avLst/>
          </a:prstGeom>
          <a:ln w="38100">
            <a:solidFill>
              <a:srgbClr val="535353"/>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Metodología</a:t>
            </a:r>
          </a:p>
        </p:txBody>
      </p:sp>
      <p:sp>
        <p:nvSpPr>
          <p:cNvPr id="3" name="Etiqueta PHVA"/>
          <p:cNvSpPr txBox="1"/>
          <p:nvPr/>
        </p:nvSpPr>
        <p:spPr>
          <a:xfrm>
            <a:off x="1650492" y="3749039"/>
            <a:ext cx="3657600" cy="548640"/>
          </a:xfrm>
          <a:prstGeom prst="rect">
            <a:avLst/>
          </a:prstGeom>
          <a:noFill/>
        </p:spPr>
        <p:txBody>
          <a:bodyPr wrap="square" lIns="0" rIns="0" tIns="0" bIns="0" anchor="t">
            <a:spAutoFit/>
          </a:bodyPr>
          <a:lstStyle/>
          <a:p>
            <a:pPr algn="l">
              <a:spcAft>
                <a:spcPts val="0"/>
              </a:spcAft>
            </a:pPr>
            <a:r>
              <a:rPr sz="3000" b="1">
                <a:solidFill>
                  <a:srgbClr val="5E5E5E"/>
                </a:solidFill>
                <a:latin typeface="OpenSans-ExtraBold"/>
                <a:ea typeface="OpenSans-ExtraBold"/>
                <a:cs typeface="OpenSans-ExtraBold"/>
              </a:rPr>
              <a:t>PHVA</a:t>
            </a:r>
          </a:p>
        </p:txBody>
      </p:sp>
      <p:sp>
        <p:nvSpPr>
          <p:cNvPr id="4" name="PHVA Planear"/>
          <p:cNvSpPr/>
          <p:nvPr/>
        </p:nvSpPr>
        <p:spPr>
          <a:xfrm>
            <a:off x="1650492" y="4480560"/>
            <a:ext cx="5394960" cy="1554480"/>
          </a:xfrm>
          <a:prstGeom prst="chevron">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800" b="1">
                <a:solidFill>
                  <a:srgbClr val="000000"/>
                </a:solidFill>
                <a:latin typeface="OpenSans-ExtraBold"/>
                <a:ea typeface="OpenSans-ExtraBold"/>
                <a:cs typeface="OpenSans-ExtraBold"/>
              </a:rPr>
              <a:t>Planear</a:t>
            </a:r>
          </a:p>
        </p:txBody>
      </p:sp>
      <p:sp>
        <p:nvSpPr>
          <p:cNvPr id="5" name="PHVA Hacer"/>
          <p:cNvSpPr/>
          <p:nvPr/>
        </p:nvSpPr>
        <p:spPr>
          <a:xfrm>
            <a:off x="6771131" y="4480560"/>
            <a:ext cx="5394960" cy="1554480"/>
          </a:xfrm>
          <a:prstGeom prst="chevron">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800" b="1">
                <a:solidFill>
                  <a:srgbClr val="000000"/>
                </a:solidFill>
                <a:latin typeface="OpenSans-ExtraBold"/>
                <a:ea typeface="OpenSans-ExtraBold"/>
                <a:cs typeface="OpenSans-ExtraBold"/>
              </a:rPr>
              <a:t>Hacer</a:t>
            </a:r>
          </a:p>
        </p:txBody>
      </p:sp>
      <p:sp>
        <p:nvSpPr>
          <p:cNvPr id="6" name="PHVA Verificar"/>
          <p:cNvSpPr/>
          <p:nvPr/>
        </p:nvSpPr>
        <p:spPr>
          <a:xfrm>
            <a:off x="11891772" y="4480560"/>
            <a:ext cx="5394960" cy="1554480"/>
          </a:xfrm>
          <a:prstGeom prst="chevron">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800" b="1">
                <a:solidFill>
                  <a:srgbClr val="000000"/>
                </a:solidFill>
                <a:latin typeface="OpenSans-ExtraBold"/>
                <a:ea typeface="OpenSans-ExtraBold"/>
                <a:cs typeface="OpenSans-ExtraBold"/>
              </a:rPr>
              <a:t>Verificar</a:t>
            </a:r>
          </a:p>
        </p:txBody>
      </p:sp>
      <p:sp>
        <p:nvSpPr>
          <p:cNvPr id="7" name="PHVA Actuar"/>
          <p:cNvSpPr/>
          <p:nvPr/>
        </p:nvSpPr>
        <p:spPr>
          <a:xfrm>
            <a:off x="17012411" y="4480560"/>
            <a:ext cx="5394960" cy="1554480"/>
          </a:xfrm>
          <a:prstGeom prst="chevron">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800" b="1">
                <a:solidFill>
                  <a:srgbClr val="000000"/>
                </a:solidFill>
                <a:latin typeface="OpenSans-ExtraBold"/>
                <a:ea typeface="OpenSans-ExtraBold"/>
                <a:cs typeface="OpenSans-ExtraBold"/>
              </a:rPr>
              <a:t>Actuar</a:t>
            </a:r>
          </a:p>
        </p:txBody>
      </p:sp>
      <p:sp>
        <p:nvSpPr>
          <p:cNvPr id="8" name="Etiqueta PMBOK"/>
          <p:cNvSpPr txBox="1"/>
          <p:nvPr/>
        </p:nvSpPr>
        <p:spPr>
          <a:xfrm>
            <a:off x="1650492" y="6675120"/>
            <a:ext cx="3657600" cy="548640"/>
          </a:xfrm>
          <a:prstGeom prst="rect">
            <a:avLst/>
          </a:prstGeom>
          <a:noFill/>
        </p:spPr>
        <p:txBody>
          <a:bodyPr wrap="square" lIns="0" rIns="0" tIns="0" bIns="0" anchor="t">
            <a:spAutoFit/>
          </a:bodyPr>
          <a:lstStyle/>
          <a:p>
            <a:pPr algn="l">
              <a:spcAft>
                <a:spcPts val="0"/>
              </a:spcAft>
            </a:pPr>
            <a:r>
              <a:rPr sz="3000" b="1">
                <a:solidFill>
                  <a:srgbClr val="5E5E5E"/>
                </a:solidFill>
                <a:latin typeface="OpenSans-ExtraBold"/>
                <a:ea typeface="OpenSans-ExtraBold"/>
                <a:cs typeface="OpenSans-ExtraBold"/>
              </a:rPr>
              <a:t>PMBOK</a:t>
            </a:r>
          </a:p>
        </p:txBody>
      </p:sp>
      <p:cxnSp>
        <p:nvCxnSpPr>
          <p:cNvPr id="9" name="Línea de tiempo"/>
          <p:cNvCxnSpPr/>
          <p:nvPr/>
        </p:nvCxnSpPr>
        <p:spPr>
          <a:xfrm>
            <a:off x="3108960" y="8001000"/>
            <a:ext cx="18105120" cy="0"/>
          </a:xfrm>
          <a:prstGeom prst="line">
            <a:avLst/>
          </a:prstGeom>
          <a:ln w="762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Hito Inicio"/>
          <p:cNvSpPr/>
          <p:nvPr/>
        </p:nvSpPr>
        <p:spPr>
          <a:xfrm>
            <a:off x="2834640" y="7726679"/>
            <a:ext cx="548640" cy="5486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Hito Inicio texto"/>
          <p:cNvSpPr txBox="1"/>
          <p:nvPr/>
        </p:nvSpPr>
        <p:spPr>
          <a:xfrm>
            <a:off x="1097279" y="8503920"/>
            <a:ext cx="4023360" cy="914400"/>
          </a:xfrm>
          <a:prstGeom prst="rect">
            <a:avLst/>
          </a:prstGeom>
          <a:noFill/>
        </p:spPr>
        <p:txBody>
          <a:bodyPr wrap="square" lIns="0" rIns="0" tIns="0" bIns="0" anchor="t">
            <a:spAutoFit/>
          </a:bodyPr>
          <a:lstStyle/>
          <a:p>
            <a:pPr algn="ctr">
              <a:spcAft>
                <a:spcPts val="0"/>
              </a:spcAft>
            </a:pPr>
            <a:r>
              <a:rPr sz="3200" b="1">
                <a:solidFill>
                  <a:srgbClr val="000000"/>
                </a:solidFill>
                <a:latin typeface="OpenSans-ExtraBold"/>
                <a:ea typeface="OpenSans-ExtraBold"/>
                <a:cs typeface="OpenSans-ExtraBold"/>
              </a:rPr>
              <a:t>Inicio</a:t>
            </a:r>
          </a:p>
        </p:txBody>
      </p:sp>
      <p:sp>
        <p:nvSpPr>
          <p:cNvPr id="12" name="Hito Planificación"/>
          <p:cNvSpPr/>
          <p:nvPr/>
        </p:nvSpPr>
        <p:spPr>
          <a:xfrm>
            <a:off x="7360919" y="7726679"/>
            <a:ext cx="548640" cy="5486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3" name="Hito Planificación texto"/>
          <p:cNvSpPr txBox="1"/>
          <p:nvPr/>
        </p:nvSpPr>
        <p:spPr>
          <a:xfrm>
            <a:off x="5623559" y="8503920"/>
            <a:ext cx="4023360" cy="914400"/>
          </a:xfrm>
          <a:prstGeom prst="rect">
            <a:avLst/>
          </a:prstGeom>
          <a:noFill/>
        </p:spPr>
        <p:txBody>
          <a:bodyPr wrap="square" lIns="0" rIns="0" tIns="0" bIns="0" anchor="t">
            <a:spAutoFit/>
          </a:bodyPr>
          <a:lstStyle/>
          <a:p>
            <a:pPr algn="ctr">
              <a:spcAft>
                <a:spcPts val="0"/>
              </a:spcAft>
            </a:pPr>
            <a:r>
              <a:rPr sz="3200" b="1">
                <a:solidFill>
                  <a:srgbClr val="000000"/>
                </a:solidFill>
                <a:latin typeface="OpenSans-ExtraBold"/>
                <a:ea typeface="OpenSans-ExtraBold"/>
                <a:cs typeface="OpenSans-ExtraBold"/>
              </a:rPr>
              <a:t>Planificación</a:t>
            </a:r>
          </a:p>
        </p:txBody>
      </p:sp>
      <p:sp>
        <p:nvSpPr>
          <p:cNvPr id="14" name="Hito Ejecución"/>
          <p:cNvSpPr/>
          <p:nvPr/>
        </p:nvSpPr>
        <p:spPr>
          <a:xfrm>
            <a:off x="11887200" y="7726679"/>
            <a:ext cx="548640" cy="5486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5" name="Hito Ejecución texto"/>
          <p:cNvSpPr txBox="1"/>
          <p:nvPr/>
        </p:nvSpPr>
        <p:spPr>
          <a:xfrm>
            <a:off x="10149840" y="8503920"/>
            <a:ext cx="4023360" cy="914400"/>
          </a:xfrm>
          <a:prstGeom prst="rect">
            <a:avLst/>
          </a:prstGeom>
          <a:noFill/>
        </p:spPr>
        <p:txBody>
          <a:bodyPr wrap="square" lIns="0" rIns="0" tIns="0" bIns="0" anchor="t">
            <a:spAutoFit/>
          </a:bodyPr>
          <a:lstStyle/>
          <a:p>
            <a:pPr algn="ctr">
              <a:spcAft>
                <a:spcPts val="0"/>
              </a:spcAft>
            </a:pPr>
            <a:r>
              <a:rPr sz="3200" b="1">
                <a:solidFill>
                  <a:srgbClr val="000000"/>
                </a:solidFill>
                <a:latin typeface="OpenSans-ExtraBold"/>
                <a:ea typeface="OpenSans-ExtraBold"/>
                <a:cs typeface="OpenSans-ExtraBold"/>
              </a:rPr>
              <a:t>Ejecución</a:t>
            </a:r>
          </a:p>
        </p:txBody>
      </p:sp>
      <p:sp>
        <p:nvSpPr>
          <p:cNvPr id="16" name="Hito Monitoreo y control"/>
          <p:cNvSpPr/>
          <p:nvPr/>
        </p:nvSpPr>
        <p:spPr>
          <a:xfrm>
            <a:off x="16413480" y="7726679"/>
            <a:ext cx="548640" cy="5486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7" name="Hito Monitoreo y control texto"/>
          <p:cNvSpPr txBox="1"/>
          <p:nvPr/>
        </p:nvSpPr>
        <p:spPr>
          <a:xfrm>
            <a:off x="14676120" y="8503920"/>
            <a:ext cx="4023360" cy="914400"/>
          </a:xfrm>
          <a:prstGeom prst="rect">
            <a:avLst/>
          </a:prstGeom>
          <a:noFill/>
        </p:spPr>
        <p:txBody>
          <a:bodyPr wrap="square" lIns="0" rIns="0" tIns="0" bIns="0" anchor="t">
            <a:spAutoFit/>
          </a:bodyPr>
          <a:lstStyle/>
          <a:p>
            <a:pPr algn="ctr">
              <a:spcAft>
                <a:spcPts val="0"/>
              </a:spcAft>
            </a:pPr>
            <a:r>
              <a:rPr sz="3200" b="1">
                <a:solidFill>
                  <a:srgbClr val="000000"/>
                </a:solidFill>
                <a:latin typeface="OpenSans-ExtraBold"/>
                <a:ea typeface="OpenSans-ExtraBold"/>
                <a:cs typeface="OpenSans-ExtraBold"/>
              </a:rPr>
              <a:t>Monitoreo y control</a:t>
            </a:r>
          </a:p>
        </p:txBody>
      </p:sp>
      <p:sp>
        <p:nvSpPr>
          <p:cNvPr id="18" name="Hito Cierre"/>
          <p:cNvSpPr/>
          <p:nvPr/>
        </p:nvSpPr>
        <p:spPr>
          <a:xfrm>
            <a:off x="20939760" y="7726679"/>
            <a:ext cx="548640" cy="5486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9" name="Hito Cierre texto"/>
          <p:cNvSpPr txBox="1"/>
          <p:nvPr/>
        </p:nvSpPr>
        <p:spPr>
          <a:xfrm>
            <a:off x="19202400" y="8503920"/>
            <a:ext cx="4023360" cy="914400"/>
          </a:xfrm>
          <a:prstGeom prst="rect">
            <a:avLst/>
          </a:prstGeom>
          <a:noFill/>
        </p:spPr>
        <p:txBody>
          <a:bodyPr wrap="square" lIns="0" rIns="0" tIns="0" bIns="0" anchor="t">
            <a:spAutoFit/>
          </a:bodyPr>
          <a:lstStyle/>
          <a:p>
            <a:pPr algn="ctr">
              <a:spcAft>
                <a:spcPts val="0"/>
              </a:spcAft>
            </a:pPr>
            <a:r>
              <a:rPr sz="3200" b="1">
                <a:solidFill>
                  <a:srgbClr val="000000"/>
                </a:solidFill>
                <a:latin typeface="OpenSans-ExtraBold"/>
                <a:ea typeface="OpenSans-ExtraBold"/>
                <a:cs typeface="OpenSans-ExtraBold"/>
              </a:rPr>
              <a:t>Cierre</a:t>
            </a:r>
          </a:p>
        </p:txBody>
      </p:sp>
      <p:sp>
        <p:nvSpPr>
          <p:cNvPr id="20" name="TRL inicio"/>
          <p:cNvSpPr/>
          <p:nvPr/>
        </p:nvSpPr>
        <p:spPr>
          <a:xfrm>
            <a:off x="1650492" y="9784080"/>
            <a:ext cx="8778240" cy="1645920"/>
          </a:xfrm>
          <a:prstGeom prst="roundRect">
            <a:avLst>
              <a:gd name="adj" fmla="val 10000"/>
            </a:avLst>
          </a:prstGeom>
          <a:solidFill>
            <a:srgbClr val="002617"/>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r>
              <a:rPr sz="5000" b="1">
                <a:solidFill>
                  <a:srgbClr val="84D700"/>
                </a:solidFill>
                <a:latin typeface="OpenSans-ExtraBold"/>
                <a:ea typeface="OpenSans-ExtraBold"/>
                <a:cs typeface="OpenSans-ExtraBold"/>
              </a:rPr>
              <a:t>TRL 3 </a:t>
            </a:r>
            <a:r>
              <a:rPr sz="3200" b="0">
                <a:solidFill>
                  <a:srgbClr val="FFFFFF"/>
                </a:solidFill>
                <a:latin typeface="Open Sans Regular"/>
                <a:ea typeface="Open Sans Regular"/>
                <a:cs typeface="Open Sans Regular"/>
              </a:rPr>
              <a:t>prueba de concepto</a:t>
            </a:r>
          </a:p>
        </p:txBody>
      </p:sp>
      <p:cxnSp>
        <p:nvCxnSpPr>
          <p:cNvPr id="21" name="Flecha TRL"/>
          <p:cNvCxnSpPr/>
          <p:nvPr/>
        </p:nvCxnSpPr>
        <p:spPr>
          <a:xfrm>
            <a:off x="10698480" y="10607040"/>
            <a:ext cx="2286000" cy="0"/>
          </a:xfrm>
          <a:prstGeom prst="line">
            <a:avLst/>
          </a:prstGeom>
          <a:ln w="76200">
            <a:solidFill>
              <a:srgbClr val="535353"/>
            </a:solidFill>
            <a:tailEnd type="triangle" w="lg" len="lg"/>
          </a:ln>
        </p:spPr>
        <p:style>
          <a:lnRef idx="2">
            <a:schemeClr val="accent1"/>
          </a:lnRef>
          <a:fillRef idx="0">
            <a:schemeClr val="accent1"/>
          </a:fillRef>
          <a:effectRef idx="1">
            <a:schemeClr val="accent1"/>
          </a:effectRef>
          <a:fontRef idx="minor">
            <a:schemeClr val="tx1"/>
          </a:fontRef>
        </p:style>
      </p:cxnSp>
      <p:sp>
        <p:nvSpPr>
          <p:cNvPr id="22" name="TRL meta"/>
          <p:cNvSpPr/>
          <p:nvPr/>
        </p:nvSpPr>
        <p:spPr>
          <a:xfrm>
            <a:off x="13258800" y="9784080"/>
            <a:ext cx="9418320" cy="1645920"/>
          </a:xfrm>
          <a:prstGeom prst="roundRect">
            <a:avLst>
              <a:gd name="adj" fmla="val 10000"/>
            </a:avLst>
          </a:prstGeom>
          <a:solidFill>
            <a:srgbClr val="002617"/>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r>
              <a:rPr sz="5000" b="1">
                <a:solidFill>
                  <a:srgbClr val="84D700"/>
                </a:solidFill>
                <a:latin typeface="OpenSans-ExtraBold"/>
                <a:ea typeface="OpenSans-ExtraBold"/>
                <a:cs typeface="OpenSans-ExtraBold"/>
              </a:rPr>
              <a:t>TRL 6 </a:t>
            </a:r>
            <a:r>
              <a:rPr sz="3200" b="0">
                <a:solidFill>
                  <a:srgbClr val="FFFFFF"/>
                </a:solidFill>
                <a:latin typeface="Open Sans Regular"/>
                <a:ea typeface="Open Sans Regular"/>
                <a:cs typeface="Open Sans Regular"/>
              </a:rPr>
              <a:t>prototipo validado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Comunidad verificada</a:t>
            </a:r>
          </a:p>
        </p:txBody>
      </p:sp>
      <p:sp>
        <p:nvSpPr>
          <p:cNvPr id="3" name="Fila 1"/>
          <p:cNvSpPr/>
          <p:nvPr/>
        </p:nvSpPr>
        <p:spPr>
          <a:xfrm>
            <a:off x="1650492" y="4114800"/>
            <a:ext cx="21031200" cy="2286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4" name="Icono fondo"/>
          <p:cNvSpPr/>
          <p:nvPr/>
        </p:nvSpPr>
        <p:spPr>
          <a:xfrm>
            <a:off x="2240280" y="4343400"/>
            <a:ext cx="1828800" cy="182880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5" name="Icono correo"/>
          <p:cNvSpPr/>
          <p:nvPr/>
        </p:nvSpPr>
        <p:spPr>
          <a:xfrm>
            <a:off x="2423160" y="4754880"/>
            <a:ext cx="1463040" cy="1005840"/>
          </a:xfrm>
          <a:prstGeom prst="roundRect">
            <a:avLst>
              <a:gd name="adj" fmla="val 1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6" name="Icono correo solapa"/>
          <p:cNvSpPr/>
          <p:nvPr/>
        </p:nvSpPr>
        <p:spPr>
          <a:xfrm>
            <a:off x="2468880" y="4846320"/>
            <a:ext cx="1371600" cy="502920"/>
          </a:xfrm>
          <a:custGeom>
            <a:avLst/>
            <a:gdLst/>
            <a:ahLst/>
            <a:cxnLst/>
            <a:rect l="l" t="t" r="r" b="b"/>
            <a:pathLst>
              <a:path w="1371600" h="502920">
                <a:moveTo>
                  <a:pt x="0" y="0"/>
                </a:moveTo>
                <a:lnTo>
                  <a:pt x="685800" y="502920"/>
                </a:lnTo>
                <a:lnTo>
                  <a:pt x="1371600" y="0"/>
                </a:lnTo>
              </a:path>
            </a:pathLst>
          </a:custGeom>
          <a:noFill/>
          <a:ln w="76200">
            <a:solidFill>
              <a:srgbClr val="84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ila 1 título"/>
          <p:cNvSpPr txBox="1"/>
          <p:nvPr/>
        </p:nvSpPr>
        <p:spPr>
          <a:xfrm>
            <a:off x="5394960" y="4434840"/>
            <a:ext cx="16916400" cy="822960"/>
          </a:xfrm>
          <a:prstGeom prst="rect">
            <a:avLst/>
          </a:prstGeom>
          <a:noFill/>
        </p:spPr>
        <p:txBody>
          <a:bodyPr wrap="square" lIns="0" rIns="0" tIns="0" bIns="0" anchor="t">
            <a:spAutoFit/>
          </a:bodyPr>
          <a:lstStyle/>
          <a:p>
            <a:pPr algn="l">
              <a:spcAft>
                <a:spcPts val="0"/>
              </a:spcAft>
            </a:pPr>
            <a:r>
              <a:rPr sz="4600" b="1">
                <a:solidFill>
                  <a:srgbClr val="000000"/>
                </a:solidFill>
                <a:latin typeface="OpenSans-ExtraBold"/>
                <a:ea typeface="OpenSans-ExtraBold"/>
                <a:cs typeface="OpenSans-ExtraBold"/>
              </a:rPr>
              <a:t>Correo institucional vigente</a:t>
            </a:r>
          </a:p>
        </p:txBody>
      </p:sp>
      <p:sp>
        <p:nvSpPr>
          <p:cNvPr id="8" name="Fila 1 texto"/>
          <p:cNvSpPr txBox="1"/>
          <p:nvPr/>
        </p:nvSpPr>
        <p:spPr>
          <a:xfrm>
            <a:off x="5394960" y="5394960"/>
            <a:ext cx="16916400" cy="731520"/>
          </a:xfrm>
          <a:prstGeom prst="rect">
            <a:avLst/>
          </a:prstGeom>
          <a:noFill/>
        </p:spPr>
        <p:txBody>
          <a:bodyPr wrap="square" lIns="0" rIns="0" tIns="0" bIns="0" anchor="t">
            <a:spAutoFit/>
          </a:bodyPr>
          <a:lstStyle/>
          <a:p>
            <a:pPr algn="l">
              <a:spcAft>
                <a:spcPts val="0"/>
              </a:spcAft>
            </a:pPr>
            <a:r>
              <a:rPr sz="3400" b="0">
                <a:solidFill>
                  <a:srgbClr val="535353"/>
                </a:solidFill>
                <a:latin typeface="Open Sans Regular"/>
                <a:ea typeface="Open Sans Regular"/>
                <a:cs typeface="Open Sans Regular"/>
              </a:rPr>
              <a:t>Solo entra la comunidad UNAB</a:t>
            </a:r>
          </a:p>
        </p:txBody>
      </p:sp>
      <p:sp>
        <p:nvSpPr>
          <p:cNvPr id="9" name="Fila 2"/>
          <p:cNvSpPr/>
          <p:nvPr/>
        </p:nvSpPr>
        <p:spPr>
          <a:xfrm>
            <a:off x="1650492" y="6675120"/>
            <a:ext cx="21031200" cy="2286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0" name="Icono fondo"/>
          <p:cNvSpPr/>
          <p:nvPr/>
        </p:nvSpPr>
        <p:spPr>
          <a:xfrm>
            <a:off x="2240280" y="6903720"/>
            <a:ext cx="1828800" cy="182880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Icono persona cabeza"/>
          <p:cNvSpPr/>
          <p:nvPr/>
        </p:nvSpPr>
        <p:spPr>
          <a:xfrm>
            <a:off x="2514600" y="7223760"/>
            <a:ext cx="457200" cy="4572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Icono persona cuerpo"/>
          <p:cNvSpPr/>
          <p:nvPr/>
        </p:nvSpPr>
        <p:spPr>
          <a:xfrm>
            <a:off x="2377440" y="7772400"/>
            <a:ext cx="731520" cy="640080"/>
          </a:xfrm>
          <a:prstGeom prst="round2Same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3" name="Icono persona cabeza"/>
          <p:cNvSpPr/>
          <p:nvPr/>
        </p:nvSpPr>
        <p:spPr>
          <a:xfrm>
            <a:off x="3337560" y="7223760"/>
            <a:ext cx="457200" cy="4572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Icono persona cuerpo"/>
          <p:cNvSpPr/>
          <p:nvPr/>
        </p:nvSpPr>
        <p:spPr>
          <a:xfrm>
            <a:off x="3200400" y="7772400"/>
            <a:ext cx="731520" cy="640080"/>
          </a:xfrm>
          <a:prstGeom prst="round2Same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5" name="Fila 2 título"/>
          <p:cNvSpPr txBox="1"/>
          <p:nvPr/>
        </p:nvSpPr>
        <p:spPr>
          <a:xfrm>
            <a:off x="5394960" y="6995159"/>
            <a:ext cx="16916400" cy="822960"/>
          </a:xfrm>
          <a:prstGeom prst="rect">
            <a:avLst/>
          </a:prstGeom>
          <a:noFill/>
        </p:spPr>
        <p:txBody>
          <a:bodyPr wrap="square" lIns="0" rIns="0" tIns="0" bIns="0" anchor="t">
            <a:spAutoFit/>
          </a:bodyPr>
          <a:lstStyle/>
          <a:p>
            <a:pPr algn="l">
              <a:spcAft>
                <a:spcPts val="0"/>
              </a:spcAft>
            </a:pPr>
            <a:r>
              <a:rPr sz="4600" b="1">
                <a:solidFill>
                  <a:srgbClr val="000000"/>
                </a:solidFill>
                <a:latin typeface="OpenSans-ExtraBold"/>
                <a:ea typeface="OpenSans-ExtraBold"/>
                <a:cs typeface="OpenSans-ExtraBold"/>
              </a:rPr>
              <a:t>Conductores y pasajeros verificados</a:t>
            </a:r>
          </a:p>
        </p:txBody>
      </p:sp>
      <p:sp>
        <p:nvSpPr>
          <p:cNvPr id="16" name="Fila 2 texto"/>
          <p:cNvSpPr txBox="1"/>
          <p:nvPr/>
        </p:nvSpPr>
        <p:spPr>
          <a:xfrm>
            <a:off x="5394960" y="7955279"/>
            <a:ext cx="16916400" cy="731520"/>
          </a:xfrm>
          <a:prstGeom prst="rect">
            <a:avLst/>
          </a:prstGeom>
          <a:noFill/>
        </p:spPr>
        <p:txBody>
          <a:bodyPr wrap="square" lIns="0" rIns="0" tIns="0" bIns="0" anchor="t">
            <a:spAutoFit/>
          </a:bodyPr>
          <a:lstStyle/>
          <a:p>
            <a:pPr algn="l">
              <a:spcAft>
                <a:spcPts val="0"/>
              </a:spcAft>
            </a:pPr>
            <a:r>
              <a:rPr sz="3400" b="0">
                <a:solidFill>
                  <a:srgbClr val="535353"/>
                </a:solidFill>
                <a:latin typeface="Open Sans Regular"/>
                <a:ea typeface="Open Sans Regular"/>
                <a:cs typeface="Open Sans Regular"/>
              </a:rPr>
              <a:t>Confianza institucional entre pares</a:t>
            </a:r>
          </a:p>
        </p:txBody>
      </p:sp>
      <p:sp>
        <p:nvSpPr>
          <p:cNvPr id="17" name="Fila 3"/>
          <p:cNvSpPr/>
          <p:nvPr/>
        </p:nvSpPr>
        <p:spPr>
          <a:xfrm>
            <a:off x="1650492" y="9235440"/>
            <a:ext cx="21031200" cy="2286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8" name="Icono fondo"/>
          <p:cNvSpPr/>
          <p:nvPr/>
        </p:nvSpPr>
        <p:spPr>
          <a:xfrm>
            <a:off x="2240280" y="9464040"/>
            <a:ext cx="1828800" cy="1828800"/>
          </a:xfrm>
          <a:prstGeom prst="ellipse">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9" name="Icono compartir"/>
          <p:cNvSpPr/>
          <p:nvPr/>
        </p:nvSpPr>
        <p:spPr>
          <a:xfrm>
            <a:off x="2468880" y="9692640"/>
            <a:ext cx="1371600" cy="1371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6000" b="1">
                <a:solidFill>
                  <a:srgbClr val="84D700"/>
                </a:solidFill>
                <a:latin typeface="OpenSans-ExtraBold"/>
                <a:ea typeface="OpenSans-ExtraBold"/>
                <a:cs typeface="OpenSans-ExtraBold"/>
              </a:rPr>
              <a:t>=</a:t>
            </a:r>
          </a:p>
        </p:txBody>
      </p:sp>
      <p:sp>
        <p:nvSpPr>
          <p:cNvPr id="20" name="Fila 3 título"/>
          <p:cNvSpPr txBox="1"/>
          <p:nvPr/>
        </p:nvSpPr>
        <p:spPr>
          <a:xfrm>
            <a:off x="5394960" y="9555480"/>
            <a:ext cx="16916400" cy="822960"/>
          </a:xfrm>
          <a:prstGeom prst="rect">
            <a:avLst/>
          </a:prstGeom>
          <a:noFill/>
        </p:spPr>
        <p:txBody>
          <a:bodyPr wrap="square" lIns="0" rIns="0" tIns="0" bIns="0" anchor="t">
            <a:spAutoFit/>
          </a:bodyPr>
          <a:lstStyle/>
          <a:p>
            <a:pPr algn="l">
              <a:spcAft>
                <a:spcPts val="0"/>
              </a:spcAft>
            </a:pPr>
            <a:r>
              <a:rPr sz="4600" b="1">
                <a:solidFill>
                  <a:srgbClr val="000000"/>
                </a:solidFill>
                <a:latin typeface="OpenSans-ExtraBold"/>
                <a:ea typeface="OpenSans-ExtraBold"/>
                <a:cs typeface="OpenSans-ExtraBold"/>
              </a:rPr>
              <a:t>Gastos compartidos, sin lucro</a:t>
            </a:r>
          </a:p>
        </p:txBody>
      </p:sp>
      <p:sp>
        <p:nvSpPr>
          <p:cNvPr id="21" name="Fila 3 texto"/>
          <p:cNvSpPr txBox="1"/>
          <p:nvPr/>
        </p:nvSpPr>
        <p:spPr>
          <a:xfrm>
            <a:off x="5394960" y="10515600"/>
            <a:ext cx="16916400" cy="731520"/>
          </a:xfrm>
          <a:prstGeom prst="rect">
            <a:avLst/>
          </a:prstGeom>
          <a:noFill/>
        </p:spPr>
        <p:txBody>
          <a:bodyPr wrap="square" lIns="0" rIns="0" tIns="0" bIns="0" anchor="t">
            <a:spAutoFit/>
          </a:bodyPr>
          <a:lstStyle/>
          <a:p>
            <a:pPr algn="l">
              <a:spcAft>
                <a:spcPts val="0"/>
              </a:spcAft>
            </a:pPr>
            <a:r>
              <a:rPr sz="3400" b="0">
                <a:solidFill>
                  <a:srgbClr val="535353"/>
                </a:solidFill>
                <a:latin typeface="Open Sans Regular"/>
                <a:ea typeface="Open Sans Regular"/>
                <a:cs typeface="Open Sans Regular"/>
              </a:rPr>
              <a:t>No es un servicio de transporte remunerado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FFFFFF"/>
                </a:solidFill>
                <a:latin typeface="OpenSans-ExtraBold"/>
                <a:ea typeface="OpenSans-ExtraBold"/>
                <a:cs typeface="OpenSans-ExtraBold"/>
              </a:rPr>
              <a:t>Cómo se validará</a:t>
            </a:r>
          </a:p>
        </p:txBody>
      </p:sp>
      <p:sp>
        <p:nvSpPr>
          <p:cNvPr id="3" name="Meta 1"/>
          <p:cNvSpPr/>
          <p:nvPr/>
        </p:nvSpPr>
        <p:spPr>
          <a:xfrm>
            <a:off x="1650492" y="4114800"/>
            <a:ext cx="6675120" cy="5120640"/>
          </a:xfrm>
          <a:prstGeom prst="roundRect">
            <a:avLst>
              <a:gd name="adj" fmla="val 6000"/>
            </a:avLst>
          </a:prstGeom>
          <a:solidFill>
            <a:srgbClr val="0B3D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4" name="Meta 1 cifra"/>
          <p:cNvSpPr txBox="1"/>
          <p:nvPr/>
        </p:nvSpPr>
        <p:spPr>
          <a:xfrm>
            <a:off x="2016252" y="4572000"/>
            <a:ext cx="5943600" cy="2377440"/>
          </a:xfrm>
          <a:prstGeom prst="rect">
            <a:avLst/>
          </a:prstGeom>
          <a:noFill/>
        </p:spPr>
        <p:txBody>
          <a:bodyPr wrap="square" lIns="0" rIns="0" tIns="0" bIns="0" anchor="ctr">
            <a:spAutoFit/>
          </a:bodyPr>
          <a:lstStyle/>
          <a:p>
            <a:pPr algn="l">
              <a:spcAft>
                <a:spcPts val="0"/>
              </a:spcAft>
            </a:pPr>
            <a:r>
              <a:rPr sz="10000" b="1">
                <a:solidFill>
                  <a:srgbClr val="84D700"/>
                </a:solidFill>
                <a:latin typeface="OpenSans-ExtraBold"/>
                <a:ea typeface="OpenSans-ExtraBold"/>
                <a:cs typeface="OpenSans-ExtraBold"/>
              </a:rPr>
              <a:t>SUS ≥ 80</a:t>
            </a:r>
          </a:p>
        </p:txBody>
      </p:sp>
      <p:sp>
        <p:nvSpPr>
          <p:cNvPr id="5" name="Meta 1 texto"/>
          <p:cNvSpPr txBox="1"/>
          <p:nvPr/>
        </p:nvSpPr>
        <p:spPr>
          <a:xfrm>
            <a:off x="2016252" y="7223760"/>
            <a:ext cx="5943600" cy="1828800"/>
          </a:xfrm>
          <a:prstGeom prst="rect">
            <a:avLst/>
          </a:prstGeom>
          <a:noFill/>
        </p:spPr>
        <p:txBody>
          <a:bodyPr wrap="square" lIns="0" rIns="0" tIns="0" bIns="0" anchor="t">
            <a:spAutoFit/>
          </a:bodyPr>
          <a:lstStyle/>
          <a:p>
            <a:pPr algn="l">
              <a:spcAft>
                <a:spcPts val="0"/>
              </a:spcAft>
            </a:pPr>
            <a:r>
              <a:rPr sz="3400" b="0">
                <a:solidFill>
                  <a:srgbClr val="FFFFFF"/>
                </a:solidFill>
                <a:latin typeface="Open Sans Regular"/>
                <a:ea typeface="Open Sans Regular"/>
                <a:cs typeface="Open Sans Regular"/>
              </a:rPr>
              <a:t>facilidad de uso, sobre 100</a:t>
            </a:r>
          </a:p>
        </p:txBody>
      </p:sp>
      <p:sp>
        <p:nvSpPr>
          <p:cNvPr id="6" name="Meta 2"/>
          <p:cNvSpPr/>
          <p:nvPr/>
        </p:nvSpPr>
        <p:spPr>
          <a:xfrm>
            <a:off x="8828532" y="4114800"/>
            <a:ext cx="6675120" cy="5120640"/>
          </a:xfrm>
          <a:prstGeom prst="roundRect">
            <a:avLst>
              <a:gd name="adj" fmla="val 6000"/>
            </a:avLst>
          </a:prstGeom>
          <a:solidFill>
            <a:srgbClr val="0B3D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Meta 2 cifra"/>
          <p:cNvSpPr txBox="1"/>
          <p:nvPr/>
        </p:nvSpPr>
        <p:spPr>
          <a:xfrm>
            <a:off x="9194292" y="4572000"/>
            <a:ext cx="5943600" cy="2377440"/>
          </a:xfrm>
          <a:prstGeom prst="rect">
            <a:avLst/>
          </a:prstGeom>
          <a:noFill/>
        </p:spPr>
        <p:txBody>
          <a:bodyPr wrap="square" lIns="0" rIns="0" tIns="0" bIns="0" anchor="ctr">
            <a:spAutoFit/>
          </a:bodyPr>
          <a:lstStyle/>
          <a:p>
            <a:pPr algn="l">
              <a:spcAft>
                <a:spcPts val="0"/>
              </a:spcAft>
            </a:pPr>
            <a:r>
              <a:rPr sz="10000" b="1">
                <a:solidFill>
                  <a:srgbClr val="84D700"/>
                </a:solidFill>
                <a:latin typeface="OpenSans-ExtraBold"/>
                <a:ea typeface="OpenSans-ExtraBold"/>
                <a:cs typeface="OpenSans-ExtraBold"/>
              </a:rPr>
              <a:t>&lt; 2 s</a:t>
            </a:r>
          </a:p>
        </p:txBody>
      </p:sp>
      <p:sp>
        <p:nvSpPr>
          <p:cNvPr id="8" name="Meta 2 texto"/>
          <p:cNvSpPr txBox="1"/>
          <p:nvPr/>
        </p:nvSpPr>
        <p:spPr>
          <a:xfrm>
            <a:off x="9194292" y="7223760"/>
            <a:ext cx="5943600" cy="1828800"/>
          </a:xfrm>
          <a:prstGeom prst="rect">
            <a:avLst/>
          </a:prstGeom>
          <a:noFill/>
        </p:spPr>
        <p:txBody>
          <a:bodyPr wrap="square" lIns="0" rIns="0" tIns="0" bIns="0" anchor="t">
            <a:spAutoFit/>
          </a:bodyPr>
          <a:lstStyle/>
          <a:p>
            <a:pPr algn="l">
              <a:spcAft>
                <a:spcPts val="0"/>
              </a:spcAft>
            </a:pPr>
            <a:r>
              <a:rPr sz="3400" b="0">
                <a:solidFill>
                  <a:srgbClr val="FFFFFF"/>
                </a:solidFill>
                <a:latin typeface="Open Sans Regular"/>
                <a:ea typeface="Open Sans Regular"/>
                <a:cs typeface="Open Sans Regular"/>
              </a:rPr>
              <a:t>respuesta con 100 usuarios simultáneos</a:t>
            </a:r>
          </a:p>
        </p:txBody>
      </p:sp>
      <p:sp>
        <p:nvSpPr>
          <p:cNvPr id="9" name="Meta 3"/>
          <p:cNvSpPr/>
          <p:nvPr/>
        </p:nvSpPr>
        <p:spPr>
          <a:xfrm>
            <a:off x="16006572" y="4114800"/>
            <a:ext cx="6675120" cy="5120640"/>
          </a:xfrm>
          <a:prstGeom prst="roundRect">
            <a:avLst>
              <a:gd name="adj" fmla="val 6000"/>
            </a:avLst>
          </a:prstGeom>
          <a:solidFill>
            <a:srgbClr val="0B3D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0" name="Meta 3 cifra"/>
          <p:cNvSpPr txBox="1"/>
          <p:nvPr/>
        </p:nvSpPr>
        <p:spPr>
          <a:xfrm>
            <a:off x="16372331" y="4572000"/>
            <a:ext cx="5943600" cy="2377440"/>
          </a:xfrm>
          <a:prstGeom prst="rect">
            <a:avLst/>
          </a:prstGeom>
          <a:noFill/>
        </p:spPr>
        <p:txBody>
          <a:bodyPr wrap="square" lIns="0" rIns="0" tIns="0" bIns="0" anchor="ctr">
            <a:spAutoFit/>
          </a:bodyPr>
          <a:lstStyle/>
          <a:p>
            <a:pPr algn="l">
              <a:spcAft>
                <a:spcPts val="0"/>
              </a:spcAft>
            </a:pPr>
            <a:r>
              <a:rPr sz="10000" b="1">
                <a:solidFill>
                  <a:srgbClr val="84D700"/>
                </a:solidFill>
                <a:latin typeface="OpenSans-ExtraBold"/>
                <a:ea typeface="OpenSans-ExtraBold"/>
                <a:cs typeface="OpenSans-ExtraBold"/>
              </a:rPr>
              <a:t>≥ 2</a:t>
            </a:r>
          </a:p>
        </p:txBody>
      </p:sp>
      <p:sp>
        <p:nvSpPr>
          <p:cNvPr id="11" name="Meta 3 texto"/>
          <p:cNvSpPr txBox="1"/>
          <p:nvPr/>
        </p:nvSpPr>
        <p:spPr>
          <a:xfrm>
            <a:off x="16372331" y="7223760"/>
            <a:ext cx="5943600" cy="1828800"/>
          </a:xfrm>
          <a:prstGeom prst="rect">
            <a:avLst/>
          </a:prstGeom>
          <a:noFill/>
        </p:spPr>
        <p:txBody>
          <a:bodyPr wrap="square" lIns="0" rIns="0" tIns="0" bIns="0" anchor="t">
            <a:spAutoFit/>
          </a:bodyPr>
          <a:lstStyle/>
          <a:p>
            <a:pPr algn="l">
              <a:spcAft>
                <a:spcPts val="0"/>
              </a:spcAft>
            </a:pPr>
            <a:r>
              <a:rPr sz="3400" b="0">
                <a:solidFill>
                  <a:srgbClr val="FFFFFF"/>
                </a:solidFill>
                <a:latin typeface="Open Sans Regular"/>
                <a:ea typeface="Open Sans Regular"/>
                <a:cs typeface="Open Sans Regular"/>
              </a:rPr>
              <a:t>versiones recientes de Android e iOS</a:t>
            </a:r>
          </a:p>
        </p:txBody>
      </p:sp>
      <p:sp>
        <p:nvSpPr>
          <p:cNvPr id="12" name="Franja pruebas"/>
          <p:cNvSpPr/>
          <p:nvPr/>
        </p:nvSpPr>
        <p:spPr>
          <a:xfrm>
            <a:off x="1650492" y="9692640"/>
            <a:ext cx="21031200" cy="1371600"/>
          </a:xfrm>
          <a:prstGeom prst="roundRect">
            <a:avLst>
              <a:gd name="adj" fmla="val 20000"/>
            </a:avLst>
          </a:prstGeom>
          <a:noFill/>
          <a:ln w="38100">
            <a:solidFill>
              <a:srgbClr val="84D700"/>
            </a:solid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400" b="0">
                <a:solidFill>
                  <a:srgbClr val="FFFFFF"/>
                </a:solidFill>
                <a:latin typeface="Open Sans Regular"/>
                <a:ea typeface="Open Sans Regular"/>
                <a:cs typeface="Open Sans Regular"/>
              </a:rPr>
              <a:t>Pruebas unitarias · pruebas de carga · evaluación de campo con la comunidad UNAB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Riesgos y mitigación</a:t>
            </a:r>
          </a:p>
        </p:txBody>
      </p:sp>
      <p:sp>
        <p:nvSpPr>
          <p:cNvPr id="3" name="Encabezado riesgo"/>
          <p:cNvSpPr txBox="1"/>
          <p:nvPr/>
        </p:nvSpPr>
        <p:spPr>
          <a:xfrm>
            <a:off x="1650492" y="3657600"/>
            <a:ext cx="7315200" cy="548640"/>
          </a:xfrm>
          <a:prstGeom prst="rect">
            <a:avLst/>
          </a:prstGeom>
          <a:noFill/>
        </p:spPr>
        <p:txBody>
          <a:bodyPr wrap="square" lIns="0" rIns="0" tIns="0" bIns="0" anchor="t">
            <a:spAutoFit/>
          </a:bodyPr>
          <a:lstStyle/>
          <a:p>
            <a:pPr algn="l">
              <a:spcAft>
                <a:spcPts val="0"/>
              </a:spcAft>
            </a:pPr>
            <a:r>
              <a:rPr sz="2600" b="1">
                <a:solidFill>
                  <a:srgbClr val="5E5E5E"/>
                </a:solidFill>
                <a:latin typeface="OpenSans-ExtraBold"/>
                <a:ea typeface="OpenSans-ExtraBold"/>
                <a:cs typeface="OpenSans-ExtraBold"/>
              </a:rPr>
              <a:t>RIESGO</a:t>
            </a:r>
          </a:p>
        </p:txBody>
      </p:sp>
      <p:sp>
        <p:nvSpPr>
          <p:cNvPr id="4" name="Encabezado impacto"/>
          <p:cNvSpPr txBox="1"/>
          <p:nvPr/>
        </p:nvSpPr>
        <p:spPr>
          <a:xfrm>
            <a:off x="10058400" y="3657600"/>
            <a:ext cx="3657600" cy="548640"/>
          </a:xfrm>
          <a:prstGeom prst="rect">
            <a:avLst/>
          </a:prstGeom>
          <a:noFill/>
        </p:spPr>
        <p:txBody>
          <a:bodyPr wrap="square" lIns="0" rIns="0" tIns="0" bIns="0" anchor="t">
            <a:spAutoFit/>
          </a:bodyPr>
          <a:lstStyle/>
          <a:p>
            <a:pPr algn="l">
              <a:spcAft>
                <a:spcPts val="0"/>
              </a:spcAft>
            </a:pPr>
            <a:r>
              <a:rPr sz="2400" b="1">
                <a:solidFill>
                  <a:srgbClr val="5E5E5E"/>
                </a:solidFill>
                <a:latin typeface="OpenSans-ExtraBold"/>
                <a:ea typeface="OpenSans-ExtraBold"/>
                <a:cs typeface="OpenSans-ExtraBold"/>
              </a:rPr>
              <a:t>IMPACTO</a:t>
            </a:r>
          </a:p>
        </p:txBody>
      </p:sp>
      <p:sp>
        <p:nvSpPr>
          <p:cNvPr id="5" name="Encabezado mitigación"/>
          <p:cNvSpPr txBox="1"/>
          <p:nvPr/>
        </p:nvSpPr>
        <p:spPr>
          <a:xfrm>
            <a:off x="13898880" y="3657600"/>
            <a:ext cx="7315200" cy="548640"/>
          </a:xfrm>
          <a:prstGeom prst="rect">
            <a:avLst/>
          </a:prstGeom>
          <a:noFill/>
        </p:spPr>
        <p:txBody>
          <a:bodyPr wrap="square" lIns="0" rIns="0" tIns="0" bIns="0" anchor="t">
            <a:spAutoFit/>
          </a:bodyPr>
          <a:lstStyle/>
          <a:p>
            <a:pPr algn="l">
              <a:spcAft>
                <a:spcPts val="0"/>
              </a:spcAft>
            </a:pPr>
            <a:r>
              <a:rPr sz="2400" b="1">
                <a:solidFill>
                  <a:srgbClr val="5E5E5E"/>
                </a:solidFill>
                <a:latin typeface="OpenSans-ExtraBold"/>
                <a:ea typeface="OpenSans-ExtraBold"/>
                <a:cs typeface="OpenSans-ExtraBold"/>
              </a:rPr>
              <a:t>MITIGACIÓN</a:t>
            </a:r>
          </a:p>
        </p:txBody>
      </p:sp>
      <p:sp>
        <p:nvSpPr>
          <p:cNvPr id="6" name="Riesgo 1"/>
          <p:cNvSpPr/>
          <p:nvPr/>
        </p:nvSpPr>
        <p:spPr>
          <a:xfrm>
            <a:off x="1650492" y="4389120"/>
            <a:ext cx="21031200" cy="20574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Riesgo 1 texto"/>
          <p:cNvSpPr txBox="1"/>
          <p:nvPr/>
        </p:nvSpPr>
        <p:spPr>
          <a:xfrm>
            <a:off x="2103120" y="4572000"/>
            <a:ext cx="7772400" cy="1737360"/>
          </a:xfrm>
          <a:prstGeom prst="rect">
            <a:avLst/>
          </a:prstGeom>
          <a:noFill/>
        </p:spPr>
        <p:txBody>
          <a:bodyPr wrap="square" lIns="0" rIns="0" tIns="0" bIns="0" anchor="ctr">
            <a:spAutoFit/>
          </a:bodyPr>
          <a:lstStyle/>
          <a:p>
            <a:pPr algn="l">
              <a:spcAft>
                <a:spcPts val="0"/>
              </a:spcAft>
            </a:pPr>
            <a:r>
              <a:rPr sz="3400" b="1">
                <a:solidFill>
                  <a:srgbClr val="000000"/>
                </a:solidFill>
                <a:latin typeface="OpenSans-ExtraBold"/>
                <a:ea typeface="OpenSans-ExtraBold"/>
                <a:cs typeface="OpenSans-ExtraBold"/>
              </a:rPr>
              <a:t>Fallos de sincronización nube y móvil</a:t>
            </a:r>
          </a:p>
        </p:txBody>
      </p:sp>
      <p:sp>
        <p:nvSpPr>
          <p:cNvPr id="8" name="Impacto 1"/>
          <p:cNvSpPr/>
          <p:nvPr/>
        </p:nvSpPr>
        <p:spPr>
          <a:xfrm>
            <a:off x="10058400" y="4937759"/>
            <a:ext cx="3108960" cy="960120"/>
          </a:xfrm>
          <a:prstGeom prst="roundRect">
            <a:avLst>
              <a:gd name="adj" fmla="val 50000"/>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200" b="1">
                <a:solidFill>
                  <a:srgbClr val="000000"/>
                </a:solidFill>
                <a:latin typeface="OpenSans-ExtraBold"/>
                <a:ea typeface="OpenSans-ExtraBold"/>
                <a:cs typeface="OpenSans-ExtraBold"/>
              </a:rPr>
              <a:t>Alto</a:t>
            </a:r>
          </a:p>
        </p:txBody>
      </p:sp>
      <p:sp>
        <p:nvSpPr>
          <p:cNvPr id="9" name="Mitigación 1"/>
          <p:cNvSpPr txBox="1"/>
          <p:nvPr/>
        </p:nvSpPr>
        <p:spPr>
          <a:xfrm>
            <a:off x="13898880" y="4572000"/>
            <a:ext cx="8412480" cy="1737360"/>
          </a:xfrm>
          <a:prstGeom prst="rect">
            <a:avLst/>
          </a:prstGeom>
          <a:noFill/>
        </p:spPr>
        <p:txBody>
          <a:bodyPr wrap="square" lIns="0" rIns="0" tIns="0" bIns="0" anchor="ctr">
            <a:spAutoFit/>
          </a:bodyPr>
          <a:lstStyle/>
          <a:p>
            <a:pPr algn="l">
              <a:spcAft>
                <a:spcPts val="0"/>
              </a:spcAft>
            </a:pPr>
            <a:r>
              <a:rPr sz="3200" b="0">
                <a:solidFill>
                  <a:srgbClr val="535353"/>
                </a:solidFill>
                <a:latin typeface="Open Sans Regular"/>
                <a:ea typeface="Open Sans Regular"/>
                <a:cs typeface="Open Sans Regular"/>
              </a:rPr>
              <a:t>Almacenamiento local temporal y reintentos automáticos</a:t>
            </a:r>
          </a:p>
        </p:txBody>
      </p:sp>
      <p:sp>
        <p:nvSpPr>
          <p:cNvPr id="10" name="Riesgo 2"/>
          <p:cNvSpPr/>
          <p:nvPr/>
        </p:nvSpPr>
        <p:spPr>
          <a:xfrm>
            <a:off x="1650492" y="6766560"/>
            <a:ext cx="21031200" cy="20574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Riesgo 2 texto"/>
          <p:cNvSpPr txBox="1"/>
          <p:nvPr/>
        </p:nvSpPr>
        <p:spPr>
          <a:xfrm>
            <a:off x="2103120" y="6949440"/>
            <a:ext cx="7772400" cy="1737360"/>
          </a:xfrm>
          <a:prstGeom prst="rect">
            <a:avLst/>
          </a:prstGeom>
          <a:noFill/>
        </p:spPr>
        <p:txBody>
          <a:bodyPr wrap="square" lIns="0" rIns="0" tIns="0" bIns="0" anchor="ctr">
            <a:spAutoFit/>
          </a:bodyPr>
          <a:lstStyle/>
          <a:p>
            <a:pPr algn="l">
              <a:spcAft>
                <a:spcPts val="0"/>
              </a:spcAft>
            </a:pPr>
            <a:r>
              <a:rPr sz="3400" b="1">
                <a:solidFill>
                  <a:srgbClr val="000000"/>
                </a:solidFill>
                <a:latin typeface="OpenSans-ExtraBold"/>
                <a:ea typeface="OpenSans-ExtraBold"/>
                <a:cs typeface="OpenSans-ExtraBold"/>
              </a:rPr>
              <a:t>Baja adopción del sistema</a:t>
            </a:r>
          </a:p>
        </p:txBody>
      </p:sp>
      <p:sp>
        <p:nvSpPr>
          <p:cNvPr id="12" name="Impacto 2"/>
          <p:cNvSpPr/>
          <p:nvPr/>
        </p:nvSpPr>
        <p:spPr>
          <a:xfrm>
            <a:off x="10058400" y="7315200"/>
            <a:ext cx="3108960" cy="960120"/>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200" b="1">
                <a:solidFill>
                  <a:srgbClr val="000000"/>
                </a:solidFill>
                <a:latin typeface="OpenSans-ExtraBold"/>
                <a:ea typeface="OpenSans-ExtraBold"/>
                <a:cs typeface="OpenSans-ExtraBold"/>
              </a:rPr>
              <a:t>Medio</a:t>
            </a:r>
          </a:p>
        </p:txBody>
      </p:sp>
      <p:sp>
        <p:nvSpPr>
          <p:cNvPr id="13" name="Mitigación 2"/>
          <p:cNvSpPr txBox="1"/>
          <p:nvPr/>
        </p:nvSpPr>
        <p:spPr>
          <a:xfrm>
            <a:off x="13898880" y="6949440"/>
            <a:ext cx="8412480" cy="1737360"/>
          </a:xfrm>
          <a:prstGeom prst="rect">
            <a:avLst/>
          </a:prstGeom>
          <a:noFill/>
        </p:spPr>
        <p:txBody>
          <a:bodyPr wrap="square" lIns="0" rIns="0" tIns="0" bIns="0" anchor="ctr">
            <a:spAutoFit/>
          </a:bodyPr>
          <a:lstStyle/>
          <a:p>
            <a:pPr algn="l">
              <a:spcAft>
                <a:spcPts val="0"/>
              </a:spcAft>
            </a:pPr>
            <a:r>
              <a:rPr sz="3200" b="0">
                <a:solidFill>
                  <a:srgbClr val="535353"/>
                </a:solidFill>
                <a:latin typeface="Open Sans Regular"/>
                <a:ea typeface="Open Sans Regular"/>
                <a:cs typeface="Open Sans Regular"/>
              </a:rPr>
              <a:t>Capacitación previa y mejoras en la interfaz</a:t>
            </a:r>
          </a:p>
        </p:txBody>
      </p:sp>
      <p:sp>
        <p:nvSpPr>
          <p:cNvPr id="14" name="Riesgo 3"/>
          <p:cNvSpPr/>
          <p:nvPr/>
        </p:nvSpPr>
        <p:spPr>
          <a:xfrm>
            <a:off x="1650492" y="9144000"/>
            <a:ext cx="21031200" cy="20574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5" name="Riesgo 3 texto"/>
          <p:cNvSpPr txBox="1"/>
          <p:nvPr/>
        </p:nvSpPr>
        <p:spPr>
          <a:xfrm>
            <a:off x="2103120" y="9326880"/>
            <a:ext cx="7772400" cy="1737360"/>
          </a:xfrm>
          <a:prstGeom prst="rect">
            <a:avLst/>
          </a:prstGeom>
          <a:noFill/>
        </p:spPr>
        <p:txBody>
          <a:bodyPr wrap="square" lIns="0" rIns="0" tIns="0" bIns="0" anchor="ctr">
            <a:spAutoFit/>
          </a:bodyPr>
          <a:lstStyle/>
          <a:p>
            <a:pPr algn="l">
              <a:spcAft>
                <a:spcPts val="0"/>
              </a:spcAft>
            </a:pPr>
            <a:r>
              <a:rPr sz="3400" b="1">
                <a:solidFill>
                  <a:srgbClr val="000000"/>
                </a:solidFill>
                <a:latin typeface="OpenSans-ExtraBold"/>
                <a:ea typeface="OpenSans-ExtraBold"/>
                <a:cs typeface="OpenSans-ExtraBold"/>
              </a:rPr>
              <a:t>Vulnerabilidades de seguridad</a:t>
            </a:r>
          </a:p>
        </p:txBody>
      </p:sp>
      <p:sp>
        <p:nvSpPr>
          <p:cNvPr id="16" name="Impacto 3"/>
          <p:cNvSpPr/>
          <p:nvPr/>
        </p:nvSpPr>
        <p:spPr>
          <a:xfrm>
            <a:off x="10058400" y="9692640"/>
            <a:ext cx="3108960" cy="960120"/>
          </a:xfrm>
          <a:prstGeom prst="roundRect">
            <a:avLst>
              <a:gd name="adj" fmla="val 50000"/>
            </a:avLst>
          </a:prstGeom>
          <a:solidFill>
            <a:srgbClr val="84D7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a:r>
              <a:rPr sz="3200" b="1">
                <a:solidFill>
                  <a:srgbClr val="000000"/>
                </a:solidFill>
                <a:latin typeface="OpenSans-ExtraBold"/>
                <a:ea typeface="OpenSans-ExtraBold"/>
                <a:cs typeface="OpenSans-ExtraBold"/>
              </a:rPr>
              <a:t>Alto</a:t>
            </a:r>
          </a:p>
        </p:txBody>
      </p:sp>
      <p:sp>
        <p:nvSpPr>
          <p:cNvPr id="17" name="Mitigación 3"/>
          <p:cNvSpPr txBox="1"/>
          <p:nvPr/>
        </p:nvSpPr>
        <p:spPr>
          <a:xfrm>
            <a:off x="13898880" y="9326880"/>
            <a:ext cx="8412480" cy="1737360"/>
          </a:xfrm>
          <a:prstGeom prst="rect">
            <a:avLst/>
          </a:prstGeom>
          <a:noFill/>
        </p:spPr>
        <p:txBody>
          <a:bodyPr wrap="square" lIns="0" rIns="0" tIns="0" bIns="0" anchor="ctr">
            <a:spAutoFit/>
          </a:bodyPr>
          <a:lstStyle/>
          <a:p>
            <a:pPr algn="l">
              <a:spcAft>
                <a:spcPts val="0"/>
              </a:spcAft>
            </a:pPr>
            <a:r>
              <a:rPr sz="3200" b="0">
                <a:solidFill>
                  <a:srgbClr val="535353"/>
                </a:solidFill>
                <a:latin typeface="Open Sans Regular"/>
                <a:ea typeface="Open Sans Regular"/>
                <a:cs typeface="Open Sans Regular"/>
              </a:rPr>
              <a:t>Auditorías de código y cifrado extremo a extremo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Aporte y siguientes pasos</a:t>
            </a:r>
          </a:p>
        </p:txBody>
      </p:sp>
      <p:sp>
        <p:nvSpPr>
          <p:cNvPr id="3" name="Etiqueta aporte"/>
          <p:cNvSpPr txBox="1"/>
          <p:nvPr/>
        </p:nvSpPr>
        <p:spPr>
          <a:xfrm>
            <a:off x="1650492" y="3657600"/>
            <a:ext cx="10972800" cy="548640"/>
          </a:xfrm>
          <a:prstGeom prst="rect">
            <a:avLst/>
          </a:prstGeom>
          <a:noFill/>
        </p:spPr>
        <p:txBody>
          <a:bodyPr wrap="square" lIns="0" rIns="0" tIns="0" bIns="0" anchor="t">
            <a:spAutoFit/>
          </a:bodyPr>
          <a:lstStyle/>
          <a:p>
            <a:pPr algn="l">
              <a:spcAft>
                <a:spcPts val="0"/>
              </a:spcAft>
            </a:pPr>
            <a:r>
              <a:rPr sz="2600" b="1">
                <a:solidFill>
                  <a:srgbClr val="5E5E5E"/>
                </a:solidFill>
                <a:latin typeface="OpenSans-ExtraBold"/>
                <a:ea typeface="OpenSans-ExtraBold"/>
                <a:cs typeface="OpenSans-ExtraBold"/>
              </a:rPr>
              <a:t>APORTE ESPERADO</a:t>
            </a:r>
          </a:p>
        </p:txBody>
      </p:sp>
      <p:sp>
        <p:nvSpPr>
          <p:cNvPr id="4" name="Aporte Pasajero"/>
          <p:cNvSpPr/>
          <p:nvPr/>
        </p:nvSpPr>
        <p:spPr>
          <a:xfrm>
            <a:off x="1650492" y="4389120"/>
            <a:ext cx="12070080" cy="20574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5" name="Aporte Pasajero título"/>
          <p:cNvSpPr txBox="1"/>
          <p:nvPr/>
        </p:nvSpPr>
        <p:spPr>
          <a:xfrm>
            <a:off x="2103120" y="4526280"/>
            <a:ext cx="11155680" cy="822960"/>
          </a:xfrm>
          <a:prstGeom prst="rect">
            <a:avLst/>
          </a:prstGeom>
          <a:noFill/>
        </p:spPr>
        <p:txBody>
          <a:bodyPr wrap="square" lIns="0" rIns="0" tIns="0" bIns="0" anchor="t">
            <a:spAutoFit/>
          </a:bodyPr>
          <a:lstStyle/>
          <a:p>
            <a:pPr algn="l">
              <a:spcAft>
                <a:spcPts val="0"/>
              </a:spcAft>
            </a:pPr>
            <a:r>
              <a:rPr sz="4400" b="1">
                <a:solidFill>
                  <a:srgbClr val="000000"/>
                </a:solidFill>
                <a:latin typeface="OpenSans-ExtraBold"/>
                <a:ea typeface="OpenSans-ExtraBold"/>
                <a:cs typeface="OpenSans-ExtraBold"/>
              </a:rPr>
              <a:t>Pasajero</a:t>
            </a:r>
          </a:p>
        </p:txBody>
      </p:sp>
      <p:sp>
        <p:nvSpPr>
          <p:cNvPr id="6" name="Aporte Pasajero texto"/>
          <p:cNvSpPr txBox="1"/>
          <p:nvPr/>
        </p:nvSpPr>
        <p:spPr>
          <a:xfrm>
            <a:off x="2103120" y="5486400"/>
            <a:ext cx="11155680" cy="822960"/>
          </a:xfrm>
          <a:prstGeom prst="rect">
            <a:avLst/>
          </a:prstGeom>
          <a:noFill/>
        </p:spPr>
        <p:txBody>
          <a:bodyPr wrap="square" lIns="0" rIns="0" tIns="0" bIns="0" anchor="t">
            <a:spAutoFit/>
          </a:bodyPr>
          <a:lstStyle/>
          <a:p>
            <a:pPr algn="l">
              <a:spcAft>
                <a:spcPts val="0"/>
              </a:spcAft>
            </a:pPr>
            <a:r>
              <a:rPr sz="3200" b="0">
                <a:solidFill>
                  <a:srgbClr val="535353"/>
                </a:solidFill>
                <a:latin typeface="Open Sans Regular"/>
                <a:ea typeface="Open Sans Regular"/>
                <a:cs typeface="Open Sans Regular"/>
              </a:rPr>
              <a:t>opción económica, segura y predecible</a:t>
            </a:r>
          </a:p>
        </p:txBody>
      </p:sp>
      <p:sp>
        <p:nvSpPr>
          <p:cNvPr id="7" name="Aporte Conductor"/>
          <p:cNvSpPr/>
          <p:nvPr/>
        </p:nvSpPr>
        <p:spPr>
          <a:xfrm>
            <a:off x="1650492" y="6766560"/>
            <a:ext cx="12070080" cy="20574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Aporte Conductor título"/>
          <p:cNvSpPr txBox="1"/>
          <p:nvPr/>
        </p:nvSpPr>
        <p:spPr>
          <a:xfrm>
            <a:off x="2103120" y="6903720"/>
            <a:ext cx="11155680" cy="822960"/>
          </a:xfrm>
          <a:prstGeom prst="rect">
            <a:avLst/>
          </a:prstGeom>
          <a:noFill/>
        </p:spPr>
        <p:txBody>
          <a:bodyPr wrap="square" lIns="0" rIns="0" tIns="0" bIns="0" anchor="t">
            <a:spAutoFit/>
          </a:bodyPr>
          <a:lstStyle/>
          <a:p>
            <a:pPr algn="l">
              <a:spcAft>
                <a:spcPts val="0"/>
              </a:spcAft>
            </a:pPr>
            <a:r>
              <a:rPr sz="4400" b="1">
                <a:solidFill>
                  <a:srgbClr val="000000"/>
                </a:solidFill>
                <a:latin typeface="OpenSans-ExtraBold"/>
                <a:ea typeface="OpenSans-ExtraBold"/>
                <a:cs typeface="OpenSans-ExtraBold"/>
              </a:rPr>
              <a:t>Conductor</a:t>
            </a:r>
          </a:p>
        </p:txBody>
      </p:sp>
      <p:sp>
        <p:nvSpPr>
          <p:cNvPr id="9" name="Aporte Conductor texto"/>
          <p:cNvSpPr txBox="1"/>
          <p:nvPr/>
        </p:nvSpPr>
        <p:spPr>
          <a:xfrm>
            <a:off x="2103120" y="7863840"/>
            <a:ext cx="11155680" cy="822960"/>
          </a:xfrm>
          <a:prstGeom prst="rect">
            <a:avLst/>
          </a:prstGeom>
          <a:noFill/>
        </p:spPr>
        <p:txBody>
          <a:bodyPr wrap="square" lIns="0" rIns="0" tIns="0" bIns="0" anchor="t">
            <a:spAutoFit/>
          </a:bodyPr>
          <a:lstStyle/>
          <a:p>
            <a:pPr algn="l">
              <a:spcAft>
                <a:spcPts val="0"/>
              </a:spcAft>
            </a:pPr>
            <a:r>
              <a:rPr sz="3200" b="0">
                <a:solidFill>
                  <a:srgbClr val="535353"/>
                </a:solidFill>
                <a:latin typeface="Open Sans Regular"/>
                <a:ea typeface="Open Sans Regular"/>
                <a:cs typeface="Open Sans Regular"/>
              </a:rPr>
              <a:t>comparte combustible y parqueadero</a:t>
            </a:r>
          </a:p>
        </p:txBody>
      </p:sp>
      <p:sp>
        <p:nvSpPr>
          <p:cNvPr id="10" name="Aporte UNAB"/>
          <p:cNvSpPr/>
          <p:nvPr/>
        </p:nvSpPr>
        <p:spPr>
          <a:xfrm>
            <a:off x="1650492" y="9144000"/>
            <a:ext cx="12070080" cy="20574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Aporte UNAB título"/>
          <p:cNvSpPr txBox="1"/>
          <p:nvPr/>
        </p:nvSpPr>
        <p:spPr>
          <a:xfrm>
            <a:off x="2103120" y="9281160"/>
            <a:ext cx="11155680" cy="822960"/>
          </a:xfrm>
          <a:prstGeom prst="rect">
            <a:avLst/>
          </a:prstGeom>
          <a:noFill/>
        </p:spPr>
        <p:txBody>
          <a:bodyPr wrap="square" lIns="0" rIns="0" tIns="0" bIns="0" anchor="t">
            <a:spAutoFit/>
          </a:bodyPr>
          <a:lstStyle/>
          <a:p>
            <a:pPr algn="l">
              <a:spcAft>
                <a:spcPts val="0"/>
              </a:spcAft>
            </a:pPr>
            <a:r>
              <a:rPr sz="4400" b="1">
                <a:solidFill>
                  <a:srgbClr val="000000"/>
                </a:solidFill>
                <a:latin typeface="OpenSans-ExtraBold"/>
                <a:ea typeface="OpenSans-ExtraBold"/>
                <a:cs typeface="OpenSans-ExtraBold"/>
              </a:rPr>
              <a:t>UNAB</a:t>
            </a:r>
          </a:p>
        </p:txBody>
      </p:sp>
      <p:sp>
        <p:nvSpPr>
          <p:cNvPr id="12" name="Aporte UNAB texto"/>
          <p:cNvSpPr txBox="1"/>
          <p:nvPr/>
        </p:nvSpPr>
        <p:spPr>
          <a:xfrm>
            <a:off x="2103120" y="10241280"/>
            <a:ext cx="11155680" cy="822960"/>
          </a:xfrm>
          <a:prstGeom prst="rect">
            <a:avLst/>
          </a:prstGeom>
          <a:noFill/>
        </p:spPr>
        <p:txBody>
          <a:bodyPr wrap="square" lIns="0" rIns="0" tIns="0" bIns="0" anchor="t">
            <a:spAutoFit/>
          </a:bodyPr>
          <a:lstStyle/>
          <a:p>
            <a:pPr algn="l">
              <a:spcAft>
                <a:spcPts val="0"/>
              </a:spcAft>
            </a:pPr>
            <a:r>
              <a:rPr sz="3200" b="0">
                <a:solidFill>
                  <a:srgbClr val="535353"/>
                </a:solidFill>
                <a:latin typeface="Open Sans Regular"/>
                <a:ea typeface="Open Sans Regular"/>
                <a:cs typeface="Open Sans Regular"/>
              </a:rPr>
              <a:t>menos presión en parqueaderos, sin obras</a:t>
            </a:r>
          </a:p>
        </p:txBody>
      </p:sp>
      <p:sp>
        <p:nvSpPr>
          <p:cNvPr id="13" name="Tarjeta siguientes"/>
          <p:cNvSpPr/>
          <p:nvPr/>
        </p:nvSpPr>
        <p:spPr>
          <a:xfrm>
            <a:off x="14264640" y="4389120"/>
            <a:ext cx="8412480" cy="6812280"/>
          </a:xfrm>
          <a:prstGeom prst="roundRect">
            <a:avLst>
              <a:gd name="adj" fmla="val 5000"/>
            </a:avLst>
          </a:prstGeom>
          <a:solidFill>
            <a:srgbClr val="00261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Etiqueta siguientes"/>
          <p:cNvSpPr txBox="1"/>
          <p:nvPr/>
        </p:nvSpPr>
        <p:spPr>
          <a:xfrm>
            <a:off x="14813280" y="4754880"/>
            <a:ext cx="7315200" cy="548640"/>
          </a:xfrm>
          <a:prstGeom prst="rect">
            <a:avLst/>
          </a:prstGeom>
          <a:noFill/>
        </p:spPr>
        <p:txBody>
          <a:bodyPr wrap="square" lIns="0" rIns="0" tIns="0" bIns="0" anchor="t">
            <a:spAutoFit/>
          </a:bodyPr>
          <a:lstStyle/>
          <a:p>
            <a:pPr algn="l">
              <a:spcAft>
                <a:spcPts val="0"/>
              </a:spcAft>
            </a:pPr>
            <a:r>
              <a:rPr sz="2600" b="1">
                <a:solidFill>
                  <a:srgbClr val="84D700"/>
                </a:solidFill>
                <a:latin typeface="OpenSans-ExtraBold"/>
                <a:ea typeface="OpenSans-ExtraBold"/>
                <a:cs typeface="OpenSans-ExtraBold"/>
              </a:rPr>
              <a:t>LO QUE SIGUE</a:t>
            </a:r>
          </a:p>
        </p:txBody>
      </p:sp>
      <p:sp>
        <p:nvSpPr>
          <p:cNvPr id="15" name="Siguiente cifra"/>
          <p:cNvSpPr txBox="1"/>
          <p:nvPr/>
        </p:nvSpPr>
        <p:spPr>
          <a:xfrm>
            <a:off x="14813280" y="5577840"/>
            <a:ext cx="7315200" cy="1463040"/>
          </a:xfrm>
          <a:prstGeom prst="rect">
            <a:avLst/>
          </a:prstGeom>
          <a:noFill/>
        </p:spPr>
        <p:txBody>
          <a:bodyPr wrap="square" lIns="0" rIns="0" tIns="0" bIns="0" anchor="ctr">
            <a:spAutoFit/>
          </a:bodyPr>
          <a:lstStyle/>
          <a:p>
            <a:pPr algn="l">
              <a:spcAft>
                <a:spcPts val="0"/>
              </a:spcAft>
            </a:pPr>
            <a:r>
              <a:rPr sz="10000" b="1">
                <a:solidFill>
                  <a:srgbClr val="FFFFFF"/>
                </a:solidFill>
                <a:latin typeface="OpenSans-ExtraBold"/>
                <a:ea typeface="OpenSans-ExtraBold"/>
                <a:cs typeface="OpenSans-ExtraBold"/>
              </a:rPr>
              <a:t>TRL 6</a:t>
            </a:r>
          </a:p>
        </p:txBody>
      </p:sp>
      <p:sp>
        <p:nvSpPr>
          <p:cNvPr id="16" name="Siguiente TRL texto"/>
          <p:cNvSpPr txBox="1"/>
          <p:nvPr/>
        </p:nvSpPr>
        <p:spPr>
          <a:xfrm>
            <a:off x="14813280" y="7315200"/>
            <a:ext cx="7315200" cy="1645920"/>
          </a:xfrm>
          <a:prstGeom prst="rect">
            <a:avLst/>
          </a:prstGeom>
          <a:noFill/>
        </p:spPr>
        <p:txBody>
          <a:bodyPr wrap="square" lIns="0" rIns="0" tIns="0" bIns="0" anchor="t">
            <a:spAutoFit/>
          </a:bodyPr>
          <a:lstStyle/>
          <a:p>
            <a:pPr algn="l">
              <a:spcAft>
                <a:spcPts val="0"/>
              </a:spcAft>
            </a:pPr>
            <a:r>
              <a:rPr sz="3400" b="0">
                <a:solidFill>
                  <a:srgbClr val="FFFFFF"/>
                </a:solidFill>
                <a:latin typeface="Open Sans Regular"/>
                <a:ea typeface="Open Sans Regular"/>
                <a:cs typeface="Open Sans Regular"/>
              </a:rPr>
              <a:t>Prototipo integrado, validado en un entorno relevante</a:t>
            </a:r>
          </a:p>
        </p:txBody>
      </p:sp>
      <p:sp>
        <p:nvSpPr>
          <p:cNvPr id="17" name="Siguiente escalamiento"/>
          <p:cNvSpPr txBox="1"/>
          <p:nvPr/>
        </p:nvSpPr>
        <p:spPr>
          <a:xfrm>
            <a:off x="14813280" y="9509760"/>
            <a:ext cx="7315200" cy="1463040"/>
          </a:xfrm>
          <a:prstGeom prst="rect">
            <a:avLst/>
          </a:prstGeom>
          <a:noFill/>
        </p:spPr>
        <p:txBody>
          <a:bodyPr wrap="square" lIns="0" rIns="0" tIns="0" bIns="0" anchor="t">
            <a:spAutoFit/>
          </a:bodyPr>
          <a:lstStyle/>
          <a:p>
            <a:pPr algn="l">
              <a:spcAft>
                <a:spcPts val="0"/>
              </a:spcAft>
            </a:pPr>
            <a:r>
              <a:rPr sz="3400" b="0">
                <a:solidFill>
                  <a:srgbClr val="84D700"/>
                </a:solidFill>
                <a:latin typeface="Open Sans Regular"/>
                <a:ea typeface="Open Sans Regular"/>
                <a:cs typeface="Open Sans Regular"/>
              </a:rPr>
              <a:t>Base para futuras fases de escalamiento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FFFFFF"/>
                </a:solidFill>
                <a:latin typeface="OpenSans-ExtraBold"/>
                <a:ea typeface="OpenSans-ExtraBold"/>
                <a:cs typeface="OpenSans-ExtraBold"/>
              </a:rPr>
              <a:t>Conoce UniWheels</a:t>
            </a:r>
          </a:p>
        </p:txBody>
      </p:sp>
      <p:sp>
        <p:nvSpPr>
          <p:cNvPr id="3" name="URL"/>
          <p:cNvSpPr txBox="1"/>
          <p:nvPr/>
        </p:nvSpPr>
        <p:spPr>
          <a:xfrm>
            <a:off x="1650492" y="4572000"/>
            <a:ext cx="12801600" cy="2194560"/>
          </a:xfrm>
          <a:prstGeom prst="rect">
            <a:avLst/>
          </a:prstGeom>
          <a:noFill/>
        </p:spPr>
        <p:txBody>
          <a:bodyPr wrap="square" lIns="0" rIns="0" tIns="0" bIns="0" anchor="ctr">
            <a:spAutoFit/>
          </a:bodyPr>
          <a:lstStyle/>
          <a:p>
            <a:pPr algn="l">
              <a:spcAft>
                <a:spcPts val="0"/>
              </a:spcAft>
            </a:pPr>
            <a:r>
              <a:rPr sz="9600" b="1">
                <a:solidFill>
                  <a:srgbClr val="84D700"/>
                </a:solidFill>
                <a:latin typeface="OpenSans-ExtraBold"/>
                <a:ea typeface="OpenSans-ExtraBold"/>
                <a:cs typeface="OpenSans-ExtraBold"/>
              </a:rPr>
              <a:t>uniwheels.org</a:t>
            </a:r>
          </a:p>
        </p:txBody>
      </p:sp>
      <p:sp>
        <p:nvSpPr>
          <p:cNvPr id="4" name="Instrucción"/>
          <p:cNvSpPr txBox="1"/>
          <p:nvPr/>
        </p:nvSpPr>
        <p:spPr>
          <a:xfrm>
            <a:off x="1650492" y="7132320"/>
            <a:ext cx="12801600" cy="1645920"/>
          </a:xfrm>
          <a:prstGeom prst="rect">
            <a:avLst/>
          </a:prstGeom>
          <a:noFill/>
        </p:spPr>
        <p:txBody>
          <a:bodyPr wrap="square" lIns="0" rIns="0" tIns="0" bIns="0" anchor="t">
            <a:spAutoFit/>
          </a:bodyPr>
          <a:lstStyle/>
          <a:p>
            <a:pPr algn="l">
              <a:spcAft>
                <a:spcPts val="0"/>
              </a:spcAft>
            </a:pPr>
            <a:r>
              <a:rPr sz="4800" b="0">
                <a:solidFill>
                  <a:srgbClr val="FFFFFF"/>
                </a:solidFill>
                <a:latin typeface="Open Sans Regular"/>
                <a:ea typeface="Open Sans Regular"/>
                <a:cs typeface="Open Sans Regular"/>
              </a:rPr>
              <a:t>Escanea el código con tu celular</a:t>
            </a:r>
          </a:p>
        </p:txBody>
      </p:sp>
      <p:sp>
        <p:nvSpPr>
          <p:cNvPr id="5" name="QR fondo"/>
          <p:cNvSpPr/>
          <p:nvPr/>
        </p:nvSpPr>
        <p:spPr>
          <a:xfrm>
            <a:off x="15179040" y="4023360"/>
            <a:ext cx="7498079" cy="749807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pic>
        <p:nvPicPr>
          <p:cNvPr id="6" name="QR uniwheels.org" descr="Código QR a uniwheels.org"/>
          <p:cNvPicPr>
            <a:picLocks noChangeAspect="1"/>
          </p:cNvPicPr>
          <p:nvPr/>
        </p:nvPicPr>
        <p:blipFill>
          <a:blip r:embed="rId2"/>
          <a:stretch>
            <a:fillRect/>
          </a:stretch>
        </p:blipFill>
        <p:spPr>
          <a:xfrm>
            <a:off x="15544800" y="4389120"/>
            <a:ext cx="6766560" cy="67665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1650492" y="8595360"/>
            <a:ext cx="19293840" cy="2194560"/>
          </a:xfrm>
          <a:prstGeom prst="rect">
            <a:avLst/>
          </a:prstGeom>
          <a:noFill/>
        </p:spPr>
        <p:txBody>
          <a:bodyPr wrap="square" lIns="0" rIns="0" tIns="0" bIns="0" anchor="ctr">
            <a:spAutoFit/>
          </a:bodyPr>
          <a:lstStyle/>
          <a:p>
            <a:pPr algn="ctr">
              <a:spcAft>
                <a:spcPts val="0"/>
              </a:spcAft>
            </a:pPr>
            <a:r>
              <a:rPr sz="12000" b="1">
                <a:solidFill>
                  <a:srgbClr val="FFFFFF"/>
                </a:solidFill>
                <a:latin typeface="OpenSans-ExtraBold"/>
                <a:ea typeface="OpenSans-ExtraBold"/>
                <a:cs typeface="OpenSans-ExtraBold"/>
              </a:rPr>
              <a:t>¿Preguntas?</a:t>
            </a:r>
          </a:p>
        </p:txBody>
      </p:sp>
      <p:sp>
        <p:nvSpPr>
          <p:cNvPr id="3" name="Contacto"/>
          <p:cNvSpPr txBox="1"/>
          <p:nvPr/>
        </p:nvSpPr>
        <p:spPr>
          <a:xfrm>
            <a:off x="1650492" y="10881360"/>
            <a:ext cx="19293840" cy="822960"/>
          </a:xfrm>
          <a:prstGeom prst="rect">
            <a:avLst/>
          </a:prstGeom>
          <a:noFill/>
        </p:spPr>
        <p:txBody>
          <a:bodyPr wrap="square" lIns="0" rIns="0" tIns="0" bIns="0" anchor="t">
            <a:spAutoFit/>
          </a:bodyPr>
          <a:lstStyle/>
          <a:p>
            <a:pPr algn="ctr">
              <a:spcAft>
                <a:spcPts val="0"/>
              </a:spcAft>
            </a:pPr>
            <a:r>
              <a:rPr sz="3400" b="0">
                <a:solidFill>
                  <a:srgbClr val="84D700"/>
                </a:solidFill>
                <a:latin typeface="Open Sans Regular"/>
                <a:ea typeface="Open Sans Regular"/>
                <a:cs typeface="Open Sans Regular"/>
              </a:rPr>
              <a:t>Santiago Serrano Ortiz · uniwheels.org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Respaldo · Servicios</a:t>
            </a:r>
          </a:p>
        </p:txBody>
      </p:sp>
      <p:graphicFrame>
        <p:nvGraphicFramePr>
          <p:cNvPr id="3" name="Tabla"/>
          <p:cNvGraphicFramePr>
            <a:graphicFrameLocks noGrp="1"/>
          </p:cNvGraphicFramePr>
          <p:nvPr/>
        </p:nvGraphicFramePr>
        <p:xfrm>
          <a:off x="1650492" y="3931920"/>
          <a:ext cx="21031200" cy="7360920"/>
        </p:xfrm>
        <a:graphic>
          <a:graphicData uri="http://schemas.openxmlformats.org/drawingml/2006/table">
            <a:tbl>
              <a:tblPr firstRow="0" bandRow="0">
                <a:tableStyleId>{5C22544A-7EE6-4342-B048-85BDC9FD1C3A}</a:tableStyleId>
              </a:tblPr>
              <a:tblGrid>
                <a:gridCol w="4572000"/>
                <a:gridCol w="5852160"/>
                <a:gridCol w="10607040"/>
              </a:tblGrid>
              <a:tr h="1051560">
                <a:tc>
                  <a:txBody>
                    <a:bodyPr wrap="square"/>
                    <a:lstStyle/>
                    <a:p>
                      <a:pPr algn="l"/>
                      <a:r>
                        <a:rPr sz="2600" b="1">
                          <a:solidFill>
                            <a:srgbClr val="FFFFFF"/>
                          </a:solidFill>
                          <a:latin typeface="OpenSans-ExtraBold"/>
                          <a:ea typeface="OpenSans-ExtraBold"/>
                          <a:cs typeface="OpenSans-ExtraBold"/>
                        </a:rPr>
                        <a:t>Servicio</a:t>
                      </a:r>
                    </a:p>
                  </a:txBody>
                  <a:tcPr marL="182880" marR="182880" marT="73152" marB="73152" anchor="ctr">
                    <a:solidFill>
                      <a:srgbClr val="002617"/>
                    </a:solidFill>
                  </a:tcPr>
                </a:tc>
                <a:tc>
                  <a:txBody>
                    <a:bodyPr wrap="square"/>
                    <a:lstStyle/>
                    <a:p>
                      <a:pPr algn="l"/>
                      <a:r>
                        <a:rPr sz="2600" b="1">
                          <a:solidFill>
                            <a:srgbClr val="FFFFFF"/>
                          </a:solidFill>
                          <a:latin typeface="OpenSans-ExtraBold"/>
                          <a:ea typeface="OpenSans-ExtraBold"/>
                          <a:cs typeface="OpenSans-ExtraBold"/>
                        </a:rPr>
                        <a:t>Stack</a:t>
                      </a:r>
                    </a:p>
                  </a:txBody>
                  <a:tcPr marL="182880" marR="182880" marT="73152" marB="73152" anchor="ctr">
                    <a:solidFill>
                      <a:srgbClr val="002617"/>
                    </a:solidFill>
                  </a:tcPr>
                </a:tc>
                <a:tc>
                  <a:txBody>
                    <a:bodyPr wrap="square"/>
                    <a:lstStyle/>
                    <a:p>
                      <a:pPr algn="l"/>
                      <a:r>
                        <a:rPr sz="2600" b="1">
                          <a:solidFill>
                            <a:srgbClr val="FFFFFF"/>
                          </a:solidFill>
                          <a:latin typeface="OpenSans-ExtraBold"/>
                          <a:ea typeface="OpenSans-ExtraBold"/>
                          <a:cs typeface="OpenSans-ExtraBold"/>
                        </a:rPr>
                        <a:t>Responsabilidad</a:t>
                      </a:r>
                    </a:p>
                  </a:txBody>
                  <a:tcPr marL="182880" marR="182880" marT="73152" marB="73152" anchor="ctr">
                    <a:solidFill>
                      <a:srgbClr val="002617"/>
                    </a:solidFill>
                  </a:tcPr>
                </a:tc>
              </a:tr>
              <a:tr h="1051560">
                <a:tc>
                  <a:txBody>
                    <a:bodyPr wrap="square"/>
                    <a:lstStyle/>
                    <a:p>
                      <a:pPr algn="l"/>
                      <a:r>
                        <a:rPr sz="2600" b="1">
                          <a:solidFill>
                            <a:srgbClr val="000000"/>
                          </a:solidFill>
                          <a:latin typeface="OpenSans-ExtraBold"/>
                          <a:ea typeface="OpenSans-ExtraBold"/>
                          <a:cs typeface="OpenSans-ExtraBold"/>
                        </a:rPr>
                        <a:t>auth-service</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Laravel 13 · PHP 8.3</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Registro con correo institucional y PIN, emisión de JWT, roles</a:t>
                      </a:r>
                    </a:p>
                  </a:txBody>
                  <a:tcPr marL="182880" marR="182880" marT="73152" marB="73152" anchor="ctr">
                    <a:solidFill>
                      <a:srgbClr val="F2F2F2"/>
                    </a:solidFill>
                  </a:tcPr>
                </a:tc>
              </a:tr>
              <a:tr h="1051560">
                <a:tc>
                  <a:txBody>
                    <a:bodyPr wrap="square"/>
                    <a:lstStyle/>
                    <a:p>
                      <a:pPr algn="l"/>
                      <a:r>
                        <a:rPr sz="2600" b="1">
                          <a:solidFill>
                            <a:srgbClr val="000000"/>
                          </a:solidFill>
                          <a:latin typeface="OpenSans-ExtraBold"/>
                          <a:ea typeface="OpenSans-ExtraBold"/>
                          <a:cs typeface="OpenSans-ExtraBold"/>
                        </a:rPr>
                        <a:t>vehicle-service</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Laravel 13 · PHP 8.3</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Autos y motos, documentos legales, flujo de revisión</a:t>
                      </a:r>
                    </a:p>
                  </a:txBody>
                  <a:tcPr marL="182880" marR="182880" marT="73152" marB="73152" anchor="ctr">
                    <a:solidFill>
                      <a:srgbClr val="FFFFFF"/>
                    </a:solidFill>
                  </a:tcPr>
                </a:tc>
              </a:tr>
              <a:tr h="1051560">
                <a:tc>
                  <a:txBody>
                    <a:bodyPr wrap="square"/>
                    <a:lstStyle/>
                    <a:p>
                      <a:pPr algn="l"/>
                      <a:r>
                        <a:rPr sz="2600" b="1">
                          <a:solidFill>
                            <a:srgbClr val="000000"/>
                          </a:solidFill>
                          <a:latin typeface="OpenSans-ExtraBold"/>
                          <a:ea typeface="OpenSans-ExtraBold"/>
                          <a:cs typeface="OpenSans-ExtraBold"/>
                        </a:rPr>
                        <a:t>route-matching-service</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Laravel 13 · PostGIS</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Geometrías de ruta, índices espaciales, evaluación de desvíos</a:t>
                      </a:r>
                    </a:p>
                  </a:txBody>
                  <a:tcPr marL="182880" marR="182880" marT="73152" marB="73152" anchor="ctr">
                    <a:solidFill>
                      <a:srgbClr val="F2F2F2"/>
                    </a:solidFill>
                  </a:tcPr>
                </a:tc>
              </a:tr>
              <a:tr h="1051560">
                <a:tc>
                  <a:txBody>
                    <a:bodyPr wrap="square"/>
                    <a:lstStyle/>
                    <a:p>
                      <a:pPr algn="l"/>
                      <a:r>
                        <a:rPr sz="2600" b="1">
                          <a:solidFill>
                            <a:srgbClr val="000000"/>
                          </a:solidFill>
                          <a:latin typeface="OpenSans-ExtraBold"/>
                          <a:ea typeface="OpenSans-ExtraBold"/>
                          <a:cs typeface="OpenSans-ExtraBold"/>
                        </a:rPr>
                        <a:t>trip-service</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Laravel 13 · PHP 8.3</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Máquina de estados del viaje, cancelaciones, suspensión</a:t>
                      </a:r>
                    </a:p>
                  </a:txBody>
                  <a:tcPr marL="182880" marR="182880" marT="73152" marB="73152" anchor="ctr">
                    <a:solidFill>
                      <a:srgbClr val="FFFFFF"/>
                    </a:solidFill>
                  </a:tcPr>
                </a:tc>
              </a:tr>
              <a:tr h="1051560">
                <a:tc>
                  <a:txBody>
                    <a:bodyPr wrap="square"/>
                    <a:lstStyle/>
                    <a:p>
                      <a:pPr algn="l"/>
                      <a:r>
                        <a:rPr sz="2600" b="1">
                          <a:solidFill>
                            <a:srgbClr val="000000"/>
                          </a:solidFill>
                          <a:latin typeface="OpenSans-ExtraBold"/>
                          <a:ea typeface="OpenSans-ExtraBold"/>
                          <a:cs typeface="OpenSans-ExtraBold"/>
                        </a:rPr>
                        <a:t>notification-service</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Laravel 13 · PHP 8.3</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Calificaciones, reportes de seguridad, notificaciones</a:t>
                      </a:r>
                    </a:p>
                  </a:txBody>
                  <a:tcPr marL="182880" marR="182880" marT="73152" marB="73152" anchor="ctr">
                    <a:solidFill>
                      <a:srgbClr val="F2F2F2"/>
                    </a:solidFill>
                  </a:tcPr>
                </a:tc>
              </a:tr>
              <a:tr h="1051560">
                <a:tc>
                  <a:txBody>
                    <a:bodyPr wrap="square"/>
                    <a:lstStyle/>
                    <a:p>
                      <a:pPr algn="l"/>
                      <a:r>
                        <a:rPr sz="2600" b="1">
                          <a:solidFill>
                            <a:srgbClr val="000000"/>
                          </a:solidFill>
                          <a:latin typeface="OpenSans-ExtraBold"/>
                          <a:ea typeface="OpenSans-ExtraBold"/>
                          <a:cs typeface="OpenSans-ExtraBold"/>
                        </a:rPr>
                        <a:t>ai-route-service</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Python · FastAPI</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ETA con XGBoost y optimización de rutas con ALNS</a:t>
                      </a:r>
                    </a:p>
                  </a:txBody>
                  <a:tcPr marL="182880" marR="182880" marT="73152" marB="73152" anchor="ctr">
                    <a:solidFill>
                      <a:srgbClr val="FFFFFF"/>
                    </a:solidFill>
                  </a:tcPr>
                </a:tc>
              </a:tr>
            </a:tbl>
          </a:graphicData>
        </a:graphic>
      </p:graphicFrame>
      <p:sp>
        <p:nvSpPr>
          <p:cNvPr id="4" name="Fuente"/>
          <p:cNvSpPr txBox="1"/>
          <p:nvPr/>
        </p:nvSpPr>
        <p:spPr>
          <a:xfrm>
            <a:off x="1650492" y="11338560"/>
            <a:ext cx="20116800" cy="548640"/>
          </a:xfrm>
          <a:prstGeom prst="rect">
            <a:avLst/>
          </a:prstGeom>
          <a:noFill/>
        </p:spPr>
        <p:txBody>
          <a:bodyPr wrap="square" lIns="0" rIns="0" tIns="0" bIns="0" anchor="t">
            <a:spAutoFit/>
          </a:bodyPr>
          <a:lstStyle/>
          <a:p>
            <a:pPr algn="l">
              <a:spcAft>
                <a:spcPts val="0"/>
              </a:spcAft>
            </a:pPr>
            <a:r>
              <a:rPr sz="2200" b="0">
                <a:solidFill>
                  <a:srgbClr val="5E5E5E"/>
                </a:solidFill>
                <a:latin typeface="Open Sans Regular"/>
                <a:ea typeface="Open Sans Regular"/>
                <a:cs typeface="Open Sans Regular"/>
              </a:rPr>
              <a:t>Fuente: README.md del repositorio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Respaldo · Variables</a:t>
            </a:r>
          </a:p>
        </p:txBody>
      </p:sp>
      <p:graphicFrame>
        <p:nvGraphicFramePr>
          <p:cNvPr id="3" name="Tabla"/>
          <p:cNvGraphicFramePr>
            <a:graphicFrameLocks noGrp="1"/>
          </p:cNvGraphicFramePr>
          <p:nvPr/>
        </p:nvGraphicFramePr>
        <p:xfrm>
          <a:off x="1650492" y="3931920"/>
          <a:ext cx="21031200" cy="6583680"/>
        </p:xfrm>
        <a:graphic>
          <a:graphicData uri="http://schemas.openxmlformats.org/drawingml/2006/table">
            <a:tbl>
              <a:tblPr firstRow="0" bandRow="0">
                <a:tableStyleId>{5C22544A-7EE6-4342-B048-85BDC9FD1C3A}</a:tableStyleId>
              </a:tblPr>
              <a:tblGrid>
                <a:gridCol w="5852160"/>
                <a:gridCol w="8229600"/>
                <a:gridCol w="6949440"/>
              </a:tblGrid>
              <a:tr h="1097280">
                <a:tc>
                  <a:txBody>
                    <a:bodyPr wrap="square"/>
                    <a:lstStyle/>
                    <a:p>
                      <a:pPr algn="l"/>
                      <a:r>
                        <a:rPr sz="2600" b="1">
                          <a:solidFill>
                            <a:srgbClr val="FFFFFF"/>
                          </a:solidFill>
                          <a:latin typeface="OpenSans-ExtraBold"/>
                          <a:ea typeface="OpenSans-ExtraBold"/>
                          <a:cs typeface="OpenSans-ExtraBold"/>
                        </a:rPr>
                        <a:t>Variable</a:t>
                      </a:r>
                    </a:p>
                  </a:txBody>
                  <a:tcPr marL="182880" marR="182880" marT="73152" marB="73152" anchor="ctr">
                    <a:solidFill>
                      <a:srgbClr val="002617"/>
                    </a:solidFill>
                  </a:tcPr>
                </a:tc>
                <a:tc>
                  <a:txBody>
                    <a:bodyPr wrap="square"/>
                    <a:lstStyle/>
                    <a:p>
                      <a:pPr algn="l"/>
                      <a:r>
                        <a:rPr sz="2600" b="1">
                          <a:solidFill>
                            <a:srgbClr val="FFFFFF"/>
                          </a:solidFill>
                          <a:latin typeface="OpenSans-ExtraBold"/>
                          <a:ea typeface="OpenSans-ExtraBold"/>
                          <a:cs typeface="OpenSans-ExtraBold"/>
                        </a:rPr>
                        <a:t>Meta</a:t>
                      </a:r>
                    </a:p>
                  </a:txBody>
                  <a:tcPr marL="182880" marR="182880" marT="73152" marB="73152" anchor="ctr">
                    <a:solidFill>
                      <a:srgbClr val="002617"/>
                    </a:solidFill>
                  </a:tcPr>
                </a:tc>
                <a:tc>
                  <a:txBody>
                    <a:bodyPr wrap="square"/>
                    <a:lstStyle/>
                    <a:p>
                      <a:pPr algn="l"/>
                      <a:r>
                        <a:rPr sz="2600" b="1">
                          <a:solidFill>
                            <a:srgbClr val="FFFFFF"/>
                          </a:solidFill>
                          <a:latin typeface="OpenSans-ExtraBold"/>
                          <a:ea typeface="OpenSans-ExtraBold"/>
                          <a:cs typeface="OpenSans-ExtraBold"/>
                        </a:rPr>
                        <a:t>Origen</a:t>
                      </a:r>
                    </a:p>
                  </a:txBody>
                  <a:tcPr marL="182880" marR="182880" marT="73152" marB="73152" anchor="ctr">
                    <a:solidFill>
                      <a:srgbClr val="002617"/>
                    </a:solidFill>
                  </a:tcPr>
                </a:tc>
              </a:tr>
              <a:tr h="1097280">
                <a:tc>
                  <a:txBody>
                    <a:bodyPr wrap="square"/>
                    <a:lstStyle/>
                    <a:p>
                      <a:pPr algn="l"/>
                      <a:r>
                        <a:rPr sz="2600" b="1">
                          <a:solidFill>
                            <a:srgbClr val="000000"/>
                          </a:solidFill>
                          <a:latin typeface="OpenSans-ExtraBold"/>
                          <a:ea typeface="OpenSans-ExtraBold"/>
                          <a:cs typeface="OpenSans-ExtraBold"/>
                        </a:rPr>
                        <a:t>Compatibilidad Android/iOS</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Pruebas en ≥ 2 versiones recientes</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Documento, §7.5</a:t>
                      </a:r>
                    </a:p>
                  </a:txBody>
                  <a:tcPr marL="182880" marR="182880" marT="73152" marB="73152" anchor="ctr">
                    <a:solidFill>
                      <a:srgbClr val="F2F2F2"/>
                    </a:solidFill>
                  </a:tcPr>
                </a:tc>
              </a:tr>
              <a:tr h="1097280">
                <a:tc>
                  <a:txBody>
                    <a:bodyPr wrap="square"/>
                    <a:lstStyle/>
                    <a:p>
                      <a:pPr algn="l"/>
                      <a:r>
                        <a:rPr sz="2600" b="1">
                          <a:solidFill>
                            <a:srgbClr val="000000"/>
                          </a:solidFill>
                          <a:latin typeface="OpenSans-ExtraBold"/>
                          <a:ea typeface="OpenSans-ExtraBold"/>
                          <a:cs typeface="OpenSans-ExtraBold"/>
                        </a:rPr>
                        <a:t>Seguridad</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Cifrado AES-256; auditoría con OWASP</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Documento, §7.5</a:t>
                      </a:r>
                    </a:p>
                  </a:txBody>
                  <a:tcPr marL="182880" marR="182880" marT="73152" marB="73152" anchor="ctr">
                    <a:solidFill>
                      <a:srgbClr val="FFFFFF"/>
                    </a:solidFill>
                  </a:tcPr>
                </a:tc>
              </a:tr>
              <a:tr h="1097280">
                <a:tc>
                  <a:txBody>
                    <a:bodyPr wrap="square"/>
                    <a:lstStyle/>
                    <a:p>
                      <a:pPr algn="l"/>
                      <a:r>
                        <a:rPr sz="2600" b="1">
                          <a:solidFill>
                            <a:srgbClr val="000000"/>
                          </a:solidFill>
                          <a:latin typeface="OpenSans-ExtraBold"/>
                          <a:ea typeface="OpenSans-ExtraBold"/>
                          <a:cs typeface="OpenSans-ExtraBold"/>
                        </a:rPr>
                        <a:t>Rendimiento</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Respuesta &lt; 2 s con 100 usuarios</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Documento, §7.5</a:t>
                      </a:r>
                    </a:p>
                  </a:txBody>
                  <a:tcPr marL="182880" marR="182880" marT="73152" marB="73152" anchor="ctr">
                    <a:solidFill>
                      <a:srgbClr val="F2F2F2"/>
                    </a:solidFill>
                  </a:tcPr>
                </a:tc>
              </a:tr>
              <a:tr h="1097280">
                <a:tc>
                  <a:txBody>
                    <a:bodyPr wrap="square"/>
                    <a:lstStyle/>
                    <a:p>
                      <a:pPr algn="l"/>
                      <a:r>
                        <a:rPr sz="2600" b="1">
                          <a:solidFill>
                            <a:srgbClr val="000000"/>
                          </a:solidFill>
                          <a:latin typeface="OpenSans-ExtraBold"/>
                          <a:ea typeface="OpenSans-ExtraBold"/>
                          <a:cs typeface="OpenSans-ExtraBold"/>
                        </a:rPr>
                        <a:t>Facilidad de uso</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Escala SUS ≥ 80/100</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Documento, §7.5</a:t>
                      </a:r>
                    </a:p>
                  </a:txBody>
                  <a:tcPr marL="182880" marR="182880" marT="73152" marB="73152" anchor="ctr">
                    <a:solidFill>
                      <a:srgbClr val="FFFFFF"/>
                    </a:solidFill>
                  </a:tcPr>
                </a:tc>
              </a:tr>
              <a:tr h="1097280">
                <a:tc>
                  <a:txBody>
                    <a:bodyPr wrap="square"/>
                    <a:lstStyle/>
                    <a:p>
                      <a:pPr algn="l"/>
                      <a:r>
                        <a:rPr sz="2600" b="1">
                          <a:solidFill>
                            <a:srgbClr val="000000"/>
                          </a:solidFill>
                          <a:latin typeface="OpenSans-ExtraBold"/>
                          <a:ea typeface="OpenSans-ExtraBold"/>
                          <a:cs typeface="OpenSans-ExtraBold"/>
                        </a:rPr>
                        <a:t>Perfiles de usuario</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 3 perfiles con permisos</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Documento, §7.5</a:t>
                      </a:r>
                    </a:p>
                  </a:txBody>
                  <a:tcPr marL="182880" marR="182880" marT="73152" marB="73152" anchor="ctr">
                    <a:solidFill>
                      <a:srgbClr val="F2F2F2"/>
                    </a:solidFill>
                  </a:tcPr>
                </a:tc>
              </a:tr>
            </a:tbl>
          </a:graphicData>
        </a:graphic>
      </p:graphicFrame>
      <p:sp>
        <p:nvSpPr>
          <p:cNvPr id="4" name="Nota"/>
          <p:cNvSpPr txBox="1"/>
          <p:nvPr/>
        </p:nvSpPr>
        <p:spPr>
          <a:xfrm>
            <a:off x="1650492" y="11247120"/>
            <a:ext cx="20116800" cy="731520"/>
          </a:xfrm>
          <a:prstGeom prst="rect">
            <a:avLst/>
          </a:prstGeom>
          <a:noFill/>
        </p:spPr>
        <p:txBody>
          <a:bodyPr wrap="square" lIns="0" rIns="0" tIns="0" bIns="0" anchor="t">
            <a:spAutoFit/>
          </a:bodyPr>
          <a:lstStyle/>
          <a:p>
            <a:pPr algn="l">
              <a:spcAft>
                <a:spcPts val="0"/>
              </a:spcAft>
            </a:pPr>
            <a:r>
              <a:rPr sz="2400" b="0">
                <a:solidFill>
                  <a:srgbClr val="5E5E5E"/>
                </a:solidFill>
                <a:latin typeface="Open Sans Regular"/>
                <a:ea typeface="Open Sans Regular"/>
                <a:cs typeface="Open Sans Regular"/>
              </a:rPr>
              <a:t>Se excluyen cuatro filas heredadas de otro proyecto (MFA, búsqueda documental, trazabilidad documental, productividad).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ítulo"/>
          <p:cNvSpPr txBox="1"/>
          <p:nvPr/>
        </p:nvSpPr>
        <p:spPr>
          <a:xfrm>
            <a:off x="1650492" y="1417320"/>
            <a:ext cx="17739360" cy="2011680"/>
          </a:xfrm>
          <a:prstGeom prst="rect">
            <a:avLst/>
          </a:prstGeom>
          <a:noFill/>
        </p:spPr>
        <p:txBody>
          <a:bodyPr wrap="square" lIns="0" rIns="0" tIns="0" bIns="0" anchor="t">
            <a:spAutoFit/>
          </a:bodyPr>
          <a:lstStyle/>
          <a:p>
            <a:pPr algn="l">
              <a:spcAft>
                <a:spcPts val="0"/>
              </a:spcAft>
            </a:pPr>
            <a:r>
              <a:rPr sz="8000" b="1">
                <a:solidFill>
                  <a:srgbClr val="000000"/>
                </a:solidFill>
                <a:latin typeface="OpenSans-ExtraBold"/>
                <a:ea typeface="OpenSans-ExtraBold"/>
                <a:cs typeface="OpenSans-ExtraBold"/>
              </a:rPr>
              <a:t>Respaldo · Actores</a:t>
            </a:r>
          </a:p>
        </p:txBody>
      </p:sp>
      <p:graphicFrame>
        <p:nvGraphicFramePr>
          <p:cNvPr id="3" name="Tabla"/>
          <p:cNvGraphicFramePr>
            <a:graphicFrameLocks noGrp="1"/>
          </p:cNvGraphicFramePr>
          <p:nvPr/>
        </p:nvGraphicFramePr>
        <p:xfrm>
          <a:off x="1650492" y="3931920"/>
          <a:ext cx="21031200" cy="6858000"/>
        </p:xfrm>
        <a:graphic>
          <a:graphicData uri="http://schemas.openxmlformats.org/drawingml/2006/table">
            <a:tbl>
              <a:tblPr firstRow="0" bandRow="0">
                <a:tableStyleId>{5C22544A-7EE6-4342-B048-85BDC9FD1C3A}</a:tableStyleId>
              </a:tblPr>
              <a:tblGrid>
                <a:gridCol w="5486400"/>
                <a:gridCol w="7863840"/>
                <a:gridCol w="7680960"/>
              </a:tblGrid>
              <a:tr h="1371600">
                <a:tc>
                  <a:txBody>
                    <a:bodyPr wrap="square"/>
                    <a:lstStyle/>
                    <a:p>
                      <a:pPr algn="l"/>
                      <a:r>
                        <a:rPr sz="2600" b="1">
                          <a:solidFill>
                            <a:srgbClr val="FFFFFF"/>
                          </a:solidFill>
                          <a:latin typeface="OpenSans-ExtraBold"/>
                          <a:ea typeface="OpenSans-ExtraBold"/>
                          <a:cs typeface="OpenSans-ExtraBold"/>
                        </a:rPr>
                        <a:t>Actor</a:t>
                      </a:r>
                    </a:p>
                  </a:txBody>
                  <a:tcPr marL="182880" marR="182880" marT="73152" marB="73152" anchor="ctr">
                    <a:solidFill>
                      <a:srgbClr val="002617"/>
                    </a:solidFill>
                  </a:tcPr>
                </a:tc>
                <a:tc>
                  <a:txBody>
                    <a:bodyPr wrap="square"/>
                    <a:lstStyle/>
                    <a:p>
                      <a:pPr algn="l"/>
                      <a:r>
                        <a:rPr sz="2600" b="1">
                          <a:solidFill>
                            <a:srgbClr val="FFFFFF"/>
                          </a:solidFill>
                          <a:latin typeface="OpenSans-ExtraBold"/>
                          <a:ea typeface="OpenSans-ExtraBold"/>
                          <a:cs typeface="OpenSans-ExtraBold"/>
                        </a:rPr>
                        <a:t>Necesidad</a:t>
                      </a:r>
                    </a:p>
                  </a:txBody>
                  <a:tcPr marL="182880" marR="182880" marT="73152" marB="73152" anchor="ctr">
                    <a:solidFill>
                      <a:srgbClr val="002617"/>
                    </a:solidFill>
                  </a:tcPr>
                </a:tc>
                <a:tc>
                  <a:txBody>
                    <a:bodyPr wrap="square"/>
                    <a:lstStyle/>
                    <a:p>
                      <a:pPr algn="l"/>
                      <a:r>
                        <a:rPr sz="2600" b="1">
                          <a:solidFill>
                            <a:srgbClr val="FFFFFF"/>
                          </a:solidFill>
                          <a:latin typeface="OpenSans-ExtraBold"/>
                          <a:ea typeface="OpenSans-ExtraBold"/>
                          <a:cs typeface="OpenSans-ExtraBold"/>
                        </a:rPr>
                        <a:t>Limitación actual</a:t>
                      </a:r>
                    </a:p>
                  </a:txBody>
                  <a:tcPr marL="182880" marR="182880" marT="73152" marB="73152" anchor="ctr">
                    <a:solidFill>
                      <a:srgbClr val="002617"/>
                    </a:solidFill>
                  </a:tcPr>
                </a:tc>
              </a:tr>
              <a:tr h="1371600">
                <a:tc>
                  <a:txBody>
                    <a:bodyPr wrap="square"/>
                    <a:lstStyle/>
                    <a:p>
                      <a:pPr algn="l"/>
                      <a:r>
                        <a:rPr sz="2600" b="1">
                          <a:solidFill>
                            <a:srgbClr val="000000"/>
                          </a:solidFill>
                          <a:latin typeface="OpenSans-ExtraBold"/>
                          <a:ea typeface="OpenSans-ExtraBold"/>
                          <a:cs typeface="OpenSans-ExtraBold"/>
                        </a:rPr>
                        <a:t>Estudiantes pasajeros</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Transporte eficiente, económico y seguro hacia los campus</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Esperas largas, sobrecostos en aplicaciones, transbordos</a:t>
                      </a:r>
                    </a:p>
                  </a:txBody>
                  <a:tcPr marL="182880" marR="182880" marT="73152" marB="73152" anchor="ctr">
                    <a:solidFill>
                      <a:srgbClr val="F2F2F2"/>
                    </a:solidFill>
                  </a:tcPr>
                </a:tc>
              </a:tr>
              <a:tr h="1371600">
                <a:tc>
                  <a:txBody>
                    <a:bodyPr wrap="square"/>
                    <a:lstStyle/>
                    <a:p>
                      <a:pPr algn="l"/>
                      <a:r>
                        <a:rPr sz="2600" b="1">
                          <a:solidFill>
                            <a:srgbClr val="000000"/>
                          </a:solidFill>
                          <a:latin typeface="OpenSans-ExtraBold"/>
                          <a:ea typeface="OpenSans-ExtraBold"/>
                          <a:cs typeface="OpenSans-ExtraBold"/>
                        </a:rPr>
                        <a:t>Conductores</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Reducir gasto en combustible y parqueadero</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Parqueaderos saturados y falta de pasajeros verificados</a:t>
                      </a:r>
                    </a:p>
                  </a:txBody>
                  <a:tcPr marL="182880" marR="182880" marT="73152" marB="73152" anchor="ctr">
                    <a:solidFill>
                      <a:srgbClr val="FFFFFF"/>
                    </a:solidFill>
                  </a:tcPr>
                </a:tc>
              </a:tr>
              <a:tr h="1371600">
                <a:tc>
                  <a:txBody>
                    <a:bodyPr wrap="square"/>
                    <a:lstStyle/>
                    <a:p>
                      <a:pPr algn="l"/>
                      <a:r>
                        <a:rPr sz="2600" b="1">
                          <a:solidFill>
                            <a:srgbClr val="000000"/>
                          </a:solidFill>
                          <a:latin typeface="OpenSans-ExtraBold"/>
                          <a:ea typeface="OpenSans-ExtraBold"/>
                          <a:cs typeface="OpenSans-ExtraBold"/>
                        </a:rPr>
                        <a:t>Bienestar UNAB</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Descongestionar parqueaderos y promover movilidad sostenible</a:t>
                      </a:r>
                    </a:p>
                  </a:txBody>
                  <a:tcPr marL="182880" marR="182880" marT="73152" marB="73152" anchor="ctr">
                    <a:solidFill>
                      <a:srgbClr val="F2F2F2"/>
                    </a:solidFill>
                  </a:tcPr>
                </a:tc>
                <a:tc>
                  <a:txBody>
                    <a:bodyPr wrap="square"/>
                    <a:lstStyle/>
                    <a:p>
                      <a:pPr algn="l"/>
                      <a:r>
                        <a:rPr sz="2600" b="0">
                          <a:solidFill>
                            <a:srgbClr val="000000"/>
                          </a:solidFill>
                          <a:latin typeface="Open Sans Regular"/>
                          <a:ea typeface="Open Sans Regular"/>
                          <a:cs typeface="Open Sans Regular"/>
                        </a:rPr>
                        <a:t>Espacio físico limitado</a:t>
                      </a:r>
                    </a:p>
                  </a:txBody>
                  <a:tcPr marL="182880" marR="182880" marT="73152" marB="73152" anchor="ctr">
                    <a:solidFill>
                      <a:srgbClr val="F2F2F2"/>
                    </a:solidFill>
                  </a:tcPr>
                </a:tc>
              </a:tr>
              <a:tr h="1371600">
                <a:tc>
                  <a:txBody>
                    <a:bodyPr wrap="square"/>
                    <a:lstStyle/>
                    <a:p>
                      <a:pPr algn="l"/>
                      <a:r>
                        <a:rPr sz="2600" b="1">
                          <a:solidFill>
                            <a:srgbClr val="000000"/>
                          </a:solidFill>
                          <a:latin typeface="OpenSans-ExtraBold"/>
                          <a:ea typeface="OpenSans-ExtraBold"/>
                          <a:cs typeface="OpenSans-ExtraBold"/>
                        </a:rPr>
                        <a:t>Tránsito (DTB / AMB)</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Reducir la sobrecarga vial en horas pico</a:t>
                      </a:r>
                    </a:p>
                  </a:txBody>
                  <a:tcPr marL="182880" marR="182880" marT="73152" marB="73152" anchor="ctr">
                    <a:solidFill>
                      <a:srgbClr val="FFFFFF"/>
                    </a:solidFill>
                  </a:tcPr>
                </a:tc>
                <a:tc>
                  <a:txBody>
                    <a:bodyPr wrap="square"/>
                    <a:lstStyle/>
                    <a:p>
                      <a:pPr algn="l"/>
                      <a:r>
                        <a:rPr sz="2600" b="0">
                          <a:solidFill>
                            <a:srgbClr val="000000"/>
                          </a:solidFill>
                          <a:latin typeface="Open Sans Regular"/>
                          <a:ea typeface="Open Sans Regular"/>
                          <a:cs typeface="Open Sans Regular"/>
                        </a:rPr>
                        <a:t>Crisis de cobertura del transporte masivo</a:t>
                      </a:r>
                    </a:p>
                  </a:txBody>
                  <a:tcPr marL="182880" marR="182880" marT="73152" marB="73152" anchor="ctr">
                    <a:solidFill>
                      <a:srgbClr val="FFFFFF"/>
                    </a:solidFill>
                  </a:tcPr>
                </a:tc>
              </a:tr>
            </a:tbl>
          </a:graphicData>
        </a:graphic>
      </p:graphicFrame>
      <p:sp>
        <p:nvSpPr>
          <p:cNvPr id="4" name="Fuente"/>
          <p:cNvSpPr txBox="1"/>
          <p:nvPr/>
        </p:nvSpPr>
        <p:spPr>
          <a:xfrm>
            <a:off x="1650492" y="11338560"/>
            <a:ext cx="20116800" cy="548640"/>
          </a:xfrm>
          <a:prstGeom prst="rect">
            <a:avLst/>
          </a:prstGeom>
          <a:noFill/>
        </p:spPr>
        <p:txBody>
          <a:bodyPr wrap="square" lIns="0" rIns="0" tIns="0" bIns="0" anchor="t">
            <a:spAutoFit/>
          </a:bodyPr>
          <a:lstStyle/>
          <a:p>
            <a:pPr algn="l">
              <a:spcAft>
                <a:spcPts val="0"/>
              </a:spcAft>
            </a:pPr>
            <a:r>
              <a:rPr sz="2200" b="0">
                <a:solidFill>
                  <a:srgbClr val="5E5E5E"/>
                </a:solidFill>
                <a:latin typeface="Open Sans Regular"/>
                <a:ea typeface="Open Sans Regular"/>
                <a:cs typeface="Open Sans Regular"/>
              </a:rPr>
              <a:t>Fuente: documento, Análisis de Necesidades y Actores</a:t>
            </a:r>
          </a:p>
        </p:txBody>
      </p:sp>
    </p:spTree>
  </p:cSld>
  <p:clrMapOvr>
    <a:masterClrMapping/>
  </p:clrMapOvr>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28405" tIns="28405" rIns="28405" bIns="28405" numCol="1" spcCol="38100" rtlCol="0" anchor="ctr" upright="0">
        <a:spAutoFit/>
      </a:bodyPr>
      <a:lstStyle>
        <a:def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28405" tIns="28405" rIns="28405" bIns="28405" numCol="1" spcCol="38100" rtlCol="0" anchor="ctr" upright="0">
        <a:spAutoFit/>
      </a:bodyPr>
      <a:lstStyle>
        <a:def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28405" tIns="28405" rIns="28405" bIns="28405" numCol="1" spcCol="38100" rtlCol="0" anchor="ctr" upright="0">
        <a:spAutoFit/>
      </a:bodyPr>
      <a:lstStyle>
        <a:def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28405" tIns="28405" rIns="28405" bIns="28405" numCol="1" spcCol="38100" rtlCol="0" anchor="ctr" upright="0">
        <a:spAutoFit/>
      </a:bodyPr>
      <a:lstStyle>
        <a:defPPr marL="0" marR="0" indent="0" algn="ctr" defTabSz="2438337"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dc:title>UniWheels — Semana de la Ingeniería UNAB 2026</dc:title>
  <dc:creator>Santiago Serrano Ortiz</dc:creator>
</cp:coreProperties>
</file>