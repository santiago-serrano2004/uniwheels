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dia/image5.jpe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5E5E5E"/>
        </a:fontRef>
        <a:srgbClr val="5E5E5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FFF"/>
          </a:solidFill>
        </a:fill>
      </a:tcStyle>
    </a:wholeTbl>
    <a:band2H>
      <a:tcTxStyle b="def" i="def"/>
      <a:tcStyle>
        <a:tcBdr/>
        <a:fill>
          <a:solidFill>
            <a:srgbClr val="E6F0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5E5E5E"/>
        </a:fontRef>
        <a:srgbClr val="5E5E5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F0CC"/>
          </a:solidFill>
        </a:fill>
      </a:tcStyle>
    </a:wholeTbl>
    <a:band2H>
      <a:tcTxStyle b="def" i="def"/>
      <a:tcStyle>
        <a:tcBdr/>
        <a:fill>
          <a:solidFill>
            <a:srgbClr val="EAF8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5E5E5E"/>
        </a:fontRef>
        <a:srgbClr val="5E5E5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CDDF"/>
          </a:solidFill>
        </a:fill>
      </a:tcStyle>
    </a:wholeTbl>
    <a:band2H>
      <a:tcTxStyle b="def" i="def"/>
      <a:tcStyle>
        <a:tcBdr/>
        <a:fill>
          <a:solidFill>
            <a:srgbClr val="FFE8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5E5E5E"/>
        </a:fontRef>
        <a:srgbClr val="5E5E5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9E9E9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5E5E5E"/>
        </a:fontRef>
        <a:srgbClr val="5E5E5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5E5E5E"/>
              </a:solidFill>
              <a:prstDash val="solid"/>
              <a:round/>
            </a:ln>
          </a:top>
          <a:bottom>
            <a:ln w="254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E5E5E"/>
              </a:solidFill>
              <a:prstDash val="solid"/>
              <a:round/>
            </a:ln>
          </a:top>
          <a:bottom>
            <a:ln w="254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5E5E5E"/>
        </a:fontRef>
        <a:srgbClr val="5E5E5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D1D1"/>
          </a:solidFill>
        </a:fill>
      </a:tcStyle>
    </a:wholeTbl>
    <a:band2H>
      <a:tcTxStyle b="def" i="def"/>
      <a:tcStyle>
        <a:tcBdr/>
        <a:fill>
          <a:solidFill>
            <a:srgbClr val="E9E9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5E5E5E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5E5E5E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5E5E5E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5E5E5E"/>
        </a:fontRef>
        <a:srgbClr val="5E5E5E"/>
      </a:tcTxStyle>
      <a:tcStyle>
        <a:tcBdr>
          <a:left>
            <a:ln w="12700" cap="flat">
              <a:solidFill>
                <a:srgbClr val="5E5E5E"/>
              </a:solidFill>
              <a:prstDash val="solid"/>
              <a:round/>
            </a:ln>
          </a:left>
          <a:right>
            <a:ln w="12700" cap="flat">
              <a:solidFill>
                <a:srgbClr val="5E5E5E"/>
              </a:solidFill>
              <a:prstDash val="solid"/>
              <a:round/>
            </a:ln>
          </a:right>
          <a:top>
            <a:ln w="12700" cap="flat">
              <a:solidFill>
                <a:srgbClr val="5E5E5E"/>
              </a:solidFill>
              <a:prstDash val="solid"/>
              <a:round/>
            </a:ln>
          </a:top>
          <a:bottom>
            <a:ln w="127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solidFill>
                <a:srgbClr val="5E5E5E"/>
              </a:solidFill>
              <a:prstDash val="solid"/>
              <a:round/>
            </a:ln>
          </a:insideH>
          <a:insideV>
            <a:ln w="12700" cap="flat">
              <a:solidFill>
                <a:srgbClr val="5E5E5E"/>
              </a:solidFill>
              <a:prstDash val="solid"/>
              <a:round/>
            </a:ln>
          </a:insideV>
        </a:tcBdr>
        <a:fill>
          <a:solidFill>
            <a:srgbClr val="5E5E5E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5E5E5E"/>
        </a:fontRef>
        <a:srgbClr val="5E5E5E"/>
      </a:tcTxStyle>
      <a:tcStyle>
        <a:tcBdr>
          <a:left>
            <a:ln w="12700" cap="flat">
              <a:solidFill>
                <a:srgbClr val="5E5E5E"/>
              </a:solidFill>
              <a:prstDash val="solid"/>
              <a:round/>
            </a:ln>
          </a:left>
          <a:right>
            <a:ln w="12700" cap="flat">
              <a:solidFill>
                <a:srgbClr val="5E5E5E"/>
              </a:solidFill>
              <a:prstDash val="solid"/>
              <a:round/>
            </a:ln>
          </a:right>
          <a:top>
            <a:ln w="12700" cap="flat">
              <a:solidFill>
                <a:srgbClr val="5E5E5E"/>
              </a:solidFill>
              <a:prstDash val="solid"/>
              <a:round/>
            </a:ln>
          </a:top>
          <a:bottom>
            <a:ln w="127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solidFill>
                <a:srgbClr val="5E5E5E"/>
              </a:solidFill>
              <a:prstDash val="solid"/>
              <a:round/>
            </a:ln>
          </a:insideH>
          <a:insideV>
            <a:ln w="12700" cap="flat">
              <a:solidFill>
                <a:srgbClr val="5E5E5E"/>
              </a:solidFill>
              <a:prstDash val="solid"/>
              <a:round/>
            </a:ln>
          </a:insideV>
        </a:tcBdr>
        <a:fill>
          <a:solidFill>
            <a:srgbClr val="5E5E5E">
              <a:alpha val="20000"/>
            </a:srgbClr>
          </a:solidFill>
        </a:fill>
      </a:tcStyle>
    </a:firstCol>
    <a:lastRow>
      <a:tcTxStyle b="on" i="off">
        <a:fontRef idx="minor">
          <a:srgbClr val="5E5E5E"/>
        </a:fontRef>
        <a:srgbClr val="5E5E5E"/>
      </a:tcTxStyle>
      <a:tcStyle>
        <a:tcBdr>
          <a:left>
            <a:ln w="12700" cap="flat">
              <a:solidFill>
                <a:srgbClr val="5E5E5E"/>
              </a:solidFill>
              <a:prstDash val="solid"/>
              <a:round/>
            </a:ln>
          </a:left>
          <a:right>
            <a:ln w="12700" cap="flat">
              <a:solidFill>
                <a:srgbClr val="5E5E5E"/>
              </a:solidFill>
              <a:prstDash val="solid"/>
              <a:round/>
            </a:ln>
          </a:right>
          <a:top>
            <a:ln w="50800" cap="flat">
              <a:solidFill>
                <a:srgbClr val="5E5E5E"/>
              </a:solidFill>
              <a:prstDash val="solid"/>
              <a:round/>
            </a:ln>
          </a:top>
          <a:bottom>
            <a:ln w="127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solidFill>
                <a:srgbClr val="5E5E5E"/>
              </a:solidFill>
              <a:prstDash val="solid"/>
              <a:round/>
            </a:ln>
          </a:insideH>
          <a:insideV>
            <a:ln w="12700" cap="flat">
              <a:solidFill>
                <a:srgbClr val="5E5E5E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5E5E5E"/>
        </a:fontRef>
        <a:srgbClr val="5E5E5E"/>
      </a:tcTxStyle>
      <a:tcStyle>
        <a:tcBdr>
          <a:left>
            <a:ln w="12700" cap="flat">
              <a:solidFill>
                <a:srgbClr val="5E5E5E"/>
              </a:solidFill>
              <a:prstDash val="solid"/>
              <a:round/>
            </a:ln>
          </a:left>
          <a:right>
            <a:ln w="12700" cap="flat">
              <a:solidFill>
                <a:srgbClr val="5E5E5E"/>
              </a:solidFill>
              <a:prstDash val="solid"/>
              <a:round/>
            </a:ln>
          </a:right>
          <a:top>
            <a:ln w="12700" cap="flat">
              <a:solidFill>
                <a:srgbClr val="5E5E5E"/>
              </a:solidFill>
              <a:prstDash val="solid"/>
              <a:round/>
            </a:ln>
          </a:top>
          <a:bottom>
            <a:ln w="254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solidFill>
                <a:srgbClr val="5E5E5E"/>
              </a:solidFill>
              <a:prstDash val="solid"/>
              <a:round/>
            </a:ln>
          </a:insideH>
          <a:insideV>
            <a:ln w="12700" cap="flat">
              <a:solidFill>
                <a:srgbClr val="5E5E5E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2" name="Shape 3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311726" latinLnBrk="0">
      <a:lnSpc>
        <a:spcPct val="117999"/>
      </a:lnSpc>
      <a:defRPr sz="1400">
        <a:latin typeface="+mj-lt"/>
        <a:ea typeface="+mj-ea"/>
        <a:cs typeface="+mj-cs"/>
        <a:sym typeface="Helvetica Neue"/>
      </a:defRPr>
    </a:lvl1pPr>
    <a:lvl2pPr indent="228600" defTabSz="311726" latinLnBrk="0">
      <a:lnSpc>
        <a:spcPct val="117999"/>
      </a:lnSpc>
      <a:defRPr sz="1400">
        <a:latin typeface="+mj-lt"/>
        <a:ea typeface="+mj-ea"/>
        <a:cs typeface="+mj-cs"/>
        <a:sym typeface="Helvetica Neue"/>
      </a:defRPr>
    </a:lvl2pPr>
    <a:lvl3pPr indent="457200" defTabSz="311726" latinLnBrk="0">
      <a:lnSpc>
        <a:spcPct val="117999"/>
      </a:lnSpc>
      <a:defRPr sz="1400">
        <a:latin typeface="+mj-lt"/>
        <a:ea typeface="+mj-ea"/>
        <a:cs typeface="+mj-cs"/>
        <a:sym typeface="Helvetica Neue"/>
      </a:defRPr>
    </a:lvl3pPr>
    <a:lvl4pPr indent="685800" defTabSz="311726" latinLnBrk="0">
      <a:lnSpc>
        <a:spcPct val="117999"/>
      </a:lnSpc>
      <a:defRPr sz="1400">
        <a:latin typeface="+mj-lt"/>
        <a:ea typeface="+mj-ea"/>
        <a:cs typeface="+mj-cs"/>
        <a:sym typeface="Helvetica Neue"/>
      </a:defRPr>
    </a:lvl4pPr>
    <a:lvl5pPr indent="914400" defTabSz="311726" latinLnBrk="0">
      <a:lnSpc>
        <a:spcPct val="117999"/>
      </a:lnSpc>
      <a:defRPr sz="1400">
        <a:latin typeface="+mj-lt"/>
        <a:ea typeface="+mj-ea"/>
        <a:cs typeface="+mj-cs"/>
        <a:sym typeface="Helvetica Neue"/>
      </a:defRPr>
    </a:lvl5pPr>
    <a:lvl6pPr indent="1143000" defTabSz="311726" latinLnBrk="0">
      <a:lnSpc>
        <a:spcPct val="117999"/>
      </a:lnSpc>
      <a:defRPr sz="1400">
        <a:latin typeface="+mj-lt"/>
        <a:ea typeface="+mj-ea"/>
        <a:cs typeface="+mj-cs"/>
        <a:sym typeface="Helvetica Neue"/>
      </a:defRPr>
    </a:lvl6pPr>
    <a:lvl7pPr indent="1371600" defTabSz="311726" latinLnBrk="0">
      <a:lnSpc>
        <a:spcPct val="117999"/>
      </a:lnSpc>
      <a:defRPr sz="1400">
        <a:latin typeface="+mj-lt"/>
        <a:ea typeface="+mj-ea"/>
        <a:cs typeface="+mj-cs"/>
        <a:sym typeface="Helvetica Neue"/>
      </a:defRPr>
    </a:lvl7pPr>
    <a:lvl8pPr indent="1600200" defTabSz="311726" latinLnBrk="0">
      <a:lnSpc>
        <a:spcPct val="117999"/>
      </a:lnSpc>
      <a:defRPr sz="1400">
        <a:latin typeface="+mj-lt"/>
        <a:ea typeface="+mj-ea"/>
        <a:cs typeface="+mj-cs"/>
        <a:sym typeface="Helvetica Neue"/>
      </a:defRPr>
    </a:lvl8pPr>
    <a:lvl9pPr indent="1828800" defTabSz="311726" latinLnBrk="0">
      <a:lnSpc>
        <a:spcPct val="117999"/>
      </a:lnSpc>
      <a:defRPr sz="1400">
        <a:latin typeface="+mj-lt"/>
        <a:ea typeface="+mj-ea"/>
        <a:cs typeface="+mj-cs"/>
        <a:sym typeface="Helvetica Neue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[0:30] Buenas tardes. Soy Santiago Serrano Ortiz, de Ingeniería de Sistemas, y les presento UniWheels: una plataforma de carpooling en tiempo real para la movilidad de la comunidad UNAB, dirigida por el profesor Julian Santiago Santoyo Diaz. En diez minutos veremos el problema, la solución y cómo la vamos a validar. </a:t>
            </a:r>
            <a:r>
              <a:rPr b="1"/>
              <a:t>Empecemos por el problema.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[0:50] Moverse hacia la UNAB cuesta. En el área metropolitana circulan más de seiscientas cuarenta mil motocicletas, cuarenta y cuatro por cada cien habitantes, y los carros siguen el paso. A las sedes —El Jardín, CSU, La Casona y El Bosque— se llega entre estancamientos en las horas pico, de cinco y media a seis y media, mañana y tarde. Los parqueaderos están desbordados y un carro paga desde ciento veinticinco mil pesos al mes. Y en promedio llega un solo ocupante por vehículo. Hay demanda y asientos vacíos, pero nada que los conecte. </a:t>
            </a:r>
            <a:r>
              <a:rPr b="1"/>
              <a:t>Veamos por qué importa.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[0:40] Esto importa por cuatro razones. Congestión: las vías de acceso se estancan en hora pico. Costo: el galón de gasolina está en dieciséis mil cuarenta y nueve pesos y los parqueaderos de la universidad están saturados. Seguridad: quien no tiene vehículo recurre al transporte informal, de alto riesgo, o paga aplicaciones privadas. Y sostenibilidad: cada carro con un solo ocupante pesa en la huella de carbono institucional. </a:t>
            </a:r>
            <a:r>
              <a:rPr b="1"/>
              <a:t>Esto nos lleva a los objetivos del trabajo.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[0:50] El objetivo general es desarrollar un carpooling asistido por inteligencia artificial que reduzca tiempos y sobrecostos de transporte y aumente la ocupación vehicular en la comunidad UNAB durante 2026. Lo desglosamos en cuatro objetivos específicos: diagnosticar los hábitos de movilidad y los requisitos de seguridad con encuestas y entrevistas; modelar una arquitectura modular con un componente de optimización de rutas; desarrollar la plataforma, con rastreo en vivo y notificaciones; y evaluar su rendimiento, usabilidad e impacto. </a:t>
            </a:r>
            <a:r>
              <a:rPr b="1"/>
              <a:t>Ahora, ¿qué existe hoy?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[0:40] El carpooling universitario no es nuevo. Hoy se resuelve publicando trayectos en redes sociales, de forma precaria, o con plataformas formales como Vai, en la Universidad de los Andes, que arrancó con una inversión ángel cercana a quinientos treinta mil dólares. Lo que UniWheels suma es una comunidad verificada con correo institucional, emparejamiento por ruta y paradas sugeridas, pensado para la UNAB. Los guiones indican que el documento no da el dato. </a:t>
            </a:r>
            <a:r>
              <a:rPr b="1"/>
              <a:t>Veamos la solución.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[0:50] UniWheels es una aplicación móvil de carpooling para la comunidad universitaria. Conecta conductores y pasajeros verificados: hacia las sedes, desde ellas y entre ellas. Verificados significa que solo se registra quien tiene correo de una institución autorizada. Y es importante: la aplicación no procesa pagos. El modelo es B2B, la universidad es quien contrata, y el aporte al conductor se acuerda por fuera de la app. La pantalla que ven es una captura real de la app. </a:t>
            </a:r>
            <a:r>
              <a:rPr b="1"/>
              <a:t>Veamos cómo funciona un viaje.</a:t>
            </a:r>
          </a:p>
          <a:p>
            <a:r>
              <a:t>[Nota de revisión: solo se pudo capturar la pantalla de inicio sin backend; ver revision_autor.md]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[0:40] El flujo tiene cuatro pasos. Uno: el conductor publica la ruta que ya hace todos los días. Dos: el pasajero la reserva y fija su punto de recogida con coordenadas reales sobre el mapa. Tres: al recoger, el viaje inicia con una verificación por PIN. Cuatro: el conductor finaliza el viaje en el servidor. Todo ese ciclo lo gobierna una máquina de estados en el servicio de viajes. </a:t>
            </a:r>
            <a:r>
              <a:rPr b="1"/>
              <a:t>Ahora, qué hay por debajo.</a:t>
            </a:r>
          </a:p>
          <a:p>
            <a:r>
              <a:t>[Nota de revisión: faltan capturas reales de cada paso; ver revision_autor.md]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[0:50] La arquitectura es de microservicios, como propone el documento. Los clientes son la aplicación móvil en Expo y React Native y un panel de administración para Bienestar. Todo entra por un gateway nginx que reparte a cinco servicios Laravel: autenticación con JWT, vehículos, emparejamiento de rutas sobre PostGIS, viajes y notificaciones. El emparejamiento consulta al servicio de inteligencia artificial en FastAPI, que predice tiempos con XGBoost y optimiza paradas con ALNS, apoyado en OSRM y TomTom. Cada servicio tiene su base PostgreSQL y hay Redis compartido; el correo sale por Resend. </a:t>
            </a:r>
            <a:r>
              <a:rPr b="1"/>
              <a:t>Veamos cómo lo construimos.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[0:40] El repositorio registra el trabajo desde el 23 de septiembre, con seis servicios, compose de producción e integración continua en el primer commit. El 4 de octubre pivoto a B2B sin pagos y el 5 dejo configurada la producción y la app lista para las tiendas. Sigo PMBOK con un enfoque iterativo e incremental; la madurez va de TRL 3, prueba de concepto, a TRL 6, prototipo validado en un entorno relevante. </a:t>
            </a:r>
            <a:r>
              <a:rPr b="1"/>
              <a:t>Ahora, qué da confianza.</a:t>
            </a:r>
          </a:p>
          <a:p>
            <a:r>
              <a:t>[Nota de revisión: el documento tiene metas de TRL distintas; unificar en el Doc. El historial de git empieza el 23 de sep de 2026; si el trabajo es anterior, agregar hitos previos.]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[0:40] La confianza es la base de un carpooling. Solo se registra quien tiene un correo de una institución universitaria autorizada y activa: el sistema valida el dominio del correo al crear la cuenta. Sobre esa comunidad cerrada emparejamos conductores y pasajeros verificados. Y el modelo es colaborativo: se comparten gastos de combustible y parqueadero, sin ánimo de lucro mercantil y sin prestar un servicio de transporte remunerado. </a:t>
            </a:r>
            <a:r>
              <a:rPr b="1"/>
              <a:t>Y ¿cómo lo vamos a validar?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[0:50] Mido el avance con metas y con evidencia. Las metas del anteproyecto: una puntuación de al menos ochenta sobre cien en la escala SUS, respuestas de menos de dos segundos con cien usuarios simultáneos y compatibilidad con al menos dos versiones recientes de Android e iOS. Y el estado actual, calculado desde el repositorio: trescientas cuarenta y siete pruebas automatizadas, seis microservicios en el compose de producción, y una integración continua que corrió ciento noventa y ocho veces, con la última en verde. El sitio uniwheels.org responde en producción. Falta la evaluación de campo con usuarios. </a:t>
            </a:r>
            <a:r>
              <a:rPr b="1"/>
              <a:t>Veamos los riesgos.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[0:40] Tres riesgos propios de UniWheels. Adopción, de impacto medio: el arranque en frío de conductores; lo abordo con un piloto institucional dentro de una comunidad cerrada. Seguridad entre pares, de impacto alto: la mitigación es la verificación institucional y el PIN que confirma cada viaje. Y dependencia de servicios externos, de impacto medio: si el servicio de inteligencia artificial falla, el emparejamiento sigue con cálculo local en PostGIS. </a:t>
            </a:r>
            <a:r>
              <a:rPr b="1"/>
              <a:t>Cierro con el aporte y lo que sigue.</a:t>
            </a:r>
          </a:p>
          <a:p>
            <a:r>
              <a:t>[Nota de revisión: riesgos y mitigaciones tomados del repo, no del documento; el correo (Resend) y OSRM no tienen fallback documentado: [Pendiente].]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[0:40] Qué aporta UniWheels si cumple sus objetivos. Al pasajero, una opción económica, segura y predecible. Al conductor, la posibilidad de compartir gastos de combustible y parqueadero. Y a la universidad, menos presión sobre los parqueaderos sin invertir en infraestructura física. Lo que sigue es llevar el sistema de TRL 3 a TRL 6, con un prototipo integrado validado en un entorno relevante, y dejar la base para futuras fases de escalamiento. </a:t>
            </a:r>
            <a:r>
              <a:rPr b="1"/>
              <a:t>Cierro con cómo pueden conocerlo.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[0:20] Si quieren ver UniWheels, escaneen este código o entren a uniwheels.org. Muchas gracias por su atención; con gusto recibo sus preguntas. </a:t>
            </a:r>
            <a:r>
              <a:rPr b="1"/>
              <a:t>Abro el espacio de preguntas.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Abro los cinco minutos de preguntas. Tengo respaldo con servicios, variables de validación y actores si lo piden. (Guion de respuestas: preguntas_probables.md.) </a:t>
            </a:r>
            <a:r>
              <a:rPr b="1"/>
              <a:t>Gracias.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RESPALDO. Servicios del sistema y su responsabilidad. Cada servicio tiene su base de datos; el JWT lo emite solo auth-service y los demás lo validan con un secreto compartido. </a:t>
            </a:r>
            <a:r>
              <a:rPr b="1"/>
              <a:t>Volver a preguntas.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RESPALDO. Variables de validación del documento que sí aplican a UniWheels, como metas. Se excluyó la fila de seguridad AES-256 porque el repositorio no la implementa, y las filas heredadas de gestión documental. </a:t>
            </a:r>
            <a:r>
              <a:rPr b="1"/>
              <a:t>Volver a preguntas.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RESPALDO. Actores y sus necesidades, tomados del análisis de necesidades del documento. </a:t>
            </a:r>
            <a:r>
              <a:rPr b="1"/>
              <a:t>Volver a preguntas.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Portada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xfrm>
            <a:off x="12044267" y="9167929"/>
            <a:ext cx="295469" cy="27972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Inter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ierre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"/>
          <p:cNvSpPr txBox="1"/>
          <p:nvPr>
            <p:ph type="sldNum" sz="quarter" idx="2"/>
          </p:nvPr>
        </p:nvSpPr>
        <p:spPr>
          <a:xfrm>
            <a:off x="12042371" y="9167929"/>
            <a:ext cx="295469" cy="27972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scuro contenido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"/>
          <p:cNvSpPr txBox="1"/>
          <p:nvPr>
            <p:ph type="sldNum" sz="quarter" idx="2"/>
          </p:nvPr>
        </p:nvSpPr>
        <p:spPr>
          <a:xfrm>
            <a:off x="12042371" y="9167929"/>
            <a:ext cx="295469" cy="27972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3653366" y="0"/>
            <a:ext cx="19507201" cy="3673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8405" tIns="28405" rIns="28405" bIns="28405" anchor="b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13610166" y="4876800"/>
            <a:ext cx="9550401" cy="8839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8405" tIns="28405" rIns="28405" bIns="28405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42334" y="9167929"/>
            <a:ext cx="295470" cy="279721"/>
          </a:xfrm>
          <a:prstGeom prst="rect">
            <a:avLst/>
          </a:prstGeom>
          <a:ln w="12700">
            <a:miter lim="400000"/>
          </a:ln>
        </p:spPr>
        <p:txBody>
          <a:bodyPr wrap="none" lIns="28405" tIns="28405" rIns="28405" bIns="28405" anchor="b">
            <a:spAutoFit/>
          </a:bodyPr>
          <a:lstStyle>
            <a:lvl1pPr defTabSz="821529">
              <a:defRPr sz="160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</p:sldLayoutIdLst>
  <p:transition xmlns:p14="http://schemas.microsoft.com/office/powerpoint/2010/main" spd="med" advClick="1"/>
  <p:txStyles>
    <p:titleStyle>
      <a:lvl1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24" strike="noStrike" sz="112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24" strike="noStrike" sz="112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24" strike="noStrike" sz="112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24" strike="noStrike" sz="112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24" strike="noStrike" sz="112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24" strike="noStrike" sz="112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24" strike="noStrike" sz="112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24" strike="noStrike" sz="112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24" strike="noStrike" sz="112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titleStyle>
    <p:bodyStyle>
      <a:lvl1pPr marL="0" marR="0" indent="0" algn="l" defTabSz="82549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0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0" marR="0" indent="0" algn="l" defTabSz="82549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0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0" marR="0" indent="0" algn="l" defTabSz="82549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0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0" marR="0" indent="0" algn="l" defTabSz="82549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0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0" marR="0" indent="0" algn="l" defTabSz="82549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0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0" marR="0" indent="0" algn="l" defTabSz="82549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0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0" marR="0" indent="0" algn="l" defTabSz="82549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0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0" marR="0" indent="0" algn="l" defTabSz="82549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0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0" marR="0" indent="0" algn="l" defTabSz="82549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0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bodyStyle>
    <p:otherStyle>
      <a:lvl1pPr marL="0" marR="0" indent="0" algn="ctr" defTabSz="82152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ctr" defTabSz="82152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ctr" defTabSz="82152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ctr" defTabSz="82152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ctr" defTabSz="82152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ctr" defTabSz="82152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ctr" defTabSz="82152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ctr" defTabSz="82152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ctr" defTabSz="82152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arjeta UniWheels"/>
          <p:cNvSpPr/>
          <p:nvPr/>
        </p:nvSpPr>
        <p:spPr>
          <a:xfrm>
            <a:off x="15163800" y="6604000"/>
            <a:ext cx="8128000" cy="5334000"/>
          </a:xfrm>
          <a:prstGeom prst="roundRect">
            <a:avLst>
              <a:gd name="adj" fmla="val 5714"/>
            </a:avLst>
          </a:prstGeom>
          <a:solidFill>
            <a:srgbClr val="002617">
              <a:alpha val="85000"/>
            </a:srgbClr>
          </a:solidFill>
          <a:ln w="25400">
            <a:solidFill>
              <a:srgbClr val="84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Marca fondo"/>
          <p:cNvSpPr/>
          <p:nvPr/>
        </p:nvSpPr>
        <p:spPr>
          <a:xfrm>
            <a:off x="15570200" y="7010400"/>
            <a:ext cx="1320800" cy="132080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Logo UniWheels" descr="Logo de UniWheel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2600" y="7289800"/>
            <a:ext cx="1016000" cy="686594"/>
          </a:xfrm>
          <a:prstGeom prst="rect">
            <a:avLst/>
          </a:prstGeom>
        </p:spPr>
      </p:pic>
      <p:sp>
        <p:nvSpPr>
          <p:cNvPr id="5" name="Marca UniWheels"/>
          <p:cNvSpPr txBox="1"/>
          <p:nvPr/>
        </p:nvSpPr>
        <p:spPr>
          <a:xfrm>
            <a:off x="17195800" y="7010400"/>
            <a:ext cx="5842000" cy="1320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0000"/>
              </a:lnSpc>
            </a:pPr>
            <a:r>
              <a:rPr sz="6400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</a:rPr>
              <a:t>UniWheels</a:t>
            </a:r>
          </a:p>
        </p:txBody>
      </p:sp>
      <p:sp>
        <p:nvSpPr>
          <p:cNvPr id="6" name="Subtítulo"/>
          <p:cNvSpPr txBox="1"/>
          <p:nvPr/>
        </p:nvSpPr>
        <p:spPr>
          <a:xfrm>
            <a:off x="15570200" y="8610600"/>
            <a:ext cx="7315200" cy="996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3200">
                <a:solidFill>
                  <a:srgbClr val="84D700"/>
                </a:solidFill>
                <a:latin typeface="Open Sans"/>
                <a:ea typeface="Open Sans"/>
                <a:cs typeface="Open Sans"/>
              </a:rPr>
              <a:t>Carpooling en tiempo real para la comunidad UNAB</a:t>
            </a:r>
          </a:p>
        </p:txBody>
      </p:sp>
      <p:sp>
        <p:nvSpPr>
          <p:cNvPr id="7" name="Autoría"/>
          <p:cNvSpPr txBox="1"/>
          <p:nvPr/>
        </p:nvSpPr>
        <p:spPr>
          <a:xfrm>
            <a:off x="15570200" y="9860930"/>
            <a:ext cx="7315200" cy="996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3200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</a:rPr>
              <a:t>Santiago Serrano Ortiz</a:t>
            </a:r>
          </a:p>
          <a:p>
            <a:pPr algn="l">
              <a:lnSpc>
                <a:spcPct val="90000"/>
              </a:lnSpc>
              <a:spcBef>
                <a:spcPts val="0"/>
              </a:spcBef>
            </a:pPr>
            <a:r>
              <a:rPr sz="320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Director: Julian Santiago Santoyo Diaz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 de diapositiva"/>
          <p:cNvSpPr txBox="1"/>
          <p:nvPr/>
        </p:nvSpPr>
        <p:spPr>
          <a:xfrm>
            <a:off x="1651000" y="1625600"/>
            <a:ext cx="18288000" cy="12454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8000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</a:rPr>
              <a:t>El problema</a:t>
            </a:r>
          </a:p>
        </p:txBody>
      </p:sp>
      <p:sp>
        <p:nvSpPr>
          <p:cNvPr id="3" name="Cifra hero"/>
          <p:cNvSpPr txBox="1"/>
          <p:nvPr/>
        </p:nvSpPr>
        <p:spPr>
          <a:xfrm>
            <a:off x="1651000" y="4191000"/>
            <a:ext cx="11406188" cy="311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0000">
                <a:solidFill>
                  <a:srgbClr val="84D700"/>
                </a:solidFill>
                <a:latin typeface="Open Sans ExtraBold"/>
                <a:ea typeface="Open Sans ExtraBold"/>
                <a:cs typeface="Open Sans ExtraBold"/>
              </a:rPr>
              <a:t>+640.000</a:t>
            </a:r>
          </a:p>
        </p:txBody>
      </p:sp>
      <p:sp>
        <p:nvSpPr>
          <p:cNvPr id="4" name="Cifra hero descripción"/>
          <p:cNvSpPr txBox="1"/>
          <p:nvPr/>
        </p:nvSpPr>
        <p:spPr>
          <a:xfrm>
            <a:off x="1651000" y="9525000"/>
            <a:ext cx="11684000" cy="1651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90000"/>
              </a:lnSpc>
            </a:pPr>
            <a:r>
              <a:rPr sz="5200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</a:rPr>
              <a:t>motocicletas en Bucaramanga</a:t>
            </a:r>
          </a:p>
          <a:p>
            <a:pPr algn="l">
              <a:lnSpc>
                <a:spcPct val="90000"/>
              </a:lnSpc>
              <a:spcBef>
                <a:spcPts val="0"/>
              </a:spcBef>
            </a:pPr>
            <a:r>
              <a:rPr sz="440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44 por cada 100 habitantes</a:t>
            </a:r>
          </a:p>
        </p:txBody>
      </p:sp>
      <p:sp>
        <p:nvSpPr>
          <p:cNvPr id="5" name="Dato 1"/>
          <p:cNvSpPr/>
          <p:nvPr/>
        </p:nvSpPr>
        <p:spPr>
          <a:xfrm>
            <a:off x="13843000" y="4318000"/>
            <a:ext cx="8890000" cy="2082800"/>
          </a:xfrm>
          <a:prstGeom prst="roundRect">
            <a:avLst>
              <a:gd name="adj" fmla="val 14634"/>
            </a:avLst>
          </a:prstGeom>
          <a:solidFill>
            <a:srgbClr val="0A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ato 1 cifra"/>
          <p:cNvSpPr txBox="1"/>
          <p:nvPr/>
        </p:nvSpPr>
        <p:spPr>
          <a:xfrm>
            <a:off x="14249400" y="4546600"/>
            <a:ext cx="8077200" cy="111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7200">
                <a:solidFill>
                  <a:srgbClr val="84D700"/>
                </a:solidFill>
                <a:latin typeface="Open Sans ExtraBold"/>
                <a:ea typeface="Open Sans ExtraBold"/>
                <a:cs typeface="Open Sans ExtraBold"/>
              </a:rPr>
              <a:t>5:30–6:30</a:t>
            </a:r>
          </a:p>
        </p:txBody>
      </p:sp>
      <p:sp>
        <p:nvSpPr>
          <p:cNvPr id="7" name="Dato 1 texto"/>
          <p:cNvSpPr txBox="1"/>
          <p:nvPr/>
        </p:nvSpPr>
        <p:spPr>
          <a:xfrm>
            <a:off x="14249400" y="5715000"/>
            <a:ext cx="80772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320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horas pico, mañana y tarde</a:t>
            </a:r>
          </a:p>
        </p:txBody>
      </p:sp>
      <p:sp>
        <p:nvSpPr>
          <p:cNvPr id="8" name="Dato 2"/>
          <p:cNvSpPr/>
          <p:nvPr/>
        </p:nvSpPr>
        <p:spPr>
          <a:xfrm>
            <a:off x="13843000" y="6705600"/>
            <a:ext cx="8890000" cy="2082800"/>
          </a:xfrm>
          <a:prstGeom prst="roundRect">
            <a:avLst>
              <a:gd name="adj" fmla="val 14634"/>
            </a:avLst>
          </a:prstGeom>
          <a:solidFill>
            <a:srgbClr val="0A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ato 2 cifra"/>
          <p:cNvSpPr txBox="1"/>
          <p:nvPr/>
        </p:nvSpPr>
        <p:spPr>
          <a:xfrm>
            <a:off x="14249400" y="6934200"/>
            <a:ext cx="8077200" cy="111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7200">
                <a:solidFill>
                  <a:srgbClr val="84D700"/>
                </a:solidFill>
                <a:latin typeface="Open Sans ExtraBold"/>
                <a:ea typeface="Open Sans ExtraBold"/>
                <a:cs typeface="Open Sans ExtraBold"/>
              </a:rPr>
              <a:t>1</a:t>
            </a:r>
          </a:p>
        </p:txBody>
      </p:sp>
      <p:sp>
        <p:nvSpPr>
          <p:cNvPr id="10" name="Dato 2 texto"/>
          <p:cNvSpPr txBox="1"/>
          <p:nvPr/>
        </p:nvSpPr>
        <p:spPr>
          <a:xfrm>
            <a:off x="14249400" y="8102600"/>
            <a:ext cx="80772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320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ocupante por vehículo, en promedio</a:t>
            </a:r>
          </a:p>
        </p:txBody>
      </p:sp>
      <p:sp>
        <p:nvSpPr>
          <p:cNvPr id="11" name="Dato 3"/>
          <p:cNvSpPr/>
          <p:nvPr/>
        </p:nvSpPr>
        <p:spPr>
          <a:xfrm>
            <a:off x="13843000" y="9093200"/>
            <a:ext cx="8890000" cy="2082800"/>
          </a:xfrm>
          <a:prstGeom prst="roundRect">
            <a:avLst>
              <a:gd name="adj" fmla="val 14634"/>
            </a:avLst>
          </a:prstGeom>
          <a:solidFill>
            <a:srgbClr val="0A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ato 3 cifra"/>
          <p:cNvSpPr txBox="1"/>
          <p:nvPr/>
        </p:nvSpPr>
        <p:spPr>
          <a:xfrm>
            <a:off x="14249400" y="9321800"/>
            <a:ext cx="8077200" cy="111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7200">
                <a:solidFill>
                  <a:srgbClr val="84D700"/>
                </a:solidFill>
                <a:latin typeface="Open Sans ExtraBold"/>
                <a:ea typeface="Open Sans ExtraBold"/>
                <a:cs typeface="Open Sans ExtraBold"/>
              </a:rPr>
              <a:t>$125.000+</a:t>
            </a:r>
          </a:p>
        </p:txBody>
      </p:sp>
      <p:sp>
        <p:nvSpPr>
          <p:cNvPr id="13" name="Dato 3 texto"/>
          <p:cNvSpPr txBox="1"/>
          <p:nvPr/>
        </p:nvSpPr>
        <p:spPr>
          <a:xfrm>
            <a:off x="14249400" y="10490200"/>
            <a:ext cx="80772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320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parqueadero mensual de un carro</a:t>
            </a:r>
          </a:p>
        </p:txBody>
      </p:sp>
      <p:sp>
        <p:nvSpPr>
          <p:cNvPr id="14" name="Fuente"/>
          <p:cNvSpPr txBox="1"/>
          <p:nvPr/>
        </p:nvSpPr>
        <p:spPr>
          <a:xfrm>
            <a:off x="1651000" y="11506200"/>
            <a:ext cx="20320000" cy="4358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>
                <a:solidFill>
                  <a:srgbClr val="A7A7A7"/>
                </a:solidFill>
                <a:latin typeface="Open Sans"/>
                <a:ea typeface="Open Sans"/>
                <a:cs typeface="Open Sans"/>
              </a:rPr>
              <a:t>(RUNT, 2026; Dirección de tránsito de Bucaramanga, 2025; UNAB, 2026)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 de diapositiva"/>
          <p:cNvSpPr txBox="1"/>
          <p:nvPr/>
        </p:nvSpPr>
        <p:spPr>
          <a:xfrm>
            <a:off x="1651000" y="1625600"/>
            <a:ext cx="18288000" cy="12454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8000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</a:rPr>
              <a:t>¿Por qué importa?</a:t>
            </a:r>
          </a:p>
        </p:txBody>
      </p:sp>
      <p:sp>
        <p:nvSpPr>
          <p:cNvPr id="3" name="Tarjeta Congestión"/>
          <p:cNvSpPr/>
          <p:nvPr/>
        </p:nvSpPr>
        <p:spPr>
          <a:xfrm>
            <a:off x="1651000" y="4318000"/>
            <a:ext cx="10337800" cy="3225800"/>
          </a:xfrm>
          <a:prstGeom prst="roundRect">
            <a:avLst>
              <a:gd name="adj" fmla="val 9448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cono fondo car"/>
          <p:cNvSpPr/>
          <p:nvPr/>
        </p:nvSpPr>
        <p:spPr>
          <a:xfrm>
            <a:off x="2057400" y="4889500"/>
            <a:ext cx="2082800" cy="2082800"/>
          </a:xfrm>
          <a:prstGeom prst="roundRect">
            <a:avLst>
              <a:gd name="adj" fmla="val 14634"/>
            </a:avLst>
          </a:prstGeom>
          <a:solidFill>
            <a:srgbClr val="84D70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Icono car" descr="Icono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6800" y="5168900"/>
            <a:ext cx="1524000" cy="1524000"/>
          </a:xfrm>
          <a:prstGeom prst="rect">
            <a:avLst/>
          </a:prstGeom>
        </p:spPr>
      </p:pic>
      <p:sp>
        <p:nvSpPr>
          <p:cNvPr id="6" name="Congestión título"/>
          <p:cNvSpPr txBox="1"/>
          <p:nvPr/>
        </p:nvSpPr>
        <p:spPr>
          <a:xfrm>
            <a:off x="4546600" y="4850994"/>
            <a:ext cx="7035800" cy="812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5200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</a:rPr>
              <a:t>Congestión</a:t>
            </a:r>
          </a:p>
        </p:txBody>
      </p:sp>
      <p:sp>
        <p:nvSpPr>
          <p:cNvPr id="7" name="Congestión texto"/>
          <p:cNvSpPr txBox="1"/>
          <p:nvPr/>
        </p:nvSpPr>
        <p:spPr>
          <a:xfrm>
            <a:off x="4546600" y="5765394"/>
            <a:ext cx="7035800" cy="12454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400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Estancamientos en las horas pico</a:t>
            </a:r>
          </a:p>
        </p:txBody>
      </p:sp>
      <p:sp>
        <p:nvSpPr>
          <p:cNvPr id="8" name="Tarjeta Costo"/>
          <p:cNvSpPr/>
          <p:nvPr/>
        </p:nvSpPr>
        <p:spPr>
          <a:xfrm>
            <a:off x="12395200" y="4318000"/>
            <a:ext cx="10337800" cy="3225800"/>
          </a:xfrm>
          <a:prstGeom prst="roundRect">
            <a:avLst>
              <a:gd name="adj" fmla="val 9448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cono fondo wallet"/>
          <p:cNvSpPr/>
          <p:nvPr/>
        </p:nvSpPr>
        <p:spPr>
          <a:xfrm>
            <a:off x="12801600" y="4889500"/>
            <a:ext cx="2082800" cy="2082800"/>
          </a:xfrm>
          <a:prstGeom prst="roundRect">
            <a:avLst>
              <a:gd name="adj" fmla="val 14634"/>
            </a:avLst>
          </a:prstGeom>
          <a:solidFill>
            <a:srgbClr val="84D70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cono wallet" descr="Icono walle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81000" y="5168900"/>
            <a:ext cx="1524000" cy="1524000"/>
          </a:xfrm>
          <a:prstGeom prst="rect">
            <a:avLst/>
          </a:prstGeom>
        </p:spPr>
      </p:pic>
      <p:sp>
        <p:nvSpPr>
          <p:cNvPr id="11" name="Costo título"/>
          <p:cNvSpPr txBox="1"/>
          <p:nvPr/>
        </p:nvSpPr>
        <p:spPr>
          <a:xfrm>
            <a:off x="15290800" y="4850994"/>
            <a:ext cx="7035800" cy="812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5200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</a:rPr>
              <a:t>Costo</a:t>
            </a:r>
          </a:p>
        </p:txBody>
      </p:sp>
      <p:sp>
        <p:nvSpPr>
          <p:cNvPr id="12" name="Costo texto"/>
          <p:cNvSpPr txBox="1"/>
          <p:nvPr/>
        </p:nvSpPr>
        <p:spPr>
          <a:xfrm>
            <a:off x="15290800" y="5765394"/>
            <a:ext cx="7035800" cy="12454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400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Gasolina a $16.049 el galón y parqueaderos saturados</a:t>
            </a:r>
          </a:p>
        </p:txBody>
      </p:sp>
      <p:sp>
        <p:nvSpPr>
          <p:cNvPr id="13" name="Tarjeta Seguridad"/>
          <p:cNvSpPr/>
          <p:nvPr/>
        </p:nvSpPr>
        <p:spPr>
          <a:xfrm>
            <a:off x="1651000" y="7950200"/>
            <a:ext cx="10337800" cy="3225800"/>
          </a:xfrm>
          <a:prstGeom prst="roundRect">
            <a:avLst>
              <a:gd name="adj" fmla="val 9448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cono fondo shield-check"/>
          <p:cNvSpPr/>
          <p:nvPr/>
        </p:nvSpPr>
        <p:spPr>
          <a:xfrm>
            <a:off x="2057400" y="8521700"/>
            <a:ext cx="2082800" cy="2082800"/>
          </a:xfrm>
          <a:prstGeom prst="roundRect">
            <a:avLst>
              <a:gd name="adj" fmla="val 14634"/>
            </a:avLst>
          </a:prstGeom>
          <a:solidFill>
            <a:srgbClr val="84D70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Icono shield-check" descr="Icono shield-chec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6800" y="8801100"/>
            <a:ext cx="1524000" cy="1524000"/>
          </a:xfrm>
          <a:prstGeom prst="rect">
            <a:avLst/>
          </a:prstGeom>
        </p:spPr>
      </p:pic>
      <p:sp>
        <p:nvSpPr>
          <p:cNvPr id="16" name="Seguridad título"/>
          <p:cNvSpPr txBox="1"/>
          <p:nvPr/>
        </p:nvSpPr>
        <p:spPr>
          <a:xfrm>
            <a:off x="4546600" y="8483194"/>
            <a:ext cx="7035800" cy="812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5200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</a:rPr>
              <a:t>Seguridad</a:t>
            </a:r>
          </a:p>
        </p:txBody>
      </p:sp>
      <p:sp>
        <p:nvSpPr>
          <p:cNvPr id="17" name="Seguridad texto"/>
          <p:cNvSpPr txBox="1"/>
          <p:nvPr/>
        </p:nvSpPr>
        <p:spPr>
          <a:xfrm>
            <a:off x="4546600" y="9397594"/>
            <a:ext cx="7035800" cy="12454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400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Una alternativa al transporte informal</a:t>
            </a:r>
          </a:p>
        </p:txBody>
      </p:sp>
      <p:sp>
        <p:nvSpPr>
          <p:cNvPr id="18" name="Tarjeta Sostenibilidad"/>
          <p:cNvSpPr/>
          <p:nvPr/>
        </p:nvSpPr>
        <p:spPr>
          <a:xfrm>
            <a:off x="12395200" y="7950200"/>
            <a:ext cx="10337800" cy="3225800"/>
          </a:xfrm>
          <a:prstGeom prst="roundRect">
            <a:avLst>
              <a:gd name="adj" fmla="val 9448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cono fondo leaf"/>
          <p:cNvSpPr/>
          <p:nvPr/>
        </p:nvSpPr>
        <p:spPr>
          <a:xfrm>
            <a:off x="12801600" y="8521700"/>
            <a:ext cx="2082800" cy="2082800"/>
          </a:xfrm>
          <a:prstGeom prst="roundRect">
            <a:avLst>
              <a:gd name="adj" fmla="val 14634"/>
            </a:avLst>
          </a:prstGeom>
          <a:solidFill>
            <a:srgbClr val="84D70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Icono leaf" descr="Icono lea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81000" y="8801100"/>
            <a:ext cx="1524000" cy="1524000"/>
          </a:xfrm>
          <a:prstGeom prst="rect">
            <a:avLst/>
          </a:prstGeom>
        </p:spPr>
      </p:pic>
      <p:sp>
        <p:nvSpPr>
          <p:cNvPr id="21" name="Sostenibilidad título"/>
          <p:cNvSpPr txBox="1"/>
          <p:nvPr/>
        </p:nvSpPr>
        <p:spPr>
          <a:xfrm>
            <a:off x="15290800" y="8483194"/>
            <a:ext cx="7035800" cy="812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5200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</a:rPr>
              <a:t>Sostenibilidad</a:t>
            </a:r>
          </a:p>
        </p:txBody>
      </p:sp>
      <p:sp>
        <p:nvSpPr>
          <p:cNvPr id="22" name="Sostenibilidad texto"/>
          <p:cNvSpPr txBox="1"/>
          <p:nvPr/>
        </p:nvSpPr>
        <p:spPr>
          <a:xfrm>
            <a:off x="15290800" y="9397594"/>
            <a:ext cx="7035800" cy="12454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400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Menor huella de carbono institucional</a:t>
            </a:r>
          </a:p>
        </p:txBody>
      </p:sp>
      <p:sp>
        <p:nvSpPr>
          <p:cNvPr id="23" name="Citas"/>
          <p:cNvSpPr txBox="1"/>
          <p:nvPr/>
        </p:nvSpPr>
        <p:spPr>
          <a:xfrm>
            <a:off x="1651000" y="11506200"/>
            <a:ext cx="20320000" cy="4358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>
                <a:solidFill>
                  <a:srgbClr val="5E5E5E"/>
                </a:solidFill>
                <a:latin typeface="Open Sans"/>
                <a:ea typeface="Open Sans"/>
                <a:cs typeface="Open Sans"/>
              </a:rPr>
              <a:t>(UNAB, 2026; CREG, 2026)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 de diapositiva"/>
          <p:cNvSpPr txBox="1"/>
          <p:nvPr/>
        </p:nvSpPr>
        <p:spPr>
          <a:xfrm>
            <a:off x="1651000" y="1625600"/>
            <a:ext cx="18288000" cy="12454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8000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</a:rPr>
              <a:t>Objetivos</a:t>
            </a:r>
          </a:p>
        </p:txBody>
      </p:sp>
      <p:sp>
        <p:nvSpPr>
          <p:cNvPr id="3" name="Etiqueta Objetivo general"/>
          <p:cNvSpPr txBox="1"/>
          <p:nvPr/>
        </p:nvSpPr>
        <p:spPr>
          <a:xfrm>
            <a:off x="1651000" y="4013200"/>
            <a:ext cx="10160000" cy="467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3000" spc="100">
                <a:solidFill>
                  <a:srgbClr val="5E5E5E"/>
                </a:solidFill>
                <a:latin typeface="Open Sans ExtraBold"/>
                <a:ea typeface="Open Sans ExtraBold"/>
                <a:cs typeface="Open Sans ExtraBold"/>
              </a:rPr>
              <a:t>OBJETIVO GENERAL</a:t>
            </a:r>
          </a:p>
        </p:txBody>
      </p:sp>
      <p:sp>
        <p:nvSpPr>
          <p:cNvPr id="4" name="Objetivo general"/>
          <p:cNvSpPr txBox="1"/>
          <p:nvPr/>
        </p:nvSpPr>
        <p:spPr>
          <a:xfrm>
            <a:off x="1651000" y="4572000"/>
            <a:ext cx="21082000" cy="16190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5200">
                <a:solidFill>
                  <a:srgbClr val="84D700"/>
                </a:solidFill>
                <a:latin typeface="Open Sans ExtraBold"/>
                <a:ea typeface="Open Sans ExtraBold"/>
                <a:cs typeface="Open Sans ExtraBold"/>
              </a:rPr>
              <a:t>Desarrollar</a:t>
            </a:r>
            <a:r>
              <a:rPr sz="5200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</a:rPr>
              <a:t> un carpooling con IA que reduzca tiempos y sobrecostos y aumente la ocupación vehicular en la UNAB</a:t>
            </a:r>
          </a:p>
        </p:txBody>
      </p:sp>
      <p:sp>
        <p:nvSpPr>
          <p:cNvPr id="5" name="Etiqueta Objetivos específicos"/>
          <p:cNvSpPr txBox="1"/>
          <p:nvPr/>
        </p:nvSpPr>
        <p:spPr>
          <a:xfrm>
            <a:off x="1651000" y="6680200"/>
            <a:ext cx="10160000" cy="467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3000" spc="100">
                <a:solidFill>
                  <a:srgbClr val="5E5E5E"/>
                </a:solidFill>
                <a:latin typeface="Open Sans ExtraBold"/>
                <a:ea typeface="Open Sans ExtraBold"/>
                <a:cs typeface="Open Sans ExtraBold"/>
              </a:rPr>
              <a:t>OBJETIVOS ESPECÍFICOS</a:t>
            </a:r>
          </a:p>
        </p:txBody>
      </p:sp>
      <p:sp>
        <p:nvSpPr>
          <p:cNvPr id="6" name="Objetivo 1"/>
          <p:cNvSpPr/>
          <p:nvPr/>
        </p:nvSpPr>
        <p:spPr>
          <a:xfrm>
            <a:off x="1651000" y="7289800"/>
            <a:ext cx="4965700" cy="4572000"/>
          </a:xfrm>
          <a:prstGeom prst="roundRect">
            <a:avLst>
              <a:gd name="adj" fmla="val 6666"/>
            </a:avLst>
          </a:prstGeom>
          <a:solidFill>
            <a:srgbClr val="002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bjetivo 1 número"/>
          <p:cNvSpPr txBox="1"/>
          <p:nvPr/>
        </p:nvSpPr>
        <p:spPr>
          <a:xfrm>
            <a:off x="1955800" y="7442200"/>
            <a:ext cx="4356100" cy="149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9600">
                <a:solidFill>
                  <a:srgbClr val="84D700"/>
                </a:solidFill>
                <a:latin typeface="Open Sans ExtraBold"/>
                <a:ea typeface="Open Sans ExtraBold"/>
                <a:cs typeface="Open Sans ExtraBold"/>
              </a:rPr>
              <a:t>1</a:t>
            </a:r>
          </a:p>
        </p:txBody>
      </p:sp>
      <p:sp>
        <p:nvSpPr>
          <p:cNvPr id="8" name="Objetivo 1 verbo"/>
          <p:cNvSpPr txBox="1"/>
          <p:nvPr/>
        </p:nvSpPr>
        <p:spPr>
          <a:xfrm>
            <a:off x="1955800" y="8966200"/>
            <a:ext cx="4356100" cy="8095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5200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</a:rPr>
              <a:t>Diagnosticar</a:t>
            </a:r>
          </a:p>
        </p:txBody>
      </p:sp>
      <p:sp>
        <p:nvSpPr>
          <p:cNvPr id="9" name="Objetivo 1 texto"/>
          <p:cNvSpPr txBox="1"/>
          <p:nvPr/>
        </p:nvSpPr>
        <p:spPr>
          <a:xfrm>
            <a:off x="1955800" y="9855200"/>
            <a:ext cx="4356100" cy="18681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400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hábitos de movilidad y seguridad</a:t>
            </a:r>
          </a:p>
        </p:txBody>
      </p:sp>
      <p:sp>
        <p:nvSpPr>
          <p:cNvPr id="10" name="Objetivo 2"/>
          <p:cNvSpPr/>
          <p:nvPr/>
        </p:nvSpPr>
        <p:spPr>
          <a:xfrm>
            <a:off x="7023100" y="7289800"/>
            <a:ext cx="4965700" cy="4572000"/>
          </a:xfrm>
          <a:prstGeom prst="roundRect">
            <a:avLst>
              <a:gd name="adj" fmla="val 6666"/>
            </a:avLst>
          </a:prstGeom>
          <a:solidFill>
            <a:srgbClr val="002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bjetivo 2 número"/>
          <p:cNvSpPr txBox="1"/>
          <p:nvPr/>
        </p:nvSpPr>
        <p:spPr>
          <a:xfrm>
            <a:off x="7327900" y="7442200"/>
            <a:ext cx="4356100" cy="149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9600">
                <a:solidFill>
                  <a:srgbClr val="84D700"/>
                </a:solidFill>
                <a:latin typeface="Open Sans ExtraBold"/>
                <a:ea typeface="Open Sans ExtraBold"/>
                <a:cs typeface="Open Sans ExtraBold"/>
              </a:rPr>
              <a:t>2</a:t>
            </a:r>
          </a:p>
        </p:txBody>
      </p:sp>
      <p:sp>
        <p:nvSpPr>
          <p:cNvPr id="12" name="Objetivo 2 verbo"/>
          <p:cNvSpPr txBox="1"/>
          <p:nvPr/>
        </p:nvSpPr>
        <p:spPr>
          <a:xfrm>
            <a:off x="7327900" y="8966200"/>
            <a:ext cx="4356100" cy="8095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5200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</a:rPr>
              <a:t>Modelar</a:t>
            </a:r>
          </a:p>
        </p:txBody>
      </p:sp>
      <p:sp>
        <p:nvSpPr>
          <p:cNvPr id="13" name="Objetivo 2 texto"/>
          <p:cNvSpPr txBox="1"/>
          <p:nvPr/>
        </p:nvSpPr>
        <p:spPr>
          <a:xfrm>
            <a:off x="7327900" y="9855200"/>
            <a:ext cx="4356100" cy="18681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400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arquitectura y optimización de rutas</a:t>
            </a:r>
          </a:p>
        </p:txBody>
      </p:sp>
      <p:sp>
        <p:nvSpPr>
          <p:cNvPr id="14" name="Objetivo 3"/>
          <p:cNvSpPr/>
          <p:nvPr/>
        </p:nvSpPr>
        <p:spPr>
          <a:xfrm>
            <a:off x="12395200" y="7289800"/>
            <a:ext cx="4965700" cy="4572000"/>
          </a:xfrm>
          <a:prstGeom prst="roundRect">
            <a:avLst>
              <a:gd name="adj" fmla="val 6666"/>
            </a:avLst>
          </a:prstGeom>
          <a:solidFill>
            <a:srgbClr val="002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bjetivo 3 número"/>
          <p:cNvSpPr txBox="1"/>
          <p:nvPr/>
        </p:nvSpPr>
        <p:spPr>
          <a:xfrm>
            <a:off x="12700000" y="7442200"/>
            <a:ext cx="4356100" cy="149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9600">
                <a:solidFill>
                  <a:srgbClr val="84D700"/>
                </a:solidFill>
                <a:latin typeface="Open Sans ExtraBold"/>
                <a:ea typeface="Open Sans ExtraBold"/>
                <a:cs typeface="Open Sans ExtraBold"/>
              </a:rPr>
              <a:t>3</a:t>
            </a:r>
          </a:p>
        </p:txBody>
      </p:sp>
      <p:sp>
        <p:nvSpPr>
          <p:cNvPr id="16" name="Objetivo 3 verbo"/>
          <p:cNvSpPr txBox="1"/>
          <p:nvPr/>
        </p:nvSpPr>
        <p:spPr>
          <a:xfrm>
            <a:off x="12700000" y="8966200"/>
            <a:ext cx="4356100" cy="8095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5200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</a:rPr>
              <a:t>Desarrollar</a:t>
            </a:r>
          </a:p>
        </p:txBody>
      </p:sp>
      <p:sp>
        <p:nvSpPr>
          <p:cNvPr id="17" name="Objetivo 3 texto"/>
          <p:cNvSpPr txBox="1"/>
          <p:nvPr/>
        </p:nvSpPr>
        <p:spPr>
          <a:xfrm>
            <a:off x="12700000" y="9855200"/>
            <a:ext cx="4356100" cy="18681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400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APIs, rastreo en vivo y notificaciones</a:t>
            </a:r>
          </a:p>
        </p:txBody>
      </p:sp>
      <p:sp>
        <p:nvSpPr>
          <p:cNvPr id="18" name="Objetivo 4"/>
          <p:cNvSpPr/>
          <p:nvPr/>
        </p:nvSpPr>
        <p:spPr>
          <a:xfrm>
            <a:off x="17767300" y="7289800"/>
            <a:ext cx="4965700" cy="4572000"/>
          </a:xfrm>
          <a:prstGeom prst="roundRect">
            <a:avLst>
              <a:gd name="adj" fmla="val 6666"/>
            </a:avLst>
          </a:prstGeom>
          <a:solidFill>
            <a:srgbClr val="002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bjetivo 4 número"/>
          <p:cNvSpPr txBox="1"/>
          <p:nvPr/>
        </p:nvSpPr>
        <p:spPr>
          <a:xfrm>
            <a:off x="18072100" y="7442200"/>
            <a:ext cx="4356100" cy="149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9600">
                <a:solidFill>
                  <a:srgbClr val="84D700"/>
                </a:solidFill>
                <a:latin typeface="Open Sans ExtraBold"/>
                <a:ea typeface="Open Sans ExtraBold"/>
                <a:cs typeface="Open Sans ExtraBold"/>
              </a:rPr>
              <a:t>4</a:t>
            </a:r>
          </a:p>
        </p:txBody>
      </p:sp>
      <p:sp>
        <p:nvSpPr>
          <p:cNvPr id="20" name="Objetivo 4 verbo"/>
          <p:cNvSpPr txBox="1"/>
          <p:nvPr/>
        </p:nvSpPr>
        <p:spPr>
          <a:xfrm>
            <a:off x="18072100" y="8966200"/>
            <a:ext cx="4356100" cy="8095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5200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</a:rPr>
              <a:t>Evaluar</a:t>
            </a:r>
          </a:p>
        </p:txBody>
      </p:sp>
      <p:sp>
        <p:nvSpPr>
          <p:cNvPr id="21" name="Objetivo 4 texto"/>
          <p:cNvSpPr txBox="1"/>
          <p:nvPr/>
        </p:nvSpPr>
        <p:spPr>
          <a:xfrm>
            <a:off x="18072100" y="9855200"/>
            <a:ext cx="4356100" cy="18681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400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rendimiento, usabilidad e impacto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 de diapositiva"/>
          <p:cNvSpPr txBox="1"/>
          <p:nvPr/>
        </p:nvSpPr>
        <p:spPr>
          <a:xfrm>
            <a:off x="1651000" y="1625600"/>
            <a:ext cx="18288000" cy="12454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8000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</a:rPr>
              <a:t>Estado del arte</a:t>
            </a:r>
          </a:p>
        </p:txBody>
      </p:sp>
      <p:sp>
        <p:nvSpPr>
          <p:cNvPr id="3" name="Encabezado Comunidad verificada"/>
          <p:cNvSpPr txBox="1"/>
          <p:nvPr/>
        </p:nvSpPr>
        <p:spPr>
          <a:xfrm>
            <a:off x="7239000" y="4191000"/>
            <a:ext cx="3670300" cy="9340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sz="3000" spc="100">
                <a:solidFill>
                  <a:srgbClr val="5E5E5E"/>
                </a:solidFill>
                <a:latin typeface="Open Sans ExtraBold"/>
                <a:ea typeface="Open Sans ExtraBold"/>
                <a:cs typeface="Open Sans ExtraBold"/>
              </a:rPr>
              <a:t>COMUNIDAD VERIFICADA</a:t>
            </a:r>
          </a:p>
        </p:txBody>
      </p:sp>
      <p:sp>
        <p:nvSpPr>
          <p:cNvPr id="4" name="Encabezado Empareja por ruta"/>
          <p:cNvSpPr txBox="1"/>
          <p:nvPr/>
        </p:nvSpPr>
        <p:spPr>
          <a:xfrm>
            <a:off x="11112500" y="4191000"/>
            <a:ext cx="3670300" cy="9340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sz="3000" spc="100">
                <a:solidFill>
                  <a:srgbClr val="5E5E5E"/>
                </a:solidFill>
                <a:latin typeface="Open Sans ExtraBold"/>
                <a:ea typeface="Open Sans ExtraBold"/>
                <a:cs typeface="Open Sans ExtraBold"/>
              </a:rPr>
              <a:t>EMPAREJA POR RUTA</a:t>
            </a:r>
          </a:p>
        </p:txBody>
      </p:sp>
      <p:sp>
        <p:nvSpPr>
          <p:cNvPr id="5" name="Encabezado Paradas sugeridas"/>
          <p:cNvSpPr txBox="1"/>
          <p:nvPr/>
        </p:nvSpPr>
        <p:spPr>
          <a:xfrm>
            <a:off x="14986000" y="4191000"/>
            <a:ext cx="3670300" cy="9340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sz="3000" spc="100">
                <a:solidFill>
                  <a:srgbClr val="5E5E5E"/>
                </a:solidFill>
                <a:latin typeface="Open Sans ExtraBold"/>
                <a:ea typeface="Open Sans ExtraBold"/>
                <a:cs typeface="Open Sans ExtraBold"/>
              </a:rPr>
              <a:t>PARADAS SUGERIDAS</a:t>
            </a:r>
          </a:p>
        </p:txBody>
      </p:sp>
      <p:sp>
        <p:nvSpPr>
          <p:cNvPr id="6" name="Encabezado Enfoque UNAB"/>
          <p:cNvSpPr txBox="1"/>
          <p:nvPr/>
        </p:nvSpPr>
        <p:spPr>
          <a:xfrm>
            <a:off x="18859500" y="4191000"/>
            <a:ext cx="3670300" cy="9340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sz="3000" spc="100">
                <a:solidFill>
                  <a:srgbClr val="5E5E5E"/>
                </a:solidFill>
                <a:latin typeface="Open Sans ExtraBold"/>
                <a:ea typeface="Open Sans ExtraBold"/>
                <a:cs typeface="Open Sans ExtraBold"/>
              </a:rPr>
              <a:t>ENFOQUE UNAB</a:t>
            </a:r>
          </a:p>
        </p:txBody>
      </p:sp>
      <p:sp>
        <p:nvSpPr>
          <p:cNvPr id="7" name="Fila Redes sociales"/>
          <p:cNvSpPr/>
          <p:nvPr/>
        </p:nvSpPr>
        <p:spPr>
          <a:xfrm>
            <a:off x="1651000" y="5334000"/>
            <a:ext cx="21082000" cy="1651000"/>
          </a:xfrm>
          <a:prstGeom prst="roundRect">
            <a:avLst>
              <a:gd name="adj" fmla="val 18461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des sociales nombre"/>
          <p:cNvSpPr txBox="1"/>
          <p:nvPr/>
        </p:nvSpPr>
        <p:spPr>
          <a:xfrm>
            <a:off x="2057400" y="5334000"/>
            <a:ext cx="4978400" cy="16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0000"/>
              </a:lnSpc>
            </a:pPr>
            <a:r>
              <a:rPr sz="4400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</a:rPr>
              <a:t>Redes sociales</a:t>
            </a:r>
          </a:p>
        </p:txBody>
      </p:sp>
      <p:sp>
        <p:nvSpPr>
          <p:cNvPr id="9" name="Sin dato Redes sociales 1"/>
          <p:cNvSpPr txBox="1"/>
          <p:nvPr/>
        </p:nvSpPr>
        <p:spPr>
          <a:xfrm>
            <a:off x="8413750" y="5334000"/>
            <a:ext cx="1524000" cy="16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sz="5600">
                <a:solidFill>
                  <a:srgbClr val="5E5E5E"/>
                </a:solidFill>
                <a:latin typeface="Open Sans ExtraBold"/>
                <a:ea typeface="Open Sans ExtraBold"/>
                <a:cs typeface="Open Sans ExtraBold"/>
              </a:rPr>
              <a:t>—</a:t>
            </a:r>
          </a:p>
        </p:txBody>
      </p:sp>
      <p:sp>
        <p:nvSpPr>
          <p:cNvPr id="10" name="Sin dato Redes sociales 2"/>
          <p:cNvSpPr txBox="1"/>
          <p:nvPr/>
        </p:nvSpPr>
        <p:spPr>
          <a:xfrm>
            <a:off x="12287250" y="5334000"/>
            <a:ext cx="1524000" cy="16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sz="5600">
                <a:solidFill>
                  <a:srgbClr val="5E5E5E"/>
                </a:solidFill>
                <a:latin typeface="Open Sans ExtraBold"/>
                <a:ea typeface="Open Sans ExtraBold"/>
                <a:cs typeface="Open Sans ExtraBold"/>
              </a:rPr>
              <a:t>—</a:t>
            </a:r>
          </a:p>
        </p:txBody>
      </p:sp>
      <p:sp>
        <p:nvSpPr>
          <p:cNvPr id="11" name="Sin dato Redes sociales 3"/>
          <p:cNvSpPr txBox="1"/>
          <p:nvPr/>
        </p:nvSpPr>
        <p:spPr>
          <a:xfrm>
            <a:off x="16160750" y="5334000"/>
            <a:ext cx="1524000" cy="16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sz="5600">
                <a:solidFill>
                  <a:srgbClr val="5E5E5E"/>
                </a:solidFill>
                <a:latin typeface="Open Sans ExtraBold"/>
                <a:ea typeface="Open Sans ExtraBold"/>
                <a:cs typeface="Open Sans ExtraBold"/>
              </a:rPr>
              <a:t>—</a:t>
            </a:r>
          </a:p>
        </p:txBody>
      </p:sp>
      <p:sp>
        <p:nvSpPr>
          <p:cNvPr id="12" name="Sin dato Redes sociales 4"/>
          <p:cNvSpPr txBox="1"/>
          <p:nvPr/>
        </p:nvSpPr>
        <p:spPr>
          <a:xfrm>
            <a:off x="20034250" y="5334000"/>
            <a:ext cx="1524000" cy="16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sz="5600">
                <a:solidFill>
                  <a:srgbClr val="5E5E5E"/>
                </a:solidFill>
                <a:latin typeface="Open Sans ExtraBold"/>
                <a:ea typeface="Open Sans ExtraBold"/>
                <a:cs typeface="Open Sans ExtraBold"/>
              </a:rPr>
              <a:t>—</a:t>
            </a:r>
          </a:p>
        </p:txBody>
      </p:sp>
      <p:sp>
        <p:nvSpPr>
          <p:cNvPr id="13" name="Fila Vai · Uniandes"/>
          <p:cNvSpPr/>
          <p:nvPr/>
        </p:nvSpPr>
        <p:spPr>
          <a:xfrm>
            <a:off x="1651000" y="7239000"/>
            <a:ext cx="21082000" cy="1651000"/>
          </a:xfrm>
          <a:prstGeom prst="roundRect">
            <a:avLst>
              <a:gd name="adj" fmla="val 18461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Vai · Uniandes nombre"/>
          <p:cNvSpPr txBox="1"/>
          <p:nvPr/>
        </p:nvSpPr>
        <p:spPr>
          <a:xfrm>
            <a:off x="2057400" y="7239000"/>
            <a:ext cx="4978400" cy="16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0000"/>
              </a:lnSpc>
            </a:pPr>
            <a:r>
              <a:rPr sz="4400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</a:rPr>
              <a:t>Vai · Uniandes</a:t>
            </a:r>
          </a:p>
        </p:txBody>
      </p:sp>
      <p:sp>
        <p:nvSpPr>
          <p:cNvPr id="15" name="Sin dato Vai · Uniandes 1"/>
          <p:cNvSpPr txBox="1"/>
          <p:nvPr/>
        </p:nvSpPr>
        <p:spPr>
          <a:xfrm>
            <a:off x="8413750" y="7239000"/>
            <a:ext cx="1524000" cy="16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sz="5600">
                <a:solidFill>
                  <a:srgbClr val="5E5E5E"/>
                </a:solidFill>
                <a:latin typeface="Open Sans ExtraBold"/>
                <a:ea typeface="Open Sans ExtraBold"/>
                <a:cs typeface="Open Sans ExtraBold"/>
              </a:rPr>
              <a:t>—</a:t>
            </a:r>
          </a:p>
        </p:txBody>
      </p:sp>
      <p:sp>
        <p:nvSpPr>
          <p:cNvPr id="16" name="Sin dato Vai · Uniandes 2"/>
          <p:cNvSpPr txBox="1"/>
          <p:nvPr/>
        </p:nvSpPr>
        <p:spPr>
          <a:xfrm>
            <a:off x="12287250" y="7239000"/>
            <a:ext cx="1524000" cy="16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sz="5600">
                <a:solidFill>
                  <a:srgbClr val="5E5E5E"/>
                </a:solidFill>
                <a:latin typeface="Open Sans ExtraBold"/>
                <a:ea typeface="Open Sans ExtraBold"/>
                <a:cs typeface="Open Sans ExtraBold"/>
              </a:rPr>
              <a:t>—</a:t>
            </a:r>
          </a:p>
        </p:txBody>
      </p:sp>
      <p:sp>
        <p:nvSpPr>
          <p:cNvPr id="17" name="Sin dato Vai · Uniandes 3"/>
          <p:cNvSpPr txBox="1"/>
          <p:nvPr/>
        </p:nvSpPr>
        <p:spPr>
          <a:xfrm>
            <a:off x="16160750" y="7239000"/>
            <a:ext cx="1524000" cy="16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sz="5600">
                <a:solidFill>
                  <a:srgbClr val="5E5E5E"/>
                </a:solidFill>
                <a:latin typeface="Open Sans ExtraBold"/>
                <a:ea typeface="Open Sans ExtraBold"/>
                <a:cs typeface="Open Sans ExtraBold"/>
              </a:rPr>
              <a:t>—</a:t>
            </a:r>
          </a:p>
        </p:txBody>
      </p:sp>
      <p:sp>
        <p:nvSpPr>
          <p:cNvPr id="18" name="Sin dato Vai · Uniandes 4"/>
          <p:cNvSpPr txBox="1"/>
          <p:nvPr/>
        </p:nvSpPr>
        <p:spPr>
          <a:xfrm>
            <a:off x="20034250" y="7239000"/>
            <a:ext cx="1524000" cy="16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sz="5600">
                <a:solidFill>
                  <a:srgbClr val="5E5E5E"/>
                </a:solidFill>
                <a:latin typeface="Open Sans ExtraBold"/>
                <a:ea typeface="Open Sans ExtraBold"/>
                <a:cs typeface="Open Sans ExtraBold"/>
              </a:rPr>
              <a:t>—</a:t>
            </a:r>
          </a:p>
        </p:txBody>
      </p:sp>
      <p:sp>
        <p:nvSpPr>
          <p:cNvPr id="19" name="Fila UniWheels"/>
          <p:cNvSpPr/>
          <p:nvPr/>
        </p:nvSpPr>
        <p:spPr>
          <a:xfrm>
            <a:off x="1651000" y="9144000"/>
            <a:ext cx="21082000" cy="1651000"/>
          </a:xfrm>
          <a:prstGeom prst="roundRect">
            <a:avLst>
              <a:gd name="adj" fmla="val 18461"/>
            </a:avLst>
          </a:prstGeom>
          <a:solidFill>
            <a:srgbClr val="002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UniWheels nombre"/>
          <p:cNvSpPr txBox="1"/>
          <p:nvPr/>
        </p:nvSpPr>
        <p:spPr>
          <a:xfrm>
            <a:off x="2057400" y="9144000"/>
            <a:ext cx="4978400" cy="16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0000"/>
              </a:lnSpc>
            </a:pPr>
            <a:r>
              <a:rPr sz="4400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</a:rPr>
              <a:t>UniWheels</a:t>
            </a:r>
          </a:p>
        </p:txBody>
      </p:sp>
      <p:sp>
        <p:nvSpPr>
          <p:cNvPr id="21" name="Check 1"/>
          <p:cNvSpPr/>
          <p:nvPr/>
        </p:nvSpPr>
        <p:spPr>
          <a:xfrm>
            <a:off x="8896350" y="9710420"/>
            <a:ext cx="558800" cy="405130"/>
          </a:xfrm>
          <a:custGeom>
            <a:avLst/>
            <a:gdLst/>
            <a:ahLst/>
            <a:cxnLst/>
            <a:rect l="l" t="t" r="r" b="b"/>
            <a:pathLst>
              <a:path w="558800" h="405130">
                <a:moveTo>
                  <a:pt x="0" y="195580"/>
                </a:moveTo>
                <a:lnTo>
                  <a:pt x="209550" y="405130"/>
                </a:lnTo>
                <a:lnTo>
                  <a:pt x="558800" y="0"/>
                </a:lnTo>
              </a:path>
            </a:pathLst>
          </a:custGeom>
          <a:noFill/>
          <a:ln w="114300" cap="rnd">
            <a:solidFill>
              <a:srgbClr val="84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eck 2"/>
          <p:cNvSpPr/>
          <p:nvPr/>
        </p:nvSpPr>
        <p:spPr>
          <a:xfrm>
            <a:off x="12769850" y="9710420"/>
            <a:ext cx="558800" cy="405130"/>
          </a:xfrm>
          <a:custGeom>
            <a:avLst/>
            <a:gdLst/>
            <a:ahLst/>
            <a:cxnLst/>
            <a:rect l="l" t="t" r="r" b="b"/>
            <a:pathLst>
              <a:path w="558800" h="405130">
                <a:moveTo>
                  <a:pt x="0" y="195580"/>
                </a:moveTo>
                <a:lnTo>
                  <a:pt x="209550" y="405130"/>
                </a:lnTo>
                <a:lnTo>
                  <a:pt x="558800" y="0"/>
                </a:lnTo>
              </a:path>
            </a:pathLst>
          </a:custGeom>
          <a:noFill/>
          <a:ln w="114300" cap="rnd">
            <a:solidFill>
              <a:srgbClr val="84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heck 3"/>
          <p:cNvSpPr/>
          <p:nvPr/>
        </p:nvSpPr>
        <p:spPr>
          <a:xfrm>
            <a:off x="16643350" y="9710420"/>
            <a:ext cx="558800" cy="405130"/>
          </a:xfrm>
          <a:custGeom>
            <a:avLst/>
            <a:gdLst/>
            <a:ahLst/>
            <a:cxnLst/>
            <a:rect l="l" t="t" r="r" b="b"/>
            <a:pathLst>
              <a:path w="558800" h="405130">
                <a:moveTo>
                  <a:pt x="0" y="195580"/>
                </a:moveTo>
                <a:lnTo>
                  <a:pt x="209550" y="405130"/>
                </a:lnTo>
                <a:lnTo>
                  <a:pt x="558800" y="0"/>
                </a:lnTo>
              </a:path>
            </a:pathLst>
          </a:custGeom>
          <a:noFill/>
          <a:ln w="114300" cap="rnd">
            <a:solidFill>
              <a:srgbClr val="84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eck 4"/>
          <p:cNvSpPr/>
          <p:nvPr/>
        </p:nvSpPr>
        <p:spPr>
          <a:xfrm>
            <a:off x="20516850" y="9710420"/>
            <a:ext cx="558800" cy="405130"/>
          </a:xfrm>
          <a:custGeom>
            <a:avLst/>
            <a:gdLst/>
            <a:ahLst/>
            <a:cxnLst/>
            <a:rect l="l" t="t" r="r" b="b"/>
            <a:pathLst>
              <a:path w="558800" h="405130">
                <a:moveTo>
                  <a:pt x="0" y="195580"/>
                </a:moveTo>
                <a:lnTo>
                  <a:pt x="209550" y="405130"/>
                </a:lnTo>
                <a:lnTo>
                  <a:pt x="558800" y="0"/>
                </a:lnTo>
              </a:path>
            </a:pathLst>
          </a:custGeom>
          <a:noFill/>
          <a:ln w="114300" cap="rnd">
            <a:solidFill>
              <a:srgbClr val="84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Leyenda"/>
          <p:cNvSpPr txBox="1"/>
          <p:nvPr/>
        </p:nvSpPr>
        <p:spPr>
          <a:xfrm>
            <a:off x="1651000" y="11506200"/>
            <a:ext cx="11430000" cy="4358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>
                <a:solidFill>
                  <a:srgbClr val="5E5E5E"/>
                </a:solidFill>
                <a:latin typeface="Open Sans"/>
                <a:ea typeface="Open Sans"/>
                <a:cs typeface="Open Sans"/>
              </a:rPr>
              <a:t>— sin dato en el documento</a:t>
            </a:r>
          </a:p>
        </p:txBody>
      </p:sp>
      <p:sp>
        <p:nvSpPr>
          <p:cNvPr id="26" name="Citas"/>
          <p:cNvSpPr txBox="1"/>
          <p:nvPr/>
        </p:nvSpPr>
        <p:spPr>
          <a:xfrm>
            <a:off x="15113000" y="11506200"/>
            <a:ext cx="7620000" cy="4358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90000"/>
              </a:lnSpc>
            </a:pPr>
            <a:r>
              <a:rPr sz="2800">
                <a:solidFill>
                  <a:srgbClr val="5E5E5E"/>
                </a:solidFill>
                <a:latin typeface="Open Sans"/>
                <a:ea typeface="Open Sans"/>
                <a:cs typeface="Open Sans"/>
              </a:rPr>
              <a:t>(Forbes, 2023)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 de diapositiva"/>
          <p:cNvSpPr txBox="1"/>
          <p:nvPr/>
        </p:nvSpPr>
        <p:spPr>
          <a:xfrm>
            <a:off x="1651000" y="1625600"/>
            <a:ext cx="18288000" cy="12454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8000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</a:rPr>
              <a:t>La solución</a:t>
            </a:r>
          </a:p>
        </p:txBody>
      </p:sp>
      <p:sp>
        <p:nvSpPr>
          <p:cNvPr id="3" name="Marco teléfono"/>
          <p:cNvSpPr/>
          <p:nvPr/>
        </p:nvSpPr>
        <p:spPr>
          <a:xfrm>
            <a:off x="2413000" y="3810000"/>
            <a:ext cx="3949700" cy="8128000"/>
          </a:xfrm>
          <a:prstGeom prst="roundRect">
            <a:avLst>
              <a:gd name="adj" fmla="val 18006"/>
            </a:avLst>
          </a:prstGeom>
          <a:solidFill>
            <a:srgbClr val="111111"/>
          </a:solidFill>
          <a:ln>
            <a:noFill/>
          </a:ln>
          <a:effectLst/>
          <a:effectLst>
            <a:outerShdw blurRad="508000" dist="63500" dir="5400000" algn="t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Captura real de la app" descr="Pantalla de inicio de la app móvil de UniWhee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3987800"/>
            <a:ext cx="3594100" cy="7772400"/>
          </a:xfrm>
          <a:prstGeom prst="roundRect">
            <a:avLst>
              <a:gd name="adj" fmla="val 15547"/>
            </a:avLst>
          </a:prstGeom>
        </p:spPr>
      </p:pic>
      <p:sp>
        <p:nvSpPr>
          <p:cNvPr id="5" name="Isla dinámica"/>
          <p:cNvSpPr/>
          <p:nvPr/>
        </p:nvSpPr>
        <p:spPr>
          <a:xfrm>
            <a:off x="3829050" y="4114800"/>
            <a:ext cx="1117600" cy="3048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ubtítulo"/>
          <p:cNvSpPr txBox="1"/>
          <p:nvPr/>
        </p:nvSpPr>
        <p:spPr>
          <a:xfrm>
            <a:off x="7620000" y="4191000"/>
            <a:ext cx="15113000" cy="8717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5600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</a:rPr>
              <a:t>Carpooling verificado</a:t>
            </a:r>
          </a:p>
        </p:txBody>
      </p:sp>
      <p:sp>
        <p:nvSpPr>
          <p:cNvPr id="7" name="Descripción"/>
          <p:cNvSpPr txBox="1"/>
          <p:nvPr/>
        </p:nvSpPr>
        <p:spPr>
          <a:xfrm>
            <a:off x="7620000" y="5334000"/>
            <a:ext cx="15113000" cy="130768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420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Conectamos conductores y pasajeros verificados de la comunidad UNAB: hacia las sedes, desde ellas y entre ellas.</a:t>
            </a:r>
          </a:p>
        </p:txBody>
      </p:sp>
      <p:sp>
        <p:nvSpPr>
          <p:cNvPr id="8" name="Etiqueta App móvil"/>
          <p:cNvSpPr/>
          <p:nvPr/>
        </p:nvSpPr>
        <p:spPr>
          <a:xfrm>
            <a:off x="7620000" y="8128000"/>
            <a:ext cx="6096000" cy="914400"/>
          </a:xfrm>
          <a:prstGeom prst="roundRect">
            <a:avLst>
              <a:gd name="adj" fmla="val 50000"/>
            </a:avLst>
          </a:prstGeom>
          <a:solidFill>
            <a:srgbClr val="84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0" bIns="0">
            <a:noAutofit/>
          </a:bodyPr>
          <a:lstStyle/>
          <a:p>
            <a:pPr algn="ctr"/>
            <a:r>
              <a:rPr sz="3200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</a:rPr>
              <a:t>App móvil</a:t>
            </a:r>
          </a:p>
        </p:txBody>
      </p:sp>
      <p:sp>
        <p:nvSpPr>
          <p:cNvPr id="9" name="Etiqueta Correo institucional"/>
          <p:cNvSpPr/>
          <p:nvPr/>
        </p:nvSpPr>
        <p:spPr>
          <a:xfrm>
            <a:off x="7620000" y="9347200"/>
            <a:ext cx="6096000" cy="914400"/>
          </a:xfrm>
          <a:prstGeom prst="roundRect">
            <a:avLst>
              <a:gd name="adj" fmla="val 50000"/>
            </a:avLst>
          </a:prstGeom>
          <a:solidFill>
            <a:srgbClr val="84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0" bIns="0">
            <a:noAutofit/>
          </a:bodyPr>
          <a:lstStyle/>
          <a:p>
            <a:pPr algn="ctr"/>
            <a:r>
              <a:rPr sz="3200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</a:rPr>
              <a:t>Correo institucional</a:t>
            </a:r>
          </a:p>
        </p:txBody>
      </p:sp>
      <p:sp>
        <p:nvSpPr>
          <p:cNvPr id="10" name="Etiqueta Sin pagos en la app"/>
          <p:cNvSpPr/>
          <p:nvPr/>
        </p:nvSpPr>
        <p:spPr>
          <a:xfrm>
            <a:off x="7620000" y="10566400"/>
            <a:ext cx="6096000" cy="914400"/>
          </a:xfrm>
          <a:prstGeom prst="roundRect">
            <a:avLst>
              <a:gd name="adj" fmla="val 50000"/>
            </a:avLst>
          </a:prstGeom>
          <a:solidFill>
            <a:srgbClr val="84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0" bIns="0">
            <a:noAutofit/>
          </a:bodyPr>
          <a:lstStyle/>
          <a:p>
            <a:pPr algn="ctr"/>
            <a:r>
              <a:rPr sz="3200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</a:rPr>
              <a:t>Sin pagos en la app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 de diapositiva"/>
          <p:cNvSpPr txBox="1"/>
          <p:nvPr/>
        </p:nvSpPr>
        <p:spPr>
          <a:xfrm>
            <a:off x="1651000" y="1625600"/>
            <a:ext cx="18288000" cy="12454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8000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</a:rPr>
              <a:t>Cómo funciona</a:t>
            </a:r>
          </a:p>
        </p:txBody>
      </p:sp>
      <p:sp>
        <p:nvSpPr>
          <p:cNvPr id="3" name="Paso 1"/>
          <p:cNvSpPr/>
          <p:nvPr/>
        </p:nvSpPr>
        <p:spPr>
          <a:xfrm>
            <a:off x="1651000" y="4318000"/>
            <a:ext cx="4965700" cy="7112000"/>
          </a:xfrm>
          <a:prstGeom prst="roundRect">
            <a:avLst>
              <a:gd name="adj" fmla="val 6138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so 1 número"/>
          <p:cNvSpPr/>
          <p:nvPr/>
        </p:nvSpPr>
        <p:spPr>
          <a:xfrm>
            <a:off x="3117850" y="4826000"/>
            <a:ext cx="2032000" cy="2032000"/>
          </a:xfrm>
          <a:prstGeom prst="ellipse">
            <a:avLst/>
          </a:prstGeom>
          <a:solidFill>
            <a:srgbClr val="84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  <a:r>
              <a:rPr sz="8000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</a:rPr>
              <a:t>1</a:t>
            </a:r>
          </a:p>
        </p:txBody>
      </p:sp>
      <p:sp>
        <p:nvSpPr>
          <p:cNvPr id="5" name="Paso 1 título"/>
          <p:cNvSpPr txBox="1"/>
          <p:nvPr/>
        </p:nvSpPr>
        <p:spPr>
          <a:xfrm>
            <a:off x="1955800" y="7239000"/>
            <a:ext cx="4356100" cy="8717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sz="5600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</a:rPr>
              <a:t>Publicar</a:t>
            </a:r>
          </a:p>
        </p:txBody>
      </p:sp>
      <p:sp>
        <p:nvSpPr>
          <p:cNvPr id="6" name="Paso 1 texto"/>
          <p:cNvSpPr txBox="1"/>
          <p:nvPr/>
        </p:nvSpPr>
        <p:spPr>
          <a:xfrm>
            <a:off x="1955800" y="8255000"/>
            <a:ext cx="4356100" cy="18681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sz="400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El conductor define la ruta que ya hace</a:t>
            </a:r>
          </a:p>
        </p:txBody>
      </p:sp>
      <p:sp>
        <p:nvSpPr>
          <p:cNvPr id="7" name="Paso 2"/>
          <p:cNvSpPr/>
          <p:nvPr/>
        </p:nvSpPr>
        <p:spPr>
          <a:xfrm>
            <a:off x="7023100" y="4318000"/>
            <a:ext cx="4965700" cy="7112000"/>
          </a:xfrm>
          <a:prstGeom prst="roundRect">
            <a:avLst>
              <a:gd name="adj" fmla="val 6138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so 2 número"/>
          <p:cNvSpPr/>
          <p:nvPr/>
        </p:nvSpPr>
        <p:spPr>
          <a:xfrm>
            <a:off x="8489950" y="4826000"/>
            <a:ext cx="2032000" cy="2032000"/>
          </a:xfrm>
          <a:prstGeom prst="ellipse">
            <a:avLst/>
          </a:prstGeom>
          <a:solidFill>
            <a:srgbClr val="84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  <a:r>
              <a:rPr sz="8000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</a:rPr>
              <a:t>2</a:t>
            </a:r>
          </a:p>
        </p:txBody>
      </p:sp>
      <p:sp>
        <p:nvSpPr>
          <p:cNvPr id="9" name="Paso 2 título"/>
          <p:cNvSpPr txBox="1"/>
          <p:nvPr/>
        </p:nvSpPr>
        <p:spPr>
          <a:xfrm>
            <a:off x="7327900" y="7239000"/>
            <a:ext cx="4356100" cy="8717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sz="5600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</a:rPr>
              <a:t>Reservar</a:t>
            </a:r>
          </a:p>
        </p:txBody>
      </p:sp>
      <p:sp>
        <p:nvSpPr>
          <p:cNvPr id="10" name="Paso 2 texto"/>
          <p:cNvSpPr txBox="1"/>
          <p:nvPr/>
        </p:nvSpPr>
        <p:spPr>
          <a:xfrm>
            <a:off x="7327900" y="8255000"/>
            <a:ext cx="4356100" cy="12454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sz="400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El pasajero fija su punto de recogida</a:t>
            </a:r>
          </a:p>
        </p:txBody>
      </p:sp>
      <p:sp>
        <p:nvSpPr>
          <p:cNvPr id="11" name="Paso 3"/>
          <p:cNvSpPr/>
          <p:nvPr/>
        </p:nvSpPr>
        <p:spPr>
          <a:xfrm>
            <a:off x="12395200" y="4318000"/>
            <a:ext cx="4965700" cy="7112000"/>
          </a:xfrm>
          <a:prstGeom prst="roundRect">
            <a:avLst>
              <a:gd name="adj" fmla="val 6138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so 3 número"/>
          <p:cNvSpPr/>
          <p:nvPr/>
        </p:nvSpPr>
        <p:spPr>
          <a:xfrm>
            <a:off x="13862050" y="4826000"/>
            <a:ext cx="2032000" cy="2032000"/>
          </a:xfrm>
          <a:prstGeom prst="ellipse">
            <a:avLst/>
          </a:prstGeom>
          <a:solidFill>
            <a:srgbClr val="84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  <a:r>
              <a:rPr sz="8000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</a:rPr>
              <a:t>3</a:t>
            </a:r>
          </a:p>
        </p:txBody>
      </p:sp>
      <p:sp>
        <p:nvSpPr>
          <p:cNvPr id="13" name="Paso 3 título"/>
          <p:cNvSpPr txBox="1"/>
          <p:nvPr/>
        </p:nvSpPr>
        <p:spPr>
          <a:xfrm>
            <a:off x="12700000" y="7239000"/>
            <a:ext cx="4356100" cy="8717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sz="5600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</a:rPr>
              <a:t>Recoger</a:t>
            </a:r>
          </a:p>
        </p:txBody>
      </p:sp>
      <p:sp>
        <p:nvSpPr>
          <p:cNvPr id="14" name="Paso 3 texto"/>
          <p:cNvSpPr txBox="1"/>
          <p:nvPr/>
        </p:nvSpPr>
        <p:spPr>
          <a:xfrm>
            <a:off x="12700000" y="8255000"/>
            <a:ext cx="4356100" cy="18681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sz="400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El viaje inicia con verificación por PIN</a:t>
            </a:r>
          </a:p>
        </p:txBody>
      </p:sp>
      <p:sp>
        <p:nvSpPr>
          <p:cNvPr id="15" name="Paso 4"/>
          <p:cNvSpPr/>
          <p:nvPr/>
        </p:nvSpPr>
        <p:spPr>
          <a:xfrm>
            <a:off x="17767300" y="4318000"/>
            <a:ext cx="4965700" cy="7112000"/>
          </a:xfrm>
          <a:prstGeom prst="roundRect">
            <a:avLst>
              <a:gd name="adj" fmla="val 6138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so 4 número"/>
          <p:cNvSpPr/>
          <p:nvPr/>
        </p:nvSpPr>
        <p:spPr>
          <a:xfrm>
            <a:off x="19234150" y="4826000"/>
            <a:ext cx="2032000" cy="2032000"/>
          </a:xfrm>
          <a:prstGeom prst="ellipse">
            <a:avLst/>
          </a:prstGeom>
          <a:solidFill>
            <a:srgbClr val="84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  <a:r>
              <a:rPr sz="8000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</a:rPr>
              <a:t>4</a:t>
            </a:r>
          </a:p>
        </p:txBody>
      </p:sp>
      <p:sp>
        <p:nvSpPr>
          <p:cNvPr id="17" name="Paso 4 título"/>
          <p:cNvSpPr txBox="1"/>
          <p:nvPr/>
        </p:nvSpPr>
        <p:spPr>
          <a:xfrm>
            <a:off x="18072100" y="7239000"/>
            <a:ext cx="4356100" cy="8717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sz="5600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</a:rPr>
              <a:t>Finalizar</a:t>
            </a:r>
          </a:p>
        </p:txBody>
      </p:sp>
      <p:sp>
        <p:nvSpPr>
          <p:cNvPr id="18" name="Paso 4 texto"/>
          <p:cNvSpPr txBox="1"/>
          <p:nvPr/>
        </p:nvSpPr>
        <p:spPr>
          <a:xfrm>
            <a:off x="18072100" y="8255000"/>
            <a:ext cx="4356100" cy="12454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sz="400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El conductor cierra el viaje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 de diapositiva"/>
          <p:cNvSpPr txBox="1"/>
          <p:nvPr/>
        </p:nvSpPr>
        <p:spPr>
          <a:xfrm>
            <a:off x="1651000" y="1625600"/>
            <a:ext cx="18288000" cy="12454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8000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</a:rPr>
              <a:t>Arquitectura</a:t>
            </a:r>
          </a:p>
        </p:txBody>
      </p:sp>
      <p:sp>
        <p:nvSpPr>
          <p:cNvPr id="3" name="Etiqueta Clientes"/>
          <p:cNvSpPr txBox="1"/>
          <p:nvPr/>
        </p:nvSpPr>
        <p:spPr>
          <a:xfrm>
            <a:off x="1651000" y="3835400"/>
            <a:ext cx="3429000" cy="467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3000" spc="100">
                <a:solidFill>
                  <a:srgbClr val="5E5E5E"/>
                </a:solidFill>
                <a:latin typeface="Open Sans ExtraBold"/>
                <a:ea typeface="Open Sans ExtraBold"/>
                <a:cs typeface="Open Sans ExtraBold"/>
              </a:rPr>
              <a:t>CLIENTES</a:t>
            </a:r>
          </a:p>
        </p:txBody>
      </p:sp>
      <p:sp>
        <p:nvSpPr>
          <p:cNvPr id="4" name="Etiqueta Gateway"/>
          <p:cNvSpPr txBox="1"/>
          <p:nvPr/>
        </p:nvSpPr>
        <p:spPr>
          <a:xfrm>
            <a:off x="5969000" y="3835400"/>
            <a:ext cx="2794000" cy="467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3000" spc="100">
                <a:solidFill>
                  <a:srgbClr val="5E5E5E"/>
                </a:solidFill>
                <a:latin typeface="Open Sans ExtraBold"/>
                <a:ea typeface="Open Sans ExtraBold"/>
                <a:cs typeface="Open Sans ExtraBold"/>
              </a:rPr>
              <a:t>GATEWAY</a:t>
            </a:r>
          </a:p>
        </p:txBody>
      </p:sp>
      <p:sp>
        <p:nvSpPr>
          <p:cNvPr id="5" name="Etiqueta Microservicios"/>
          <p:cNvSpPr txBox="1"/>
          <p:nvPr/>
        </p:nvSpPr>
        <p:spPr>
          <a:xfrm>
            <a:off x="10287000" y="3835400"/>
            <a:ext cx="6350000" cy="467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3000" spc="100">
                <a:solidFill>
                  <a:srgbClr val="5E5E5E"/>
                </a:solidFill>
                <a:latin typeface="Open Sans ExtraBold"/>
                <a:ea typeface="Open Sans ExtraBold"/>
                <a:cs typeface="Open Sans ExtraBold"/>
              </a:rPr>
              <a:t>MICROSERVICIOS</a:t>
            </a:r>
          </a:p>
        </p:txBody>
      </p:sp>
      <p:sp>
        <p:nvSpPr>
          <p:cNvPr id="6" name="Etiqueta Externos"/>
          <p:cNvSpPr txBox="1"/>
          <p:nvPr/>
        </p:nvSpPr>
        <p:spPr>
          <a:xfrm>
            <a:off x="17653000" y="3835400"/>
            <a:ext cx="5080000" cy="467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3000" spc="100">
                <a:solidFill>
                  <a:srgbClr val="5E5E5E"/>
                </a:solidFill>
                <a:latin typeface="Open Sans ExtraBold"/>
                <a:ea typeface="Open Sans ExtraBold"/>
                <a:cs typeface="Open Sans ExtraBold"/>
              </a:rPr>
              <a:t>EXTERNOS</a:t>
            </a:r>
          </a:p>
        </p:txBody>
      </p:sp>
      <p:sp>
        <p:nvSpPr>
          <p:cNvPr id="7" name="App móvil"/>
          <p:cNvSpPr/>
          <p:nvPr/>
        </p:nvSpPr>
        <p:spPr>
          <a:xfrm>
            <a:off x="1651000" y="4445000"/>
            <a:ext cx="3429000" cy="1346200"/>
          </a:xfrm>
          <a:prstGeom prst="roundRect">
            <a:avLst>
              <a:gd name="adj" fmla="val 22641"/>
            </a:avLst>
          </a:prstGeom>
          <a:solidFill>
            <a:srgbClr val="002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sz="3600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</a:rPr>
              <a:t>App móvil</a:t>
            </a:r>
          </a:p>
          <a:p>
            <a:pPr algn="ctr">
              <a:lnSpc>
                <a:spcPct val="90000"/>
              </a:lnSpc>
            </a:pPr>
            <a:r>
              <a:rPr sz="2800">
                <a:solidFill>
                  <a:srgbClr val="84D700"/>
                </a:solidFill>
                <a:latin typeface="Open Sans"/>
                <a:ea typeface="Open Sans"/>
                <a:cs typeface="Open Sans"/>
              </a:rPr>
              <a:t>Expo · RN</a:t>
            </a:r>
          </a:p>
        </p:txBody>
      </p:sp>
      <p:sp>
        <p:nvSpPr>
          <p:cNvPr id="8" name="Panel admin"/>
          <p:cNvSpPr/>
          <p:nvPr/>
        </p:nvSpPr>
        <p:spPr>
          <a:xfrm>
            <a:off x="1651000" y="6299200"/>
            <a:ext cx="3429000" cy="1346200"/>
          </a:xfrm>
          <a:prstGeom prst="roundRect">
            <a:avLst>
              <a:gd name="adj" fmla="val 22641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sz="3600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</a:rPr>
              <a:t>Panel admin</a:t>
            </a:r>
          </a:p>
          <a:p>
            <a:pPr algn="ctr">
              <a:lnSpc>
                <a:spcPct val="90000"/>
              </a:lnSpc>
            </a:pPr>
            <a:r>
              <a:rPr sz="280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React · Vite</a:t>
            </a:r>
          </a:p>
        </p:txBody>
      </p:sp>
      <p:sp>
        <p:nvSpPr>
          <p:cNvPr id="9" name="Gateway"/>
          <p:cNvSpPr/>
          <p:nvPr/>
        </p:nvSpPr>
        <p:spPr>
          <a:xfrm>
            <a:off x="5969000" y="4445000"/>
            <a:ext cx="2794000" cy="6375400"/>
          </a:xfrm>
          <a:prstGeom prst="roundRect">
            <a:avLst>
              <a:gd name="adj" fmla="val 10909"/>
            </a:avLst>
          </a:prstGeom>
          <a:solidFill>
            <a:srgbClr val="84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sz="3600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</a:rPr>
              <a:t>Gateway</a:t>
            </a:r>
          </a:p>
          <a:p>
            <a:pPr algn="ctr">
              <a:lnSpc>
                <a:spcPct val="90000"/>
              </a:lnSpc>
            </a:pPr>
            <a:r>
              <a:rPr sz="28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nginx</a:t>
            </a:r>
          </a:p>
        </p:txBody>
      </p:sp>
      <p:sp>
        <p:nvSpPr>
          <p:cNvPr id="10" name="auth-service"/>
          <p:cNvSpPr/>
          <p:nvPr/>
        </p:nvSpPr>
        <p:spPr>
          <a:xfrm>
            <a:off x="10287000" y="4445000"/>
            <a:ext cx="6350000" cy="1092200"/>
          </a:xfrm>
          <a:prstGeom prst="roundRect">
            <a:avLst>
              <a:gd name="adj" fmla="val 27906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sz="3600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</a:rPr>
              <a:t>auth-service</a:t>
            </a:r>
          </a:p>
          <a:p>
            <a:pPr algn="ctr">
              <a:lnSpc>
                <a:spcPct val="90000"/>
              </a:lnSpc>
            </a:pPr>
            <a:r>
              <a:rPr sz="280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Identidad · JWT</a:t>
            </a:r>
          </a:p>
        </p:txBody>
      </p:sp>
      <p:sp>
        <p:nvSpPr>
          <p:cNvPr id="11" name="vehicle-service"/>
          <p:cNvSpPr/>
          <p:nvPr/>
        </p:nvSpPr>
        <p:spPr>
          <a:xfrm>
            <a:off x="10287000" y="5765800"/>
            <a:ext cx="6350000" cy="1092200"/>
          </a:xfrm>
          <a:prstGeom prst="roundRect">
            <a:avLst>
              <a:gd name="adj" fmla="val 27906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sz="3600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</a:rPr>
              <a:t>vehicle-service</a:t>
            </a:r>
          </a:p>
          <a:p>
            <a:pPr algn="ctr">
              <a:lnSpc>
                <a:spcPct val="90000"/>
              </a:lnSpc>
            </a:pPr>
            <a:r>
              <a:rPr sz="280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Vehículos · documentos</a:t>
            </a:r>
          </a:p>
        </p:txBody>
      </p:sp>
      <p:sp>
        <p:nvSpPr>
          <p:cNvPr id="12" name="route-matching"/>
          <p:cNvSpPr/>
          <p:nvPr/>
        </p:nvSpPr>
        <p:spPr>
          <a:xfrm>
            <a:off x="10287000" y="7086600"/>
            <a:ext cx="6350000" cy="1092200"/>
          </a:xfrm>
          <a:prstGeom prst="roundRect">
            <a:avLst>
              <a:gd name="adj" fmla="val 27906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sz="3600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</a:rPr>
              <a:t>route-matching</a:t>
            </a:r>
          </a:p>
          <a:p>
            <a:pPr algn="ctr">
              <a:lnSpc>
                <a:spcPct val="90000"/>
              </a:lnSpc>
            </a:pPr>
            <a:r>
              <a:rPr sz="280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Rutas · PostGIS</a:t>
            </a:r>
          </a:p>
        </p:txBody>
      </p:sp>
      <p:sp>
        <p:nvSpPr>
          <p:cNvPr id="13" name="trip-service"/>
          <p:cNvSpPr/>
          <p:nvPr/>
        </p:nvSpPr>
        <p:spPr>
          <a:xfrm>
            <a:off x="10287000" y="8407400"/>
            <a:ext cx="6350000" cy="1092200"/>
          </a:xfrm>
          <a:prstGeom prst="roundRect">
            <a:avLst>
              <a:gd name="adj" fmla="val 27906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sz="3600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</a:rPr>
              <a:t>trip-service</a:t>
            </a:r>
          </a:p>
          <a:p>
            <a:pPr algn="ctr">
              <a:lnSpc>
                <a:spcPct val="90000"/>
              </a:lnSpc>
            </a:pPr>
            <a:r>
              <a:rPr sz="280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Viajes · PIN</a:t>
            </a:r>
          </a:p>
        </p:txBody>
      </p:sp>
      <p:sp>
        <p:nvSpPr>
          <p:cNvPr id="14" name="notification-service"/>
          <p:cNvSpPr/>
          <p:nvPr/>
        </p:nvSpPr>
        <p:spPr>
          <a:xfrm>
            <a:off x="10287000" y="9728200"/>
            <a:ext cx="6350000" cy="1092200"/>
          </a:xfrm>
          <a:prstGeom prst="roundRect">
            <a:avLst>
              <a:gd name="adj" fmla="val 27906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sz="3600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</a:rPr>
              <a:t>notification-service</a:t>
            </a:r>
          </a:p>
          <a:p>
            <a:pPr algn="ctr">
              <a:lnSpc>
                <a:spcPct val="90000"/>
              </a:lnSpc>
            </a:pPr>
            <a:r>
              <a:rPr sz="280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Calificaciones · push</a:t>
            </a:r>
          </a:p>
        </p:txBody>
      </p:sp>
      <p:sp>
        <p:nvSpPr>
          <p:cNvPr id="15" name="Resend"/>
          <p:cNvSpPr/>
          <p:nvPr/>
        </p:nvSpPr>
        <p:spPr>
          <a:xfrm>
            <a:off x="17653000" y="4445000"/>
            <a:ext cx="5080000" cy="1092200"/>
          </a:xfrm>
          <a:prstGeom prst="roundRect">
            <a:avLst>
              <a:gd name="adj" fmla="val 27906"/>
            </a:avLst>
          </a:prstGeom>
          <a:solidFill>
            <a:srgbClr val="FFFFFF"/>
          </a:solidFill>
          <a:ln w="38100">
            <a:solidFill>
              <a:srgbClr val="5E5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sz="3600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</a:rPr>
              <a:t>Resend</a:t>
            </a:r>
          </a:p>
          <a:p>
            <a:pPr algn="ctr">
              <a:lnSpc>
                <a:spcPct val="90000"/>
              </a:lnSpc>
            </a:pPr>
            <a:r>
              <a:rPr sz="280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Correo</a:t>
            </a:r>
          </a:p>
        </p:txBody>
      </p:sp>
      <p:sp>
        <p:nvSpPr>
          <p:cNvPr id="16" name="ai-route-service"/>
          <p:cNvSpPr/>
          <p:nvPr/>
        </p:nvSpPr>
        <p:spPr>
          <a:xfrm>
            <a:off x="17653000" y="7086600"/>
            <a:ext cx="5080000" cy="1092200"/>
          </a:xfrm>
          <a:prstGeom prst="roundRect">
            <a:avLst>
              <a:gd name="adj" fmla="val 27906"/>
            </a:avLst>
          </a:prstGeom>
          <a:solidFill>
            <a:srgbClr val="002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sz="3600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</a:rPr>
              <a:t>ai-route-service</a:t>
            </a:r>
          </a:p>
          <a:p>
            <a:pPr algn="ctr">
              <a:lnSpc>
                <a:spcPct val="90000"/>
              </a:lnSpc>
            </a:pPr>
            <a:r>
              <a:rPr sz="2800">
                <a:solidFill>
                  <a:srgbClr val="84D700"/>
                </a:solidFill>
                <a:latin typeface="Open Sans"/>
                <a:ea typeface="Open Sans"/>
                <a:cs typeface="Open Sans"/>
              </a:rPr>
              <a:t>FastAPI · XGBoost · ALNS</a:t>
            </a:r>
          </a:p>
        </p:txBody>
      </p:sp>
      <p:sp>
        <p:nvSpPr>
          <p:cNvPr id="17" name="OSRM · TomTom"/>
          <p:cNvSpPr/>
          <p:nvPr/>
        </p:nvSpPr>
        <p:spPr>
          <a:xfrm>
            <a:off x="17653000" y="9728200"/>
            <a:ext cx="5080000" cy="1092200"/>
          </a:xfrm>
          <a:prstGeom prst="roundRect">
            <a:avLst>
              <a:gd name="adj" fmla="val 27906"/>
            </a:avLst>
          </a:prstGeom>
          <a:solidFill>
            <a:srgbClr val="FFFFFF"/>
          </a:solidFill>
          <a:ln w="38100">
            <a:solidFill>
              <a:srgbClr val="5E5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sz="3600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</a:rPr>
              <a:t>OSRM · TomTom</a:t>
            </a:r>
          </a:p>
          <a:p>
            <a:pPr algn="ctr">
              <a:lnSpc>
                <a:spcPct val="90000"/>
              </a:lnSpc>
            </a:pPr>
            <a:r>
              <a:rPr sz="280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Rutas y tráfico</a:t>
            </a:r>
          </a:p>
        </p:txBody>
      </p:sp>
      <p:cxnSp>
        <p:nvCxnSpPr>
          <p:cNvPr id="18" name="Móvil a gateway"/>
          <p:cNvCxnSpPr/>
          <p:nvPr/>
        </p:nvCxnSpPr>
        <p:spPr>
          <a:xfrm>
            <a:off x="5080000" y="5118100"/>
            <a:ext cx="889000" cy="0"/>
          </a:xfrm>
          <a:prstGeom prst="line">
            <a:avLst/>
          </a:prstGeom>
          <a:ln w="50800">
            <a:solidFill>
              <a:srgbClr val="5E5E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Admin a gateway"/>
          <p:cNvCxnSpPr/>
          <p:nvPr/>
        </p:nvCxnSpPr>
        <p:spPr>
          <a:xfrm>
            <a:off x="5080000" y="6972300"/>
            <a:ext cx="889000" cy="0"/>
          </a:xfrm>
          <a:prstGeom prst="line">
            <a:avLst/>
          </a:prstGeom>
          <a:ln w="50800">
            <a:solidFill>
              <a:srgbClr val="5E5E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ateway a bus"/>
          <p:cNvCxnSpPr/>
          <p:nvPr/>
        </p:nvCxnSpPr>
        <p:spPr>
          <a:xfrm>
            <a:off x="8763000" y="7632700"/>
            <a:ext cx="762000" cy="0"/>
          </a:xfrm>
          <a:prstGeom prst="line">
            <a:avLst/>
          </a:prstGeom>
          <a:ln w="50800">
            <a:solidFill>
              <a:srgbClr val="5E5E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Bus de servicios"/>
          <p:cNvCxnSpPr/>
          <p:nvPr/>
        </p:nvCxnSpPr>
        <p:spPr>
          <a:xfrm>
            <a:off x="9525000" y="4991100"/>
            <a:ext cx="0" cy="5283200"/>
          </a:xfrm>
          <a:prstGeom prst="line">
            <a:avLst/>
          </a:prstGeom>
          <a:ln w="50800">
            <a:solidFill>
              <a:srgbClr val="5E5E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Bus a servicio"/>
          <p:cNvCxnSpPr/>
          <p:nvPr/>
        </p:nvCxnSpPr>
        <p:spPr>
          <a:xfrm>
            <a:off x="9525000" y="4991100"/>
            <a:ext cx="762000" cy="0"/>
          </a:xfrm>
          <a:prstGeom prst="line">
            <a:avLst/>
          </a:prstGeom>
          <a:ln w="50800">
            <a:solidFill>
              <a:srgbClr val="5E5E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Bus a servicio"/>
          <p:cNvCxnSpPr/>
          <p:nvPr/>
        </p:nvCxnSpPr>
        <p:spPr>
          <a:xfrm>
            <a:off x="9525000" y="6311900"/>
            <a:ext cx="762000" cy="0"/>
          </a:xfrm>
          <a:prstGeom prst="line">
            <a:avLst/>
          </a:prstGeom>
          <a:ln w="50800">
            <a:solidFill>
              <a:srgbClr val="5E5E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Bus a servicio"/>
          <p:cNvCxnSpPr/>
          <p:nvPr/>
        </p:nvCxnSpPr>
        <p:spPr>
          <a:xfrm>
            <a:off x="9525000" y="7632700"/>
            <a:ext cx="762000" cy="0"/>
          </a:xfrm>
          <a:prstGeom prst="line">
            <a:avLst/>
          </a:prstGeom>
          <a:ln w="50800">
            <a:solidFill>
              <a:srgbClr val="5E5E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Bus a servicio"/>
          <p:cNvCxnSpPr/>
          <p:nvPr/>
        </p:nvCxnSpPr>
        <p:spPr>
          <a:xfrm>
            <a:off x="9525000" y="8953500"/>
            <a:ext cx="762000" cy="0"/>
          </a:xfrm>
          <a:prstGeom prst="line">
            <a:avLst/>
          </a:prstGeom>
          <a:ln w="50800">
            <a:solidFill>
              <a:srgbClr val="5E5E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Bus a servicio"/>
          <p:cNvCxnSpPr/>
          <p:nvPr/>
        </p:nvCxnSpPr>
        <p:spPr>
          <a:xfrm>
            <a:off x="9525000" y="10274300"/>
            <a:ext cx="762000" cy="0"/>
          </a:xfrm>
          <a:prstGeom prst="line">
            <a:avLst/>
          </a:prstGeom>
          <a:ln w="50800">
            <a:solidFill>
              <a:srgbClr val="5E5E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Auth a Resend"/>
          <p:cNvCxnSpPr/>
          <p:nvPr/>
        </p:nvCxnSpPr>
        <p:spPr>
          <a:xfrm>
            <a:off x="16637000" y="4991100"/>
            <a:ext cx="1016000" cy="0"/>
          </a:xfrm>
          <a:prstGeom prst="line">
            <a:avLst/>
          </a:prstGeom>
          <a:ln w="50800">
            <a:solidFill>
              <a:srgbClr val="5E5E5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Matching a IA"/>
          <p:cNvCxnSpPr/>
          <p:nvPr/>
        </p:nvCxnSpPr>
        <p:spPr>
          <a:xfrm>
            <a:off x="16637000" y="7632700"/>
            <a:ext cx="1016000" cy="0"/>
          </a:xfrm>
          <a:prstGeom prst="line">
            <a:avLst/>
          </a:prstGeom>
          <a:ln w="50800">
            <a:solidFill>
              <a:srgbClr val="5E5E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IA a OSRM y TomTom"/>
          <p:cNvCxnSpPr/>
          <p:nvPr/>
        </p:nvCxnSpPr>
        <p:spPr>
          <a:xfrm>
            <a:off x="20193000" y="8178800"/>
            <a:ext cx="0" cy="1549400"/>
          </a:xfrm>
          <a:prstGeom prst="line">
            <a:avLst/>
          </a:prstGeom>
          <a:ln w="50800">
            <a:solidFill>
              <a:srgbClr val="5E5E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Datos"/>
          <p:cNvSpPr/>
          <p:nvPr/>
        </p:nvSpPr>
        <p:spPr>
          <a:xfrm>
            <a:off x="10287000" y="11176000"/>
            <a:ext cx="12446000" cy="736600"/>
          </a:xfrm>
          <a:prstGeom prst="roundRect">
            <a:avLst>
              <a:gd name="adj" fmla="val 41379"/>
            </a:avLst>
          </a:prstGeom>
          <a:solidFill>
            <a:srgbClr val="FFFFFF"/>
          </a:solidFill>
          <a:ln w="38100">
            <a:solidFill>
              <a:srgbClr val="5E5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0" bIns="0">
            <a:noAutofit/>
          </a:bodyPr>
          <a:lstStyle/>
          <a:p>
            <a:pPr algn="ctr"/>
            <a:r>
              <a:rPr sz="30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PostgreSQL + PostGIS, una base por servicio · Redis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 de diapositiva"/>
          <p:cNvSpPr txBox="1"/>
          <p:nvPr/>
        </p:nvSpPr>
        <p:spPr>
          <a:xfrm>
            <a:off x="1651000" y="1625600"/>
            <a:ext cx="18288000" cy="12454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8000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</a:rPr>
              <a:t>Metodología</a:t>
            </a:r>
          </a:p>
        </p:txBody>
      </p:sp>
      <p:sp>
        <p:nvSpPr>
          <p:cNvPr id="3" name="Etiqueta Hitos del repositorio · marco PMBOK, iterativo-incremental"/>
          <p:cNvSpPr txBox="1"/>
          <p:nvPr/>
        </p:nvSpPr>
        <p:spPr>
          <a:xfrm>
            <a:off x="1651000" y="4013200"/>
            <a:ext cx="21082000" cy="467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3000" spc="100">
                <a:solidFill>
                  <a:srgbClr val="5E5E5E"/>
                </a:solidFill>
                <a:latin typeface="Open Sans ExtraBold"/>
                <a:ea typeface="Open Sans ExtraBold"/>
                <a:cs typeface="Open Sans ExtraBold"/>
              </a:rPr>
              <a:t>HITOS DEL REPOSITORIO · MARCO PMBOK, ITERATIVO-INCREMENTAL</a:t>
            </a:r>
          </a:p>
        </p:txBody>
      </p:sp>
      <p:cxnSp>
        <p:nvCxnSpPr>
          <p:cNvPr id="4" name="Línea de tiempo"/>
          <p:cNvCxnSpPr/>
          <p:nvPr/>
        </p:nvCxnSpPr>
        <p:spPr>
          <a:xfrm>
            <a:off x="4286250" y="6070600"/>
            <a:ext cx="15811500" cy="0"/>
          </a:xfrm>
          <a:prstGeom prst="line">
            <a:avLst/>
          </a:prstGeom>
          <a:ln w="76200">
            <a:solidFill>
              <a:srgbClr val="A7A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Hito 1 fecha"/>
          <p:cNvSpPr txBox="1"/>
          <p:nvPr/>
        </p:nvSpPr>
        <p:spPr>
          <a:xfrm>
            <a:off x="1803400" y="4826000"/>
            <a:ext cx="4965700" cy="8095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sz="5200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</a:rPr>
              <a:t>23 sep</a:t>
            </a:r>
          </a:p>
        </p:txBody>
      </p:sp>
      <p:sp>
        <p:nvSpPr>
          <p:cNvPr id="6" name="Hito 1 nodo"/>
          <p:cNvSpPr/>
          <p:nvPr/>
        </p:nvSpPr>
        <p:spPr>
          <a:xfrm>
            <a:off x="4032250" y="5816600"/>
            <a:ext cx="508000" cy="508000"/>
          </a:xfrm>
          <a:prstGeom prst="ellipse">
            <a:avLst/>
          </a:prstGeom>
          <a:solidFill>
            <a:srgbClr val="002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ito 1 texto"/>
          <p:cNvSpPr txBox="1"/>
          <p:nvPr/>
        </p:nvSpPr>
        <p:spPr>
          <a:xfrm>
            <a:off x="1803400" y="6604000"/>
            <a:ext cx="4965700" cy="14944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sz="320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Primer commit: 6 servicios, compose y CI</a:t>
            </a:r>
          </a:p>
        </p:txBody>
      </p:sp>
      <p:sp>
        <p:nvSpPr>
          <p:cNvPr id="8" name="Hito 2 fecha"/>
          <p:cNvSpPr txBox="1"/>
          <p:nvPr/>
        </p:nvSpPr>
        <p:spPr>
          <a:xfrm>
            <a:off x="7073900" y="4826000"/>
            <a:ext cx="4965700" cy="8095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sz="5200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</a:rPr>
              <a:t>4 oct</a:t>
            </a:r>
          </a:p>
        </p:txBody>
      </p:sp>
      <p:sp>
        <p:nvSpPr>
          <p:cNvPr id="9" name="Hito 2 nodo"/>
          <p:cNvSpPr/>
          <p:nvPr/>
        </p:nvSpPr>
        <p:spPr>
          <a:xfrm>
            <a:off x="9302750" y="5816600"/>
            <a:ext cx="508000" cy="508000"/>
          </a:xfrm>
          <a:prstGeom prst="ellipse">
            <a:avLst/>
          </a:prstGeom>
          <a:solidFill>
            <a:srgbClr val="002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ito 2 texto"/>
          <p:cNvSpPr txBox="1"/>
          <p:nvPr/>
        </p:nvSpPr>
        <p:spPr>
          <a:xfrm>
            <a:off x="7073900" y="6604000"/>
            <a:ext cx="4965700" cy="14944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sz="320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Pivote a B2B sin pagos (ADR 0001)</a:t>
            </a:r>
          </a:p>
        </p:txBody>
      </p:sp>
      <p:sp>
        <p:nvSpPr>
          <p:cNvPr id="11" name="Hito 3 fecha"/>
          <p:cNvSpPr txBox="1"/>
          <p:nvPr/>
        </p:nvSpPr>
        <p:spPr>
          <a:xfrm>
            <a:off x="12344400" y="4826000"/>
            <a:ext cx="4965700" cy="8095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sz="5200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</a:rPr>
              <a:t>5 oct</a:t>
            </a:r>
          </a:p>
        </p:txBody>
      </p:sp>
      <p:sp>
        <p:nvSpPr>
          <p:cNvPr id="12" name="Hito 3 nodo"/>
          <p:cNvSpPr/>
          <p:nvPr/>
        </p:nvSpPr>
        <p:spPr>
          <a:xfrm>
            <a:off x="14573250" y="5816600"/>
            <a:ext cx="508000" cy="508000"/>
          </a:xfrm>
          <a:prstGeom prst="ellipse">
            <a:avLst/>
          </a:prstGeom>
          <a:solidFill>
            <a:srgbClr val="002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ito 3 texto"/>
          <p:cNvSpPr txBox="1"/>
          <p:nvPr/>
        </p:nvSpPr>
        <p:spPr>
          <a:xfrm>
            <a:off x="12344400" y="6604000"/>
            <a:ext cx="4965700" cy="14944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sz="320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Producción: URLs entre servicios</a:t>
            </a:r>
          </a:p>
        </p:txBody>
      </p:sp>
      <p:sp>
        <p:nvSpPr>
          <p:cNvPr id="14" name="Hito 4 fecha"/>
          <p:cNvSpPr txBox="1"/>
          <p:nvPr/>
        </p:nvSpPr>
        <p:spPr>
          <a:xfrm>
            <a:off x="17614900" y="4826000"/>
            <a:ext cx="4965700" cy="8095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sz="5200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</a:rPr>
              <a:t>5 oct</a:t>
            </a:r>
          </a:p>
        </p:txBody>
      </p:sp>
      <p:sp>
        <p:nvSpPr>
          <p:cNvPr id="15" name="Hito 4 nodo"/>
          <p:cNvSpPr/>
          <p:nvPr/>
        </p:nvSpPr>
        <p:spPr>
          <a:xfrm>
            <a:off x="19843750" y="5816600"/>
            <a:ext cx="508000" cy="508000"/>
          </a:xfrm>
          <a:prstGeom prst="ellipse">
            <a:avLst/>
          </a:prstGeom>
          <a:solidFill>
            <a:srgbClr val="002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ito 4 texto"/>
          <p:cNvSpPr txBox="1"/>
          <p:nvPr/>
        </p:nvSpPr>
        <p:spPr>
          <a:xfrm>
            <a:off x="17614900" y="6604000"/>
            <a:ext cx="4965700" cy="14944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sz="320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App lista para las tiendas</a:t>
            </a:r>
          </a:p>
        </p:txBody>
      </p:sp>
      <p:sp>
        <p:nvSpPr>
          <p:cNvPr id="17" name="TRL 3 tarjeta"/>
          <p:cNvSpPr/>
          <p:nvPr/>
        </p:nvSpPr>
        <p:spPr>
          <a:xfrm>
            <a:off x="1651000" y="8636000"/>
            <a:ext cx="8890000" cy="2997200"/>
          </a:xfrm>
          <a:prstGeom prst="roundRect">
            <a:avLst>
              <a:gd name="adj" fmla="val 10169"/>
            </a:avLst>
          </a:prstGeom>
          <a:solidFill>
            <a:srgbClr val="002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RL 3 cifra"/>
          <p:cNvSpPr txBox="1"/>
          <p:nvPr/>
        </p:nvSpPr>
        <p:spPr>
          <a:xfrm>
            <a:off x="2057400" y="8890000"/>
            <a:ext cx="8077200" cy="18681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12000">
                <a:solidFill>
                  <a:srgbClr val="84D700"/>
                </a:solidFill>
                <a:latin typeface="Open Sans ExtraBold"/>
                <a:ea typeface="Open Sans ExtraBold"/>
                <a:cs typeface="Open Sans ExtraBold"/>
              </a:rPr>
              <a:t>TRL 3</a:t>
            </a:r>
          </a:p>
        </p:txBody>
      </p:sp>
      <p:sp>
        <p:nvSpPr>
          <p:cNvPr id="19" name="TRL 3 texto"/>
          <p:cNvSpPr txBox="1"/>
          <p:nvPr/>
        </p:nvSpPr>
        <p:spPr>
          <a:xfrm>
            <a:off x="2057400" y="10808919"/>
            <a:ext cx="8077200" cy="6227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400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prueba de concepto</a:t>
            </a:r>
          </a:p>
        </p:txBody>
      </p:sp>
      <p:sp>
        <p:nvSpPr>
          <p:cNvPr id="20" name="TRL 6 tarjeta"/>
          <p:cNvSpPr/>
          <p:nvPr/>
        </p:nvSpPr>
        <p:spPr>
          <a:xfrm>
            <a:off x="13843000" y="8636000"/>
            <a:ext cx="8890000" cy="2997200"/>
          </a:xfrm>
          <a:prstGeom prst="roundRect">
            <a:avLst>
              <a:gd name="adj" fmla="val 10169"/>
            </a:avLst>
          </a:prstGeom>
          <a:solidFill>
            <a:srgbClr val="002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RL 6 cifra"/>
          <p:cNvSpPr txBox="1"/>
          <p:nvPr/>
        </p:nvSpPr>
        <p:spPr>
          <a:xfrm>
            <a:off x="14249400" y="8890000"/>
            <a:ext cx="8077200" cy="18681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12000">
                <a:solidFill>
                  <a:srgbClr val="84D700"/>
                </a:solidFill>
                <a:latin typeface="Open Sans ExtraBold"/>
                <a:ea typeface="Open Sans ExtraBold"/>
                <a:cs typeface="Open Sans ExtraBold"/>
              </a:rPr>
              <a:t>TRL 6</a:t>
            </a:r>
          </a:p>
        </p:txBody>
      </p:sp>
      <p:sp>
        <p:nvSpPr>
          <p:cNvPr id="22" name="TRL 6 texto"/>
          <p:cNvSpPr txBox="1"/>
          <p:nvPr/>
        </p:nvSpPr>
        <p:spPr>
          <a:xfrm>
            <a:off x="14249400" y="10808919"/>
            <a:ext cx="8077200" cy="6227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400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prototipo validado</a:t>
            </a:r>
          </a:p>
        </p:txBody>
      </p:sp>
      <p:cxnSp>
        <p:nvCxnSpPr>
          <p:cNvPr id="23" name="Flecha TRL"/>
          <p:cNvCxnSpPr/>
          <p:nvPr/>
        </p:nvCxnSpPr>
        <p:spPr>
          <a:xfrm>
            <a:off x="10845800" y="10134600"/>
            <a:ext cx="2692400" cy="0"/>
          </a:xfrm>
          <a:prstGeom prst="line">
            <a:avLst/>
          </a:prstGeom>
          <a:ln w="101600">
            <a:solidFill>
              <a:srgbClr val="53535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 de diapositiva"/>
          <p:cNvSpPr txBox="1"/>
          <p:nvPr/>
        </p:nvSpPr>
        <p:spPr>
          <a:xfrm>
            <a:off x="1651000" y="1625600"/>
            <a:ext cx="18288000" cy="12454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8000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</a:rPr>
              <a:t>Comunidad verificada</a:t>
            </a:r>
          </a:p>
        </p:txBody>
      </p:sp>
      <p:sp>
        <p:nvSpPr>
          <p:cNvPr id="3" name="Fila 1"/>
          <p:cNvSpPr/>
          <p:nvPr/>
        </p:nvSpPr>
        <p:spPr>
          <a:xfrm>
            <a:off x="1651000" y="4318000"/>
            <a:ext cx="21082000" cy="228600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cono fondo mail-check"/>
          <p:cNvSpPr/>
          <p:nvPr/>
        </p:nvSpPr>
        <p:spPr>
          <a:xfrm>
            <a:off x="2006600" y="4419600"/>
            <a:ext cx="2082800" cy="2082800"/>
          </a:xfrm>
          <a:prstGeom prst="roundRect">
            <a:avLst>
              <a:gd name="adj" fmla="val 14634"/>
            </a:avLst>
          </a:prstGeom>
          <a:solidFill>
            <a:srgbClr val="84D70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Icono mail-check" descr="Icono mail-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4699000"/>
            <a:ext cx="1524000" cy="1524000"/>
          </a:xfrm>
          <a:prstGeom prst="rect">
            <a:avLst/>
          </a:prstGeom>
        </p:spPr>
      </p:pic>
      <p:sp>
        <p:nvSpPr>
          <p:cNvPr id="6" name="Fila 1 título"/>
          <p:cNvSpPr txBox="1"/>
          <p:nvPr/>
        </p:nvSpPr>
        <p:spPr>
          <a:xfrm>
            <a:off x="4597400" y="4546600"/>
            <a:ext cx="17729200" cy="812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5200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</a:rPr>
              <a:t>Correo institucional vigente</a:t>
            </a:r>
          </a:p>
        </p:txBody>
      </p:sp>
      <p:sp>
        <p:nvSpPr>
          <p:cNvPr id="7" name="Fila 1 texto"/>
          <p:cNvSpPr txBox="1"/>
          <p:nvPr/>
        </p:nvSpPr>
        <p:spPr>
          <a:xfrm>
            <a:off x="4597400" y="5435600"/>
            <a:ext cx="17729200" cy="6227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400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Solo se registra quien pertenece a una institución autorizada</a:t>
            </a:r>
          </a:p>
        </p:txBody>
      </p:sp>
      <p:sp>
        <p:nvSpPr>
          <p:cNvPr id="8" name="Fila 2"/>
          <p:cNvSpPr/>
          <p:nvPr/>
        </p:nvSpPr>
        <p:spPr>
          <a:xfrm>
            <a:off x="1651000" y="6908800"/>
            <a:ext cx="21082000" cy="228600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cono fondo users"/>
          <p:cNvSpPr/>
          <p:nvPr/>
        </p:nvSpPr>
        <p:spPr>
          <a:xfrm>
            <a:off x="2006600" y="7010400"/>
            <a:ext cx="2082800" cy="2082800"/>
          </a:xfrm>
          <a:prstGeom prst="roundRect">
            <a:avLst>
              <a:gd name="adj" fmla="val 14634"/>
            </a:avLst>
          </a:prstGeom>
          <a:solidFill>
            <a:srgbClr val="84D70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cono users" descr="Icono user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7289800"/>
            <a:ext cx="1524000" cy="1524000"/>
          </a:xfrm>
          <a:prstGeom prst="rect">
            <a:avLst/>
          </a:prstGeom>
        </p:spPr>
      </p:pic>
      <p:sp>
        <p:nvSpPr>
          <p:cNvPr id="11" name="Fila 2 título"/>
          <p:cNvSpPr txBox="1"/>
          <p:nvPr/>
        </p:nvSpPr>
        <p:spPr>
          <a:xfrm>
            <a:off x="4597400" y="7137400"/>
            <a:ext cx="17729200" cy="812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5200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</a:rPr>
              <a:t>Conductores y pasajeros verificados</a:t>
            </a:r>
          </a:p>
        </p:txBody>
      </p:sp>
      <p:sp>
        <p:nvSpPr>
          <p:cNvPr id="12" name="Fila 2 texto"/>
          <p:cNvSpPr txBox="1"/>
          <p:nvPr/>
        </p:nvSpPr>
        <p:spPr>
          <a:xfrm>
            <a:off x="4597400" y="8026400"/>
            <a:ext cx="17729200" cy="6227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400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Confianza entre pares de la misma comunidad</a:t>
            </a:r>
          </a:p>
        </p:txBody>
      </p:sp>
      <p:sp>
        <p:nvSpPr>
          <p:cNvPr id="13" name="Fila 3"/>
          <p:cNvSpPr/>
          <p:nvPr/>
        </p:nvSpPr>
        <p:spPr>
          <a:xfrm>
            <a:off x="1651000" y="9499600"/>
            <a:ext cx="21082000" cy="228600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cono fondo hand-coins"/>
          <p:cNvSpPr/>
          <p:nvPr/>
        </p:nvSpPr>
        <p:spPr>
          <a:xfrm>
            <a:off x="2006600" y="9601200"/>
            <a:ext cx="2082800" cy="2082800"/>
          </a:xfrm>
          <a:prstGeom prst="roundRect">
            <a:avLst>
              <a:gd name="adj" fmla="val 14634"/>
            </a:avLst>
          </a:prstGeom>
          <a:solidFill>
            <a:srgbClr val="84D70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Icono hand-coins" descr="Icono hand-coin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9880600"/>
            <a:ext cx="1524000" cy="1524000"/>
          </a:xfrm>
          <a:prstGeom prst="rect">
            <a:avLst/>
          </a:prstGeom>
        </p:spPr>
      </p:pic>
      <p:sp>
        <p:nvSpPr>
          <p:cNvPr id="16" name="Fila 3 título"/>
          <p:cNvSpPr txBox="1"/>
          <p:nvPr/>
        </p:nvSpPr>
        <p:spPr>
          <a:xfrm>
            <a:off x="4597400" y="9728200"/>
            <a:ext cx="17729200" cy="812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5200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</a:rPr>
              <a:t>Gastos compartidos, sin lucro</a:t>
            </a:r>
          </a:p>
        </p:txBody>
      </p:sp>
      <p:sp>
        <p:nvSpPr>
          <p:cNvPr id="17" name="Fila 3 texto"/>
          <p:cNvSpPr txBox="1"/>
          <p:nvPr/>
        </p:nvSpPr>
        <p:spPr>
          <a:xfrm>
            <a:off x="4597400" y="10617200"/>
            <a:ext cx="17729200" cy="6227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400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No es un servicio de transporte remunerado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 de diapositiva"/>
          <p:cNvSpPr txBox="1"/>
          <p:nvPr/>
        </p:nvSpPr>
        <p:spPr>
          <a:xfrm>
            <a:off x="1651000" y="1625600"/>
            <a:ext cx="18288000" cy="12454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8000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</a:rPr>
              <a:t>Validación: metas y estado actual</a:t>
            </a:r>
          </a:p>
        </p:txBody>
      </p:sp>
      <p:sp>
        <p:nvSpPr>
          <p:cNvPr id="3" name="Meta 1"/>
          <p:cNvSpPr/>
          <p:nvPr/>
        </p:nvSpPr>
        <p:spPr>
          <a:xfrm>
            <a:off x="1651000" y="4318000"/>
            <a:ext cx="10160000" cy="2336800"/>
          </a:xfrm>
          <a:prstGeom prst="roundRect">
            <a:avLst>
              <a:gd name="adj" fmla="val 13043"/>
            </a:avLst>
          </a:prstGeom>
          <a:solidFill>
            <a:srgbClr val="0A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Meta 1 cifra"/>
          <p:cNvSpPr txBox="1"/>
          <p:nvPr/>
        </p:nvSpPr>
        <p:spPr>
          <a:xfrm>
            <a:off x="2057400" y="4470400"/>
            <a:ext cx="9347200" cy="14944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9600">
                <a:solidFill>
                  <a:srgbClr val="84D700"/>
                </a:solidFill>
                <a:latin typeface="Open Sans ExtraBold"/>
                <a:ea typeface="Open Sans ExtraBold"/>
                <a:cs typeface="Open Sans ExtraBold"/>
              </a:rPr>
              <a:t>SUS ≥ 80</a:t>
            </a:r>
          </a:p>
        </p:txBody>
      </p:sp>
      <p:sp>
        <p:nvSpPr>
          <p:cNvPr id="5" name="Meta 1 texto"/>
          <p:cNvSpPr txBox="1"/>
          <p:nvPr/>
        </p:nvSpPr>
        <p:spPr>
          <a:xfrm>
            <a:off x="2057400" y="5964895"/>
            <a:ext cx="9347200" cy="4981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320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meta de usabilidad, sobre 100</a:t>
            </a:r>
          </a:p>
        </p:txBody>
      </p:sp>
      <p:sp>
        <p:nvSpPr>
          <p:cNvPr id="6" name="Meta 2"/>
          <p:cNvSpPr/>
          <p:nvPr/>
        </p:nvSpPr>
        <p:spPr>
          <a:xfrm>
            <a:off x="1651000" y="6959600"/>
            <a:ext cx="10160000" cy="2336800"/>
          </a:xfrm>
          <a:prstGeom prst="roundRect">
            <a:avLst>
              <a:gd name="adj" fmla="val 13043"/>
            </a:avLst>
          </a:prstGeom>
          <a:solidFill>
            <a:srgbClr val="0A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eta 2 cifra"/>
          <p:cNvSpPr txBox="1"/>
          <p:nvPr/>
        </p:nvSpPr>
        <p:spPr>
          <a:xfrm>
            <a:off x="2057400" y="7112000"/>
            <a:ext cx="9347200" cy="14944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9600">
                <a:solidFill>
                  <a:srgbClr val="84D700"/>
                </a:solidFill>
                <a:latin typeface="Open Sans ExtraBold"/>
                <a:ea typeface="Open Sans ExtraBold"/>
                <a:cs typeface="Open Sans ExtraBold"/>
              </a:rPr>
              <a:t>&lt; 2 s</a:t>
            </a:r>
          </a:p>
        </p:txBody>
      </p:sp>
      <p:sp>
        <p:nvSpPr>
          <p:cNvPr id="8" name="Meta 2 texto"/>
          <p:cNvSpPr txBox="1"/>
          <p:nvPr/>
        </p:nvSpPr>
        <p:spPr>
          <a:xfrm>
            <a:off x="2057400" y="8606495"/>
            <a:ext cx="9347200" cy="4981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320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meta con 100 usuarios simultáneos</a:t>
            </a:r>
          </a:p>
        </p:txBody>
      </p:sp>
      <p:sp>
        <p:nvSpPr>
          <p:cNvPr id="9" name="Meta 3"/>
          <p:cNvSpPr/>
          <p:nvPr/>
        </p:nvSpPr>
        <p:spPr>
          <a:xfrm>
            <a:off x="1651000" y="9601200"/>
            <a:ext cx="10160000" cy="2336800"/>
          </a:xfrm>
          <a:prstGeom prst="roundRect">
            <a:avLst>
              <a:gd name="adj" fmla="val 13043"/>
            </a:avLst>
          </a:prstGeom>
          <a:solidFill>
            <a:srgbClr val="0A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ta 3 cifra"/>
          <p:cNvSpPr txBox="1"/>
          <p:nvPr/>
        </p:nvSpPr>
        <p:spPr>
          <a:xfrm>
            <a:off x="2057400" y="9753600"/>
            <a:ext cx="9347200" cy="14944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9600">
                <a:solidFill>
                  <a:srgbClr val="84D700"/>
                </a:solidFill>
                <a:latin typeface="Open Sans ExtraBold"/>
                <a:ea typeface="Open Sans ExtraBold"/>
                <a:cs typeface="Open Sans ExtraBold"/>
              </a:rPr>
              <a:t>≥ 2</a:t>
            </a:r>
          </a:p>
        </p:txBody>
      </p:sp>
      <p:sp>
        <p:nvSpPr>
          <p:cNvPr id="11" name="Meta 3 texto"/>
          <p:cNvSpPr txBox="1"/>
          <p:nvPr/>
        </p:nvSpPr>
        <p:spPr>
          <a:xfrm>
            <a:off x="2057400" y="11248095"/>
            <a:ext cx="9347200" cy="4981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320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meta: versiones de Android e iOS</a:t>
            </a:r>
          </a:p>
        </p:txBody>
      </p:sp>
      <p:sp>
        <p:nvSpPr>
          <p:cNvPr id="12" name="Evidencia 1"/>
          <p:cNvSpPr/>
          <p:nvPr/>
        </p:nvSpPr>
        <p:spPr>
          <a:xfrm>
            <a:off x="12217400" y="4318000"/>
            <a:ext cx="5054600" cy="3657600"/>
          </a:xfrm>
          <a:prstGeom prst="roundRect">
            <a:avLst>
              <a:gd name="adj" fmla="val 8333"/>
            </a:avLst>
          </a:prstGeom>
          <a:solidFill>
            <a:srgbClr val="002617"/>
          </a:solidFill>
          <a:ln w="25400">
            <a:solidFill>
              <a:srgbClr val="84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videncia 1 cifra"/>
          <p:cNvSpPr txBox="1"/>
          <p:nvPr/>
        </p:nvSpPr>
        <p:spPr>
          <a:xfrm>
            <a:off x="12522200" y="4572000"/>
            <a:ext cx="4445000" cy="18681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12000">
                <a:solidFill>
                  <a:srgbClr val="84D700"/>
                </a:solidFill>
                <a:latin typeface="Open Sans ExtraBold"/>
                <a:ea typeface="Open Sans ExtraBold"/>
                <a:cs typeface="Open Sans ExtraBold"/>
              </a:rPr>
              <a:t>347</a:t>
            </a:r>
          </a:p>
        </p:txBody>
      </p:sp>
      <p:sp>
        <p:nvSpPr>
          <p:cNvPr id="14" name="Evidencia 1 texto"/>
          <p:cNvSpPr txBox="1"/>
          <p:nvPr/>
        </p:nvSpPr>
        <p:spPr>
          <a:xfrm>
            <a:off x="12522200" y="6490919"/>
            <a:ext cx="4445000" cy="996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320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pruebas automatizadas</a:t>
            </a:r>
          </a:p>
        </p:txBody>
      </p:sp>
      <p:sp>
        <p:nvSpPr>
          <p:cNvPr id="15" name="Evidencia 2"/>
          <p:cNvSpPr/>
          <p:nvPr/>
        </p:nvSpPr>
        <p:spPr>
          <a:xfrm>
            <a:off x="17678400" y="4318000"/>
            <a:ext cx="5054600" cy="3657600"/>
          </a:xfrm>
          <a:prstGeom prst="roundRect">
            <a:avLst>
              <a:gd name="adj" fmla="val 8333"/>
            </a:avLst>
          </a:prstGeom>
          <a:solidFill>
            <a:srgbClr val="002617"/>
          </a:solidFill>
          <a:ln w="25400">
            <a:solidFill>
              <a:srgbClr val="84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videncia 2 cifra"/>
          <p:cNvSpPr txBox="1"/>
          <p:nvPr/>
        </p:nvSpPr>
        <p:spPr>
          <a:xfrm>
            <a:off x="17983200" y="4572000"/>
            <a:ext cx="4445000" cy="18681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12000">
                <a:solidFill>
                  <a:srgbClr val="84D700"/>
                </a:solidFill>
                <a:latin typeface="Open Sans ExtraBold"/>
                <a:ea typeface="Open Sans ExtraBold"/>
                <a:cs typeface="Open Sans ExtraBold"/>
              </a:rPr>
              <a:t>6</a:t>
            </a:r>
          </a:p>
        </p:txBody>
      </p:sp>
      <p:sp>
        <p:nvSpPr>
          <p:cNvPr id="17" name="Evidencia 2 texto"/>
          <p:cNvSpPr txBox="1"/>
          <p:nvPr/>
        </p:nvSpPr>
        <p:spPr>
          <a:xfrm>
            <a:off x="17983200" y="6490919"/>
            <a:ext cx="4445000" cy="996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320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microservicios en producción (compose)</a:t>
            </a:r>
          </a:p>
        </p:txBody>
      </p:sp>
      <p:sp>
        <p:nvSpPr>
          <p:cNvPr id="18" name="Evidencia 3"/>
          <p:cNvSpPr/>
          <p:nvPr/>
        </p:nvSpPr>
        <p:spPr>
          <a:xfrm>
            <a:off x="12217400" y="8280400"/>
            <a:ext cx="5054600" cy="3657600"/>
          </a:xfrm>
          <a:prstGeom prst="roundRect">
            <a:avLst>
              <a:gd name="adj" fmla="val 8333"/>
            </a:avLst>
          </a:prstGeom>
          <a:solidFill>
            <a:srgbClr val="002617"/>
          </a:solidFill>
          <a:ln w="25400">
            <a:solidFill>
              <a:srgbClr val="84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videncia 3 cifra"/>
          <p:cNvSpPr txBox="1"/>
          <p:nvPr/>
        </p:nvSpPr>
        <p:spPr>
          <a:xfrm>
            <a:off x="12522200" y="8534400"/>
            <a:ext cx="4445000" cy="18681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12000">
                <a:solidFill>
                  <a:srgbClr val="84D700"/>
                </a:solidFill>
                <a:latin typeface="Open Sans ExtraBold"/>
                <a:ea typeface="Open Sans ExtraBold"/>
                <a:cs typeface="Open Sans ExtraBold"/>
              </a:rPr>
              <a:t>198</a:t>
            </a:r>
          </a:p>
        </p:txBody>
      </p:sp>
      <p:sp>
        <p:nvSpPr>
          <p:cNvPr id="20" name="Evidencia 3 texto"/>
          <p:cNvSpPr txBox="1"/>
          <p:nvPr/>
        </p:nvSpPr>
        <p:spPr>
          <a:xfrm>
            <a:off x="12522200" y="10453319"/>
            <a:ext cx="4445000" cy="996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320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ejecuciones de CI; la última pasó</a:t>
            </a:r>
          </a:p>
        </p:txBody>
      </p:sp>
      <p:sp>
        <p:nvSpPr>
          <p:cNvPr id="21" name="Evidencia 4"/>
          <p:cNvSpPr/>
          <p:nvPr/>
        </p:nvSpPr>
        <p:spPr>
          <a:xfrm>
            <a:off x="17678400" y="8280400"/>
            <a:ext cx="5054600" cy="3657600"/>
          </a:xfrm>
          <a:prstGeom prst="roundRect">
            <a:avLst>
              <a:gd name="adj" fmla="val 8333"/>
            </a:avLst>
          </a:prstGeom>
          <a:solidFill>
            <a:srgbClr val="002617"/>
          </a:solidFill>
          <a:ln w="25400">
            <a:solidFill>
              <a:srgbClr val="84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videncia 4 cifra"/>
          <p:cNvSpPr txBox="1"/>
          <p:nvPr/>
        </p:nvSpPr>
        <p:spPr>
          <a:xfrm>
            <a:off x="17983200" y="8534400"/>
            <a:ext cx="4445000" cy="18681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12000">
                <a:solidFill>
                  <a:srgbClr val="84D700"/>
                </a:solidFill>
                <a:latin typeface="Open Sans ExtraBold"/>
                <a:ea typeface="Open Sans ExtraBold"/>
                <a:cs typeface="Open Sans ExtraBold"/>
              </a:rPr>
              <a:t>200</a:t>
            </a:r>
          </a:p>
        </p:txBody>
      </p:sp>
      <p:sp>
        <p:nvSpPr>
          <p:cNvPr id="23" name="Evidencia 4 texto"/>
          <p:cNvSpPr txBox="1"/>
          <p:nvPr/>
        </p:nvSpPr>
        <p:spPr>
          <a:xfrm>
            <a:off x="17983200" y="10453319"/>
            <a:ext cx="4445000" cy="996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320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uniwheels.org responde HTTP 200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 de diapositiva"/>
          <p:cNvSpPr txBox="1"/>
          <p:nvPr/>
        </p:nvSpPr>
        <p:spPr>
          <a:xfrm>
            <a:off x="1651000" y="1625600"/>
            <a:ext cx="18288000" cy="12454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8000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</a:rPr>
              <a:t>Riesgos y mitigación</a:t>
            </a:r>
          </a:p>
        </p:txBody>
      </p:sp>
      <p:sp>
        <p:nvSpPr>
          <p:cNvPr id="3" name="Etiqueta Riesgo"/>
          <p:cNvSpPr txBox="1"/>
          <p:nvPr/>
        </p:nvSpPr>
        <p:spPr>
          <a:xfrm>
            <a:off x="1651000" y="4038600"/>
            <a:ext cx="7620000" cy="467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3000" spc="100">
                <a:solidFill>
                  <a:srgbClr val="5E5E5E"/>
                </a:solidFill>
                <a:latin typeface="Open Sans ExtraBold"/>
                <a:ea typeface="Open Sans ExtraBold"/>
                <a:cs typeface="Open Sans ExtraBold"/>
              </a:rPr>
              <a:t>RIESGO</a:t>
            </a:r>
          </a:p>
        </p:txBody>
      </p:sp>
      <p:sp>
        <p:nvSpPr>
          <p:cNvPr id="4" name="Etiqueta Impacto"/>
          <p:cNvSpPr txBox="1"/>
          <p:nvPr/>
        </p:nvSpPr>
        <p:spPr>
          <a:xfrm>
            <a:off x="11176000" y="4038600"/>
            <a:ext cx="3048000" cy="467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3000" spc="100">
                <a:solidFill>
                  <a:srgbClr val="5E5E5E"/>
                </a:solidFill>
                <a:latin typeface="Open Sans ExtraBold"/>
                <a:ea typeface="Open Sans ExtraBold"/>
                <a:cs typeface="Open Sans ExtraBold"/>
              </a:rPr>
              <a:t>IMPACTO</a:t>
            </a:r>
          </a:p>
        </p:txBody>
      </p:sp>
      <p:sp>
        <p:nvSpPr>
          <p:cNvPr id="5" name="Etiqueta Mitigación"/>
          <p:cNvSpPr txBox="1"/>
          <p:nvPr/>
        </p:nvSpPr>
        <p:spPr>
          <a:xfrm>
            <a:off x="14605000" y="4038600"/>
            <a:ext cx="7620000" cy="467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3000" spc="100">
                <a:solidFill>
                  <a:srgbClr val="5E5E5E"/>
                </a:solidFill>
                <a:latin typeface="Open Sans ExtraBold"/>
                <a:ea typeface="Open Sans ExtraBold"/>
                <a:cs typeface="Open Sans ExtraBold"/>
              </a:rPr>
              <a:t>MITIGACIÓN</a:t>
            </a:r>
          </a:p>
        </p:txBody>
      </p:sp>
      <p:sp>
        <p:nvSpPr>
          <p:cNvPr id="6" name="Riesgo 1"/>
          <p:cNvSpPr/>
          <p:nvPr/>
        </p:nvSpPr>
        <p:spPr>
          <a:xfrm>
            <a:off x="1651000" y="4724400"/>
            <a:ext cx="21082000" cy="2133600"/>
          </a:xfrm>
          <a:prstGeom prst="roundRect">
            <a:avLst>
              <a:gd name="adj" fmla="val 14285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esgo 1 texto"/>
          <p:cNvSpPr txBox="1"/>
          <p:nvPr/>
        </p:nvSpPr>
        <p:spPr>
          <a:xfrm>
            <a:off x="2057400" y="4724400"/>
            <a:ext cx="8763000" cy="213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0000"/>
              </a:lnSpc>
            </a:pPr>
            <a:r>
              <a:rPr sz="4400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</a:rPr>
              <a:t>Adopción: arranque en frío de conductores</a:t>
            </a:r>
          </a:p>
        </p:txBody>
      </p:sp>
      <p:sp>
        <p:nvSpPr>
          <p:cNvPr id="8" name="Impacto 1"/>
          <p:cNvSpPr/>
          <p:nvPr/>
        </p:nvSpPr>
        <p:spPr>
          <a:xfrm>
            <a:off x="11176000" y="5334000"/>
            <a:ext cx="2794000" cy="914400"/>
          </a:xfrm>
          <a:prstGeom prst="roundRect">
            <a:avLst>
              <a:gd name="adj" fmla="val 50000"/>
            </a:avLst>
          </a:prstGeom>
          <a:solidFill>
            <a:srgbClr val="A7A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0" bIns="0">
            <a:noAutofit/>
          </a:bodyPr>
          <a:lstStyle/>
          <a:p>
            <a:pPr algn="ctr"/>
            <a:r>
              <a:rPr sz="3600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</a:rPr>
              <a:t>Medio</a:t>
            </a:r>
          </a:p>
        </p:txBody>
      </p:sp>
      <p:sp>
        <p:nvSpPr>
          <p:cNvPr id="9" name="Mitigación 1 marca"/>
          <p:cNvSpPr/>
          <p:nvPr/>
        </p:nvSpPr>
        <p:spPr>
          <a:xfrm>
            <a:off x="14605000" y="5511800"/>
            <a:ext cx="558800" cy="558800"/>
          </a:xfrm>
          <a:prstGeom prst="ellipse">
            <a:avLst/>
          </a:prstGeom>
          <a:solidFill>
            <a:srgbClr val="84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itigación 1 check"/>
          <p:cNvSpPr/>
          <p:nvPr/>
        </p:nvSpPr>
        <p:spPr>
          <a:xfrm>
            <a:off x="14744700" y="5718810"/>
            <a:ext cx="279400" cy="202565"/>
          </a:xfrm>
          <a:custGeom>
            <a:avLst/>
            <a:gdLst/>
            <a:ahLst/>
            <a:cxnLst/>
            <a:rect l="l" t="t" r="r" b="b"/>
            <a:pathLst>
              <a:path w="279400" h="202565">
                <a:moveTo>
                  <a:pt x="0" y="97790"/>
                </a:moveTo>
                <a:lnTo>
                  <a:pt x="104775" y="202565"/>
                </a:lnTo>
                <a:lnTo>
                  <a:pt x="279400" y="0"/>
                </a:lnTo>
              </a:path>
            </a:pathLst>
          </a:custGeom>
          <a:noFill/>
          <a:ln w="63500" cap="rnd">
            <a:solidFill>
              <a:srgbClr val="0026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Mitigación 1 texto"/>
          <p:cNvSpPr txBox="1"/>
          <p:nvPr/>
        </p:nvSpPr>
        <p:spPr>
          <a:xfrm>
            <a:off x="15417800" y="4724400"/>
            <a:ext cx="6858000" cy="213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0000"/>
              </a:lnSpc>
            </a:pPr>
            <a:r>
              <a:rPr sz="360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Piloto institucional con la UNAB, comunidad cerrada</a:t>
            </a:r>
          </a:p>
        </p:txBody>
      </p:sp>
      <p:sp>
        <p:nvSpPr>
          <p:cNvPr id="12" name="Riesgo 2"/>
          <p:cNvSpPr/>
          <p:nvPr/>
        </p:nvSpPr>
        <p:spPr>
          <a:xfrm>
            <a:off x="1651000" y="7162800"/>
            <a:ext cx="21082000" cy="2133600"/>
          </a:xfrm>
          <a:prstGeom prst="roundRect">
            <a:avLst>
              <a:gd name="adj" fmla="val 14285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esgo 2 texto"/>
          <p:cNvSpPr txBox="1"/>
          <p:nvPr/>
        </p:nvSpPr>
        <p:spPr>
          <a:xfrm>
            <a:off x="2057400" y="7162800"/>
            <a:ext cx="8763000" cy="213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0000"/>
              </a:lnSpc>
            </a:pPr>
            <a:r>
              <a:rPr sz="4400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</a:rPr>
              <a:t>Seguridad entre pares</a:t>
            </a:r>
          </a:p>
        </p:txBody>
      </p:sp>
      <p:sp>
        <p:nvSpPr>
          <p:cNvPr id="14" name="Impacto 2"/>
          <p:cNvSpPr/>
          <p:nvPr/>
        </p:nvSpPr>
        <p:spPr>
          <a:xfrm>
            <a:off x="11176000" y="7772400"/>
            <a:ext cx="2794000" cy="914400"/>
          </a:xfrm>
          <a:prstGeom prst="roundRect">
            <a:avLst>
              <a:gd name="adj" fmla="val 50000"/>
            </a:avLst>
          </a:prstGeom>
          <a:solidFill>
            <a:srgbClr val="002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0" bIns="0">
            <a:noAutofit/>
          </a:bodyPr>
          <a:lstStyle/>
          <a:p>
            <a:pPr algn="ctr"/>
            <a:r>
              <a:rPr sz="3600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</a:rPr>
              <a:t>Alto</a:t>
            </a:r>
          </a:p>
        </p:txBody>
      </p:sp>
      <p:sp>
        <p:nvSpPr>
          <p:cNvPr id="15" name="Mitigación 2 marca"/>
          <p:cNvSpPr/>
          <p:nvPr/>
        </p:nvSpPr>
        <p:spPr>
          <a:xfrm>
            <a:off x="14605000" y="7950200"/>
            <a:ext cx="558800" cy="558800"/>
          </a:xfrm>
          <a:prstGeom prst="ellipse">
            <a:avLst/>
          </a:prstGeom>
          <a:solidFill>
            <a:srgbClr val="84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Mitigación 2 check"/>
          <p:cNvSpPr/>
          <p:nvPr/>
        </p:nvSpPr>
        <p:spPr>
          <a:xfrm>
            <a:off x="14744700" y="8157210"/>
            <a:ext cx="279400" cy="202565"/>
          </a:xfrm>
          <a:custGeom>
            <a:avLst/>
            <a:gdLst/>
            <a:ahLst/>
            <a:cxnLst/>
            <a:rect l="l" t="t" r="r" b="b"/>
            <a:pathLst>
              <a:path w="279400" h="202565">
                <a:moveTo>
                  <a:pt x="0" y="97790"/>
                </a:moveTo>
                <a:lnTo>
                  <a:pt x="104775" y="202565"/>
                </a:lnTo>
                <a:lnTo>
                  <a:pt x="279400" y="0"/>
                </a:lnTo>
              </a:path>
            </a:pathLst>
          </a:custGeom>
          <a:noFill/>
          <a:ln w="63500" cap="rnd">
            <a:solidFill>
              <a:srgbClr val="0026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Mitigación 2 texto"/>
          <p:cNvSpPr txBox="1"/>
          <p:nvPr/>
        </p:nvSpPr>
        <p:spPr>
          <a:xfrm>
            <a:off x="15417800" y="7162800"/>
            <a:ext cx="6858000" cy="213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0000"/>
              </a:lnSpc>
            </a:pPr>
            <a:r>
              <a:rPr sz="360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Verificación institucional y PIN de viaje</a:t>
            </a:r>
          </a:p>
        </p:txBody>
      </p:sp>
      <p:sp>
        <p:nvSpPr>
          <p:cNvPr id="18" name="Riesgo 3"/>
          <p:cNvSpPr/>
          <p:nvPr/>
        </p:nvSpPr>
        <p:spPr>
          <a:xfrm>
            <a:off x="1651000" y="9601200"/>
            <a:ext cx="21082000" cy="2133600"/>
          </a:xfrm>
          <a:prstGeom prst="roundRect">
            <a:avLst>
              <a:gd name="adj" fmla="val 14285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esgo 3 texto"/>
          <p:cNvSpPr txBox="1"/>
          <p:nvPr/>
        </p:nvSpPr>
        <p:spPr>
          <a:xfrm>
            <a:off x="2057400" y="9601200"/>
            <a:ext cx="8763000" cy="213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0000"/>
              </a:lnSpc>
            </a:pPr>
            <a:r>
              <a:rPr sz="4400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</a:rPr>
              <a:t>Dependencia de servicios externos</a:t>
            </a:r>
          </a:p>
        </p:txBody>
      </p:sp>
      <p:sp>
        <p:nvSpPr>
          <p:cNvPr id="20" name="Impacto 3"/>
          <p:cNvSpPr/>
          <p:nvPr/>
        </p:nvSpPr>
        <p:spPr>
          <a:xfrm>
            <a:off x="11176000" y="10210800"/>
            <a:ext cx="2794000" cy="914400"/>
          </a:xfrm>
          <a:prstGeom prst="roundRect">
            <a:avLst>
              <a:gd name="adj" fmla="val 50000"/>
            </a:avLst>
          </a:prstGeom>
          <a:solidFill>
            <a:srgbClr val="A7A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0" bIns="0">
            <a:noAutofit/>
          </a:bodyPr>
          <a:lstStyle/>
          <a:p>
            <a:pPr algn="ctr"/>
            <a:r>
              <a:rPr sz="3600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</a:rPr>
              <a:t>Medio</a:t>
            </a:r>
          </a:p>
        </p:txBody>
      </p:sp>
      <p:sp>
        <p:nvSpPr>
          <p:cNvPr id="21" name="Mitigación 3 marca"/>
          <p:cNvSpPr/>
          <p:nvPr/>
        </p:nvSpPr>
        <p:spPr>
          <a:xfrm>
            <a:off x="14605000" y="10388600"/>
            <a:ext cx="558800" cy="558800"/>
          </a:xfrm>
          <a:prstGeom prst="ellipse">
            <a:avLst/>
          </a:prstGeom>
          <a:solidFill>
            <a:srgbClr val="84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itigación 3 check"/>
          <p:cNvSpPr/>
          <p:nvPr/>
        </p:nvSpPr>
        <p:spPr>
          <a:xfrm>
            <a:off x="14744700" y="10595610"/>
            <a:ext cx="279400" cy="202565"/>
          </a:xfrm>
          <a:custGeom>
            <a:avLst/>
            <a:gdLst/>
            <a:ahLst/>
            <a:cxnLst/>
            <a:rect l="l" t="t" r="r" b="b"/>
            <a:pathLst>
              <a:path w="279400" h="202565">
                <a:moveTo>
                  <a:pt x="0" y="97790"/>
                </a:moveTo>
                <a:lnTo>
                  <a:pt x="104775" y="202565"/>
                </a:lnTo>
                <a:lnTo>
                  <a:pt x="279400" y="0"/>
                </a:lnTo>
              </a:path>
            </a:pathLst>
          </a:custGeom>
          <a:noFill/>
          <a:ln w="63500" cap="rnd">
            <a:solidFill>
              <a:srgbClr val="0026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Mitigación 3 texto"/>
          <p:cNvSpPr txBox="1"/>
          <p:nvPr/>
        </p:nvSpPr>
        <p:spPr>
          <a:xfrm>
            <a:off x="15417800" y="9601200"/>
            <a:ext cx="6858000" cy="213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0000"/>
              </a:lnSpc>
            </a:pPr>
            <a:r>
              <a:rPr sz="360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Fallback PostGIS si falla el servicio de IA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 de diapositiva"/>
          <p:cNvSpPr txBox="1"/>
          <p:nvPr/>
        </p:nvSpPr>
        <p:spPr>
          <a:xfrm>
            <a:off x="1651000" y="1625600"/>
            <a:ext cx="18288000" cy="12454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8000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</a:rPr>
              <a:t>Aporte y siguientes pasos</a:t>
            </a:r>
          </a:p>
        </p:txBody>
      </p:sp>
      <p:sp>
        <p:nvSpPr>
          <p:cNvPr id="3" name="Aporte Pasajero"/>
          <p:cNvSpPr/>
          <p:nvPr/>
        </p:nvSpPr>
        <p:spPr>
          <a:xfrm>
            <a:off x="1651000" y="4318000"/>
            <a:ext cx="11430000" cy="2235200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porte Pasajero título"/>
          <p:cNvSpPr txBox="1"/>
          <p:nvPr/>
        </p:nvSpPr>
        <p:spPr>
          <a:xfrm>
            <a:off x="2057400" y="4597400"/>
            <a:ext cx="10617200" cy="812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5200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</a:rPr>
              <a:t>Pasajero</a:t>
            </a:r>
          </a:p>
        </p:txBody>
      </p:sp>
      <p:sp>
        <p:nvSpPr>
          <p:cNvPr id="5" name="Aporte Pasajero texto"/>
          <p:cNvSpPr txBox="1"/>
          <p:nvPr/>
        </p:nvSpPr>
        <p:spPr>
          <a:xfrm>
            <a:off x="2057400" y="5511800"/>
            <a:ext cx="10617200" cy="6227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400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opción económica, segura y predecible</a:t>
            </a:r>
          </a:p>
        </p:txBody>
      </p:sp>
      <p:sp>
        <p:nvSpPr>
          <p:cNvPr id="6" name="Aporte Conductor"/>
          <p:cNvSpPr/>
          <p:nvPr/>
        </p:nvSpPr>
        <p:spPr>
          <a:xfrm>
            <a:off x="1651000" y="6858000"/>
            <a:ext cx="11430000" cy="2235200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porte Conductor título"/>
          <p:cNvSpPr txBox="1"/>
          <p:nvPr/>
        </p:nvSpPr>
        <p:spPr>
          <a:xfrm>
            <a:off x="2057400" y="7137400"/>
            <a:ext cx="10617200" cy="812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5200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</a:rPr>
              <a:t>Conductor</a:t>
            </a:r>
          </a:p>
        </p:txBody>
      </p:sp>
      <p:sp>
        <p:nvSpPr>
          <p:cNvPr id="8" name="Aporte Conductor texto"/>
          <p:cNvSpPr txBox="1"/>
          <p:nvPr/>
        </p:nvSpPr>
        <p:spPr>
          <a:xfrm>
            <a:off x="2057400" y="8051800"/>
            <a:ext cx="10617200" cy="6227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400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comparte combustible y parqueadero</a:t>
            </a:r>
          </a:p>
        </p:txBody>
      </p:sp>
      <p:sp>
        <p:nvSpPr>
          <p:cNvPr id="9" name="Aporte UNAB"/>
          <p:cNvSpPr/>
          <p:nvPr/>
        </p:nvSpPr>
        <p:spPr>
          <a:xfrm>
            <a:off x="1651000" y="9398000"/>
            <a:ext cx="11430000" cy="2235200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porte UNAB título"/>
          <p:cNvSpPr txBox="1"/>
          <p:nvPr/>
        </p:nvSpPr>
        <p:spPr>
          <a:xfrm>
            <a:off x="2057400" y="9677400"/>
            <a:ext cx="10617200" cy="812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5200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</a:rPr>
              <a:t>UNAB</a:t>
            </a:r>
          </a:p>
        </p:txBody>
      </p:sp>
      <p:sp>
        <p:nvSpPr>
          <p:cNvPr id="11" name="Aporte UNAB texto"/>
          <p:cNvSpPr txBox="1"/>
          <p:nvPr/>
        </p:nvSpPr>
        <p:spPr>
          <a:xfrm>
            <a:off x="2057400" y="10591800"/>
            <a:ext cx="10617200" cy="6227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4000"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menos presión en los parqueaderos</a:t>
            </a:r>
          </a:p>
        </p:txBody>
      </p:sp>
      <p:sp>
        <p:nvSpPr>
          <p:cNvPr id="12" name="Tarjeta siguientes"/>
          <p:cNvSpPr/>
          <p:nvPr/>
        </p:nvSpPr>
        <p:spPr>
          <a:xfrm>
            <a:off x="13487400" y="4318000"/>
            <a:ext cx="9245600" cy="7315200"/>
          </a:xfrm>
          <a:prstGeom prst="roundRect">
            <a:avLst>
              <a:gd name="adj" fmla="val 4166"/>
            </a:avLst>
          </a:prstGeom>
          <a:solidFill>
            <a:srgbClr val="002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tiqueta Lo que sigue"/>
          <p:cNvSpPr txBox="1"/>
          <p:nvPr/>
        </p:nvSpPr>
        <p:spPr>
          <a:xfrm>
            <a:off x="13893800" y="4724400"/>
            <a:ext cx="7620000" cy="467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3000" spc="100">
                <a:solidFill>
                  <a:srgbClr val="84D700"/>
                </a:solidFill>
                <a:latin typeface="Open Sans ExtraBold"/>
                <a:ea typeface="Open Sans ExtraBold"/>
                <a:cs typeface="Open Sans ExtraBold"/>
              </a:rPr>
              <a:t>LO QUE SIGUE</a:t>
            </a:r>
          </a:p>
        </p:txBody>
      </p:sp>
      <p:sp>
        <p:nvSpPr>
          <p:cNvPr id="14" name="Siguiente cifra"/>
          <p:cNvSpPr txBox="1"/>
          <p:nvPr/>
        </p:nvSpPr>
        <p:spPr>
          <a:xfrm>
            <a:off x="13893800" y="5461000"/>
            <a:ext cx="8432800" cy="18681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12000">
                <a:solidFill>
                  <a:srgbClr val="84D700"/>
                </a:solidFill>
                <a:latin typeface="Open Sans ExtraBold"/>
                <a:ea typeface="Open Sans ExtraBold"/>
                <a:cs typeface="Open Sans ExtraBold"/>
              </a:rPr>
              <a:t>TRL 6</a:t>
            </a:r>
          </a:p>
        </p:txBody>
      </p:sp>
      <p:sp>
        <p:nvSpPr>
          <p:cNvPr id="15" name="Siguiente TRL texto"/>
          <p:cNvSpPr txBox="1"/>
          <p:nvPr/>
        </p:nvSpPr>
        <p:spPr>
          <a:xfrm>
            <a:off x="13893800" y="7583119"/>
            <a:ext cx="8432800" cy="13699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440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Prototipo integrado, validado en un entorno relevante</a:t>
            </a:r>
          </a:p>
        </p:txBody>
      </p:sp>
      <p:sp>
        <p:nvSpPr>
          <p:cNvPr id="16" name="Siguiente escalamiento"/>
          <p:cNvSpPr txBox="1"/>
          <p:nvPr/>
        </p:nvSpPr>
        <p:spPr>
          <a:xfrm>
            <a:off x="13893800" y="9906000"/>
            <a:ext cx="8432800" cy="12454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4000">
                <a:solidFill>
                  <a:srgbClr val="84D700"/>
                </a:solidFill>
                <a:latin typeface="Open Sans"/>
                <a:ea typeface="Open Sans"/>
                <a:cs typeface="Open Sans"/>
              </a:rPr>
              <a:t>Base para futuras fases de escalamiento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 de diapositiva"/>
          <p:cNvSpPr txBox="1"/>
          <p:nvPr/>
        </p:nvSpPr>
        <p:spPr>
          <a:xfrm>
            <a:off x="1651000" y="1625600"/>
            <a:ext cx="18288000" cy="12454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8000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</a:rPr>
              <a:t>Conoce UniWheels</a:t>
            </a:r>
          </a:p>
        </p:txBody>
      </p:sp>
      <p:sp>
        <p:nvSpPr>
          <p:cNvPr id="3" name="URL"/>
          <p:cNvSpPr txBox="1"/>
          <p:nvPr/>
        </p:nvSpPr>
        <p:spPr>
          <a:xfrm>
            <a:off x="1651000" y="5080000"/>
            <a:ext cx="12700000" cy="18681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12000">
                <a:solidFill>
                  <a:srgbClr val="84D700"/>
                </a:solidFill>
                <a:latin typeface="Open Sans ExtraBold"/>
                <a:ea typeface="Open Sans ExtraBold"/>
                <a:cs typeface="Open Sans ExtraBold"/>
              </a:rPr>
              <a:t>uniwheels.org</a:t>
            </a:r>
          </a:p>
        </p:txBody>
      </p:sp>
      <p:sp>
        <p:nvSpPr>
          <p:cNvPr id="4" name="Instrucción"/>
          <p:cNvSpPr txBox="1"/>
          <p:nvPr/>
        </p:nvSpPr>
        <p:spPr>
          <a:xfrm>
            <a:off x="1651000" y="7329119"/>
            <a:ext cx="12700000" cy="8095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520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Escanea el código con tu celular</a:t>
            </a:r>
          </a:p>
        </p:txBody>
      </p:sp>
      <p:sp>
        <p:nvSpPr>
          <p:cNvPr id="5" name="QR fondo"/>
          <p:cNvSpPr/>
          <p:nvPr/>
        </p:nvSpPr>
        <p:spPr>
          <a:xfrm>
            <a:off x="15113000" y="4191000"/>
            <a:ext cx="7620000" cy="762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QR uniwheels.org" descr="Código QR a https://uniwheels.or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0" y="4318000"/>
            <a:ext cx="7366000" cy="7366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reguntas"/>
          <p:cNvSpPr txBox="1"/>
          <p:nvPr/>
        </p:nvSpPr>
        <p:spPr>
          <a:xfrm>
            <a:off x="1651000" y="9398000"/>
            <a:ext cx="21082000" cy="18681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sz="12000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</a:rPr>
              <a:t>¿Preguntas?</a:t>
            </a:r>
          </a:p>
        </p:txBody>
      </p:sp>
      <p:sp>
        <p:nvSpPr>
          <p:cNvPr id="3" name="Contacto"/>
          <p:cNvSpPr txBox="1"/>
          <p:nvPr/>
        </p:nvSpPr>
        <p:spPr>
          <a:xfrm>
            <a:off x="1651000" y="11520119"/>
            <a:ext cx="21082000" cy="5604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sz="3600">
                <a:solidFill>
                  <a:srgbClr val="84D700"/>
                </a:solidFill>
                <a:latin typeface="Open Sans"/>
                <a:ea typeface="Open Sans"/>
                <a:cs typeface="Open Sans"/>
              </a:rPr>
              <a:t>Santiago Serrano Ortiz · uniwheels.org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ítulo de diapositiva"/>
          <p:cNvSpPr txBox="1"/>
          <p:nvPr/>
        </p:nvSpPr>
        <p:spPr>
          <a:xfrm>
            <a:off x="1651000" y="1625600"/>
            <a:ext cx="18288000" cy="12454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8000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</a:rPr>
              <a:t>Respaldo · Servicios</a:t>
            </a:r>
          </a:p>
        </p:txBody>
      </p:sp>
      <p:graphicFrame>
        <p:nvGraphicFramePr>
          <p:cNvPr id="3" name="Tabla"/>
          <p:cNvGraphicFramePr>
            <a:graphicFrameLocks noGrp="1"/>
          </p:cNvGraphicFramePr>
          <p:nvPr/>
        </p:nvGraphicFramePr>
        <p:xfrm>
          <a:off x="1651000" y="4064000"/>
          <a:ext cx="21082000" cy="7010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826000"/>
                <a:gridCol w="5080000"/>
                <a:gridCol w="11176000"/>
              </a:tblGrid>
              <a:tr h="914400"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Open Sans ExtraBold"/>
                          <a:ea typeface="Open Sans ExtraBold"/>
                          <a:cs typeface="Open Sans ExtraBold"/>
                        </a:rPr>
                        <a:t>Servicio</a:t>
                      </a:r>
                    </a:p>
                  </a:txBody>
                  <a:tcPr marL="203200" marR="203200" marT="50800" marB="50800" anchor="ctr">
                    <a:solidFill>
                      <a:srgbClr val="0026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Open Sans ExtraBold"/>
                          <a:ea typeface="Open Sans ExtraBold"/>
                          <a:cs typeface="Open Sans ExtraBold"/>
                        </a:rPr>
                        <a:t>Stack</a:t>
                      </a:r>
                    </a:p>
                  </a:txBody>
                  <a:tcPr marL="203200" marR="203200" marT="50800" marB="50800" anchor="ctr">
                    <a:solidFill>
                      <a:srgbClr val="0026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Open Sans ExtraBold"/>
                          <a:ea typeface="Open Sans ExtraBold"/>
                          <a:cs typeface="Open Sans ExtraBold"/>
                        </a:rPr>
                        <a:t>Responsabilidad</a:t>
                      </a:r>
                    </a:p>
                  </a:txBody>
                  <a:tcPr marL="203200" marR="203200" marT="50800" marB="50800" anchor="ctr">
                    <a:solidFill>
                      <a:srgbClr val="002617"/>
                    </a:solidFill>
                  </a:tcPr>
                </a:tc>
              </a:tr>
              <a:tr h="1016000"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2800">
                          <a:solidFill>
                            <a:srgbClr val="000000"/>
                          </a:solidFill>
                          <a:latin typeface="Open Sans ExtraBold"/>
                          <a:ea typeface="Open Sans ExtraBold"/>
                          <a:cs typeface="Open Sans ExtraBold"/>
                        </a:rPr>
                        <a:t>auth-service</a:t>
                      </a:r>
                    </a:p>
                  </a:txBody>
                  <a:tcPr marL="203200" marR="203200" marT="50800" marB="5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2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</a:rPr>
                        <a:t>Laravel 13 · PHP 8.3</a:t>
                      </a:r>
                    </a:p>
                  </a:txBody>
                  <a:tcPr marL="203200" marR="203200" marT="50800" marB="5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2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</a:rPr>
                        <a:t>Registro con correo institucional y PIN, emisión de JWT, roles</a:t>
                      </a:r>
                    </a:p>
                  </a:txBody>
                  <a:tcPr marL="203200" marR="203200" marT="50800" marB="50800" anchor="ctr">
                    <a:solidFill>
                      <a:srgbClr val="F2F2F2"/>
                    </a:solidFill>
                  </a:tcPr>
                </a:tc>
              </a:tr>
              <a:tr h="1016000"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2800">
                          <a:solidFill>
                            <a:srgbClr val="000000"/>
                          </a:solidFill>
                          <a:latin typeface="Open Sans ExtraBold"/>
                          <a:ea typeface="Open Sans ExtraBold"/>
                          <a:cs typeface="Open Sans ExtraBold"/>
                        </a:rPr>
                        <a:t>vehicle-service</a:t>
                      </a:r>
                    </a:p>
                  </a:txBody>
                  <a:tcPr marL="203200" marR="203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2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</a:rPr>
                        <a:t>Laravel 13 · PHP 8.3</a:t>
                      </a:r>
                    </a:p>
                  </a:txBody>
                  <a:tcPr marL="203200" marR="203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2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</a:rPr>
                        <a:t>Autos y motos, documentos legales, flujo de revisión</a:t>
                      </a:r>
                    </a:p>
                  </a:txBody>
                  <a:tcPr marL="203200" marR="203200" marT="50800" marB="50800" anchor="ctr">
                    <a:solidFill>
                      <a:srgbClr val="FFFFFF"/>
                    </a:solidFill>
                  </a:tcPr>
                </a:tc>
              </a:tr>
              <a:tr h="1016000"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2800">
                          <a:solidFill>
                            <a:srgbClr val="000000"/>
                          </a:solidFill>
                          <a:latin typeface="Open Sans ExtraBold"/>
                          <a:ea typeface="Open Sans ExtraBold"/>
                          <a:cs typeface="Open Sans ExtraBold"/>
                        </a:rPr>
                        <a:t>route-matching</a:t>
                      </a:r>
                    </a:p>
                  </a:txBody>
                  <a:tcPr marL="203200" marR="203200" marT="50800" marB="5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2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</a:rPr>
                        <a:t>Laravel 13 · PostGIS</a:t>
                      </a:r>
                    </a:p>
                  </a:txBody>
                  <a:tcPr marL="203200" marR="203200" marT="50800" marB="5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2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</a:rPr>
                        <a:t>Geometrías de ruta, índices espaciales, evaluación de desvíos</a:t>
                      </a:r>
                    </a:p>
                  </a:txBody>
                  <a:tcPr marL="203200" marR="203200" marT="50800" marB="50800" anchor="ctr">
                    <a:solidFill>
                      <a:srgbClr val="F2F2F2"/>
                    </a:solidFill>
                  </a:tcPr>
                </a:tc>
              </a:tr>
              <a:tr h="1016000"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2800">
                          <a:solidFill>
                            <a:srgbClr val="000000"/>
                          </a:solidFill>
                          <a:latin typeface="Open Sans ExtraBold"/>
                          <a:ea typeface="Open Sans ExtraBold"/>
                          <a:cs typeface="Open Sans ExtraBold"/>
                        </a:rPr>
                        <a:t>trip-service</a:t>
                      </a:r>
                    </a:p>
                  </a:txBody>
                  <a:tcPr marL="203200" marR="203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2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</a:rPr>
                        <a:t>Laravel 13 · PHP 8.3</a:t>
                      </a:r>
                    </a:p>
                  </a:txBody>
                  <a:tcPr marL="203200" marR="203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2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</a:rPr>
                        <a:t>Máquina de estados del viaje, cancelaciones, suspensión</a:t>
                      </a:r>
                    </a:p>
                  </a:txBody>
                  <a:tcPr marL="203200" marR="203200" marT="50800" marB="50800" anchor="ctr">
                    <a:solidFill>
                      <a:srgbClr val="FFFFFF"/>
                    </a:solidFill>
                  </a:tcPr>
                </a:tc>
              </a:tr>
              <a:tr h="1016000"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2800">
                          <a:solidFill>
                            <a:srgbClr val="000000"/>
                          </a:solidFill>
                          <a:latin typeface="Open Sans ExtraBold"/>
                          <a:ea typeface="Open Sans ExtraBold"/>
                          <a:cs typeface="Open Sans ExtraBold"/>
                        </a:rPr>
                        <a:t>notification-service</a:t>
                      </a:r>
                    </a:p>
                  </a:txBody>
                  <a:tcPr marL="203200" marR="203200" marT="50800" marB="5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2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</a:rPr>
                        <a:t>Laravel 13 · PHP 8.3</a:t>
                      </a:r>
                    </a:p>
                  </a:txBody>
                  <a:tcPr marL="203200" marR="203200" marT="50800" marB="5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2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</a:rPr>
                        <a:t>Calificaciones, reportes de seguridad, notificaciones</a:t>
                      </a:r>
                    </a:p>
                  </a:txBody>
                  <a:tcPr marL="203200" marR="203200" marT="50800" marB="50800" anchor="ctr">
                    <a:solidFill>
                      <a:srgbClr val="F2F2F2"/>
                    </a:solidFill>
                  </a:tcPr>
                </a:tc>
              </a:tr>
              <a:tr h="1016000"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2800">
                          <a:solidFill>
                            <a:srgbClr val="000000"/>
                          </a:solidFill>
                          <a:latin typeface="Open Sans ExtraBold"/>
                          <a:ea typeface="Open Sans ExtraBold"/>
                          <a:cs typeface="Open Sans ExtraBold"/>
                        </a:rPr>
                        <a:t>ai-route-service</a:t>
                      </a:r>
                    </a:p>
                  </a:txBody>
                  <a:tcPr marL="203200" marR="203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2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</a:rPr>
                        <a:t>Python · FastAPI</a:t>
                      </a:r>
                    </a:p>
                  </a:txBody>
                  <a:tcPr marL="203200" marR="203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2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</a:rPr>
                        <a:t>ETA con XGBoost y optimización de rutas con ALNS</a:t>
                      </a:r>
                    </a:p>
                  </a:txBody>
                  <a:tcPr marL="203200" marR="203200" marT="50800" marB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uente"/>
          <p:cNvSpPr txBox="1"/>
          <p:nvPr/>
        </p:nvSpPr>
        <p:spPr>
          <a:xfrm>
            <a:off x="1651000" y="11506200"/>
            <a:ext cx="12700000" cy="4358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>
                <a:solidFill>
                  <a:srgbClr val="5E5E5E"/>
                </a:solidFill>
                <a:latin typeface="Open Sans"/>
                <a:ea typeface="Open Sans"/>
                <a:cs typeface="Open Sans"/>
              </a:rPr>
              <a:t>Fuente: README.md del repositorio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ítulo de diapositiva"/>
          <p:cNvSpPr txBox="1"/>
          <p:nvPr/>
        </p:nvSpPr>
        <p:spPr>
          <a:xfrm>
            <a:off x="1651000" y="1625600"/>
            <a:ext cx="18288000" cy="12454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8000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</a:rPr>
              <a:t>Respaldo · Variables</a:t>
            </a:r>
          </a:p>
        </p:txBody>
      </p:sp>
      <p:graphicFrame>
        <p:nvGraphicFramePr>
          <p:cNvPr id="3" name="Tabla"/>
          <p:cNvGraphicFramePr>
            <a:graphicFrameLocks noGrp="1"/>
          </p:cNvGraphicFramePr>
          <p:nvPr/>
        </p:nvGraphicFramePr>
        <p:xfrm>
          <a:off x="1651000" y="4064000"/>
          <a:ext cx="21082000" cy="5994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6604000"/>
                <a:gridCol w="9652000"/>
                <a:gridCol w="4826000"/>
              </a:tblGrid>
              <a:tr h="914400"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Open Sans ExtraBold"/>
                          <a:ea typeface="Open Sans ExtraBold"/>
                          <a:cs typeface="Open Sans ExtraBold"/>
                        </a:rPr>
                        <a:t>Variable</a:t>
                      </a:r>
                    </a:p>
                  </a:txBody>
                  <a:tcPr marL="203200" marR="203200" marT="50800" marB="50800" anchor="ctr">
                    <a:solidFill>
                      <a:srgbClr val="0026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Open Sans ExtraBold"/>
                          <a:ea typeface="Open Sans ExtraBold"/>
                          <a:cs typeface="Open Sans ExtraBold"/>
                        </a:rPr>
                        <a:t>Meta</a:t>
                      </a:r>
                    </a:p>
                  </a:txBody>
                  <a:tcPr marL="203200" marR="203200" marT="50800" marB="50800" anchor="ctr">
                    <a:solidFill>
                      <a:srgbClr val="0026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Open Sans ExtraBold"/>
                          <a:ea typeface="Open Sans ExtraBold"/>
                          <a:cs typeface="Open Sans ExtraBold"/>
                        </a:rPr>
                        <a:t>Origen</a:t>
                      </a:r>
                    </a:p>
                  </a:txBody>
                  <a:tcPr marL="203200" marR="203200" marT="50800" marB="50800" anchor="ctr">
                    <a:solidFill>
                      <a:srgbClr val="002617"/>
                    </a:solidFill>
                  </a:tcPr>
                </a:tc>
              </a:tr>
              <a:tr h="1270000"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2800">
                          <a:solidFill>
                            <a:srgbClr val="000000"/>
                          </a:solidFill>
                          <a:latin typeface="Open Sans ExtraBold"/>
                          <a:ea typeface="Open Sans ExtraBold"/>
                          <a:cs typeface="Open Sans ExtraBold"/>
                        </a:rPr>
                        <a:t>Compatibilidad Android/iOS</a:t>
                      </a:r>
                    </a:p>
                  </a:txBody>
                  <a:tcPr marL="203200" marR="203200" marT="50800" marB="5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2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</a:rPr>
                        <a:t>Pruebas en ≥ 2 versiones recientes</a:t>
                      </a:r>
                    </a:p>
                  </a:txBody>
                  <a:tcPr marL="203200" marR="203200" marT="50800" marB="5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2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</a:rPr>
                        <a:t>Documento §7.5</a:t>
                      </a:r>
                    </a:p>
                  </a:txBody>
                  <a:tcPr marL="203200" marR="203200" marT="50800" marB="50800" anchor="ctr">
                    <a:solidFill>
                      <a:srgbClr val="F2F2F2"/>
                    </a:solidFill>
                  </a:tcPr>
                </a:tc>
              </a:tr>
              <a:tr h="1270000"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2800">
                          <a:solidFill>
                            <a:srgbClr val="000000"/>
                          </a:solidFill>
                          <a:latin typeface="Open Sans ExtraBold"/>
                          <a:ea typeface="Open Sans ExtraBold"/>
                          <a:cs typeface="Open Sans ExtraBold"/>
                        </a:rPr>
                        <a:t>Rendimiento</a:t>
                      </a:r>
                    </a:p>
                  </a:txBody>
                  <a:tcPr marL="203200" marR="203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2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</a:rPr>
                        <a:t>Respuesta &lt; 2 s con 100 usuarios</a:t>
                      </a:r>
                    </a:p>
                  </a:txBody>
                  <a:tcPr marL="203200" marR="203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2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</a:rPr>
                        <a:t>Documento §7.5</a:t>
                      </a:r>
                    </a:p>
                  </a:txBody>
                  <a:tcPr marL="203200" marR="203200" marT="50800" marB="50800" anchor="ctr">
                    <a:solidFill>
                      <a:srgbClr val="FFFFFF"/>
                    </a:solidFill>
                  </a:tcPr>
                </a:tc>
              </a:tr>
              <a:tr h="1270000"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2800">
                          <a:solidFill>
                            <a:srgbClr val="000000"/>
                          </a:solidFill>
                          <a:latin typeface="Open Sans ExtraBold"/>
                          <a:ea typeface="Open Sans ExtraBold"/>
                          <a:cs typeface="Open Sans ExtraBold"/>
                        </a:rPr>
                        <a:t>Facilidad de uso</a:t>
                      </a:r>
                    </a:p>
                  </a:txBody>
                  <a:tcPr marL="203200" marR="203200" marT="50800" marB="5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2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</a:rPr>
                        <a:t>Escala SUS ≥ 80/100</a:t>
                      </a:r>
                    </a:p>
                  </a:txBody>
                  <a:tcPr marL="203200" marR="203200" marT="50800" marB="5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2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</a:rPr>
                        <a:t>Documento §7.5</a:t>
                      </a:r>
                    </a:p>
                  </a:txBody>
                  <a:tcPr marL="203200" marR="203200" marT="50800" marB="50800" anchor="ctr">
                    <a:solidFill>
                      <a:srgbClr val="F2F2F2"/>
                    </a:solidFill>
                  </a:tcPr>
                </a:tc>
              </a:tr>
              <a:tr h="1270000"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2800">
                          <a:solidFill>
                            <a:srgbClr val="000000"/>
                          </a:solidFill>
                          <a:latin typeface="Open Sans ExtraBold"/>
                          <a:ea typeface="Open Sans ExtraBold"/>
                          <a:cs typeface="Open Sans ExtraBold"/>
                        </a:rPr>
                        <a:t>Perfiles de usuario</a:t>
                      </a:r>
                    </a:p>
                  </a:txBody>
                  <a:tcPr marL="203200" marR="203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2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</a:rPr>
                        <a:t>≥ 3 perfiles con permisos</a:t>
                      </a:r>
                    </a:p>
                  </a:txBody>
                  <a:tcPr marL="203200" marR="203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2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</a:rPr>
                        <a:t>Documento §7.5</a:t>
                      </a:r>
                    </a:p>
                  </a:txBody>
                  <a:tcPr marL="203200" marR="203200" marT="50800" marB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Nota"/>
          <p:cNvSpPr txBox="1"/>
          <p:nvPr/>
        </p:nvSpPr>
        <p:spPr>
          <a:xfrm>
            <a:off x="1651000" y="10287000"/>
            <a:ext cx="21082000" cy="8717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>
                <a:solidFill>
                  <a:srgbClr val="5E5E5E"/>
                </a:solidFill>
                <a:latin typeface="Open Sans"/>
                <a:ea typeface="Open Sans"/>
                <a:cs typeface="Open Sans"/>
              </a:rPr>
              <a:t>Excluidas: Seguridad (AES-256 / OWASP) por no estar implementada en el repo, y cuatro filas heredadas de otro proyecto (MFA, búsqueda documental, trazabilidad documental, productividad).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ítulo de diapositiva"/>
          <p:cNvSpPr txBox="1"/>
          <p:nvPr/>
        </p:nvSpPr>
        <p:spPr>
          <a:xfrm>
            <a:off x="1651000" y="1625600"/>
            <a:ext cx="18288000" cy="12454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8000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</a:rPr>
              <a:t>Respaldo · Actores</a:t>
            </a:r>
          </a:p>
        </p:txBody>
      </p:sp>
      <p:graphicFrame>
        <p:nvGraphicFramePr>
          <p:cNvPr id="3" name="Tabla"/>
          <p:cNvGraphicFramePr>
            <a:graphicFrameLocks noGrp="1"/>
          </p:cNvGraphicFramePr>
          <p:nvPr/>
        </p:nvGraphicFramePr>
        <p:xfrm>
          <a:off x="1651000" y="4064000"/>
          <a:ext cx="21082000" cy="7010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826000"/>
                <a:gridCol w="8128000"/>
                <a:gridCol w="8128000"/>
              </a:tblGrid>
              <a:tr h="914400"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Open Sans ExtraBold"/>
                          <a:ea typeface="Open Sans ExtraBold"/>
                          <a:cs typeface="Open Sans ExtraBold"/>
                        </a:rPr>
                        <a:t>Actor</a:t>
                      </a:r>
                    </a:p>
                  </a:txBody>
                  <a:tcPr marL="203200" marR="203200" marT="50800" marB="50800" anchor="ctr">
                    <a:solidFill>
                      <a:srgbClr val="0026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Open Sans ExtraBold"/>
                          <a:ea typeface="Open Sans ExtraBold"/>
                          <a:cs typeface="Open Sans ExtraBold"/>
                        </a:rPr>
                        <a:t>Necesidad</a:t>
                      </a:r>
                    </a:p>
                  </a:txBody>
                  <a:tcPr marL="203200" marR="203200" marT="50800" marB="50800" anchor="ctr">
                    <a:solidFill>
                      <a:srgbClr val="0026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Open Sans ExtraBold"/>
                          <a:ea typeface="Open Sans ExtraBold"/>
                          <a:cs typeface="Open Sans ExtraBold"/>
                        </a:rPr>
                        <a:t>Limitación actual</a:t>
                      </a:r>
                    </a:p>
                  </a:txBody>
                  <a:tcPr marL="203200" marR="203200" marT="50800" marB="50800" anchor="ctr">
                    <a:solidFill>
                      <a:srgbClr val="002617"/>
                    </a:solidFill>
                  </a:tcPr>
                </a:tc>
              </a:tr>
              <a:tr h="1524000"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2800">
                          <a:solidFill>
                            <a:srgbClr val="000000"/>
                          </a:solidFill>
                          <a:latin typeface="Open Sans ExtraBold"/>
                          <a:ea typeface="Open Sans ExtraBold"/>
                          <a:cs typeface="Open Sans ExtraBold"/>
                        </a:rPr>
                        <a:t>Estudiantes pasajeros</a:t>
                      </a:r>
                    </a:p>
                  </a:txBody>
                  <a:tcPr marL="203200" marR="203200" marT="50800" marB="5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2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</a:rPr>
                        <a:t>Transporte eficiente, económico y seguro hacia los campus</a:t>
                      </a:r>
                    </a:p>
                  </a:txBody>
                  <a:tcPr marL="203200" marR="203200" marT="50800" marB="5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2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</a:rPr>
                        <a:t>Esperas largas, sobrecostos en aplicaciones, transbordos</a:t>
                      </a:r>
                    </a:p>
                  </a:txBody>
                  <a:tcPr marL="203200" marR="203200" marT="50800" marB="50800" anchor="ctr">
                    <a:solidFill>
                      <a:srgbClr val="F2F2F2"/>
                    </a:solidFill>
                  </a:tcPr>
                </a:tc>
              </a:tr>
              <a:tr h="1524000"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2800">
                          <a:solidFill>
                            <a:srgbClr val="000000"/>
                          </a:solidFill>
                          <a:latin typeface="Open Sans ExtraBold"/>
                          <a:ea typeface="Open Sans ExtraBold"/>
                          <a:cs typeface="Open Sans ExtraBold"/>
                        </a:rPr>
                        <a:t>Conductores</a:t>
                      </a:r>
                    </a:p>
                  </a:txBody>
                  <a:tcPr marL="203200" marR="203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2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</a:rPr>
                        <a:t>Reducir gasto en combustible y parqueadero</a:t>
                      </a:r>
                    </a:p>
                  </a:txBody>
                  <a:tcPr marL="203200" marR="203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2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</a:rPr>
                        <a:t>Parqueaderos saturados y falta de pasajeros verificados</a:t>
                      </a:r>
                    </a:p>
                  </a:txBody>
                  <a:tcPr marL="203200" marR="203200" marT="50800" marB="50800" anchor="ctr">
                    <a:solidFill>
                      <a:srgbClr val="FFFFFF"/>
                    </a:solidFill>
                  </a:tcPr>
                </a:tc>
              </a:tr>
              <a:tr h="1524000"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2800">
                          <a:solidFill>
                            <a:srgbClr val="000000"/>
                          </a:solidFill>
                          <a:latin typeface="Open Sans ExtraBold"/>
                          <a:ea typeface="Open Sans ExtraBold"/>
                          <a:cs typeface="Open Sans ExtraBold"/>
                        </a:rPr>
                        <a:t>Bienestar UNAB</a:t>
                      </a:r>
                    </a:p>
                  </a:txBody>
                  <a:tcPr marL="203200" marR="203200" marT="50800" marB="5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2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</a:rPr>
                        <a:t>Descongestionar parqueaderos y promover movilidad sostenible</a:t>
                      </a:r>
                    </a:p>
                  </a:txBody>
                  <a:tcPr marL="203200" marR="203200" marT="50800" marB="508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2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</a:rPr>
                        <a:t>Espacio físico limitado</a:t>
                      </a:r>
                    </a:p>
                  </a:txBody>
                  <a:tcPr marL="203200" marR="203200" marT="50800" marB="50800" anchor="ctr">
                    <a:solidFill>
                      <a:srgbClr val="F2F2F2"/>
                    </a:solidFill>
                  </a:tcPr>
                </a:tc>
              </a:tr>
              <a:tr h="1524000"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2800">
                          <a:solidFill>
                            <a:srgbClr val="000000"/>
                          </a:solidFill>
                          <a:latin typeface="Open Sans ExtraBold"/>
                          <a:ea typeface="Open Sans ExtraBold"/>
                          <a:cs typeface="Open Sans ExtraBold"/>
                        </a:rPr>
                        <a:t>Tránsito (DTB / AMB)</a:t>
                      </a:r>
                    </a:p>
                  </a:txBody>
                  <a:tcPr marL="203200" marR="203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2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</a:rPr>
                        <a:t>Reducir la sobrecarga vial en horas pico</a:t>
                      </a:r>
                    </a:p>
                  </a:txBody>
                  <a:tcPr marL="203200" marR="203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sz="2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</a:rPr>
                        <a:t>Crisis de cobertura del transporte masivo</a:t>
                      </a:r>
                    </a:p>
                  </a:txBody>
                  <a:tcPr marL="203200" marR="203200" marT="50800" marB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uente"/>
          <p:cNvSpPr txBox="1"/>
          <p:nvPr/>
        </p:nvSpPr>
        <p:spPr>
          <a:xfrm>
            <a:off x="1651000" y="11506200"/>
            <a:ext cx="15240000" cy="4358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>
                <a:solidFill>
                  <a:srgbClr val="5E5E5E"/>
                </a:solidFill>
                <a:latin typeface="Open Sans"/>
                <a:ea typeface="Open Sans"/>
                <a:cs typeface="Open Sans"/>
              </a:rPr>
              <a:t>Fuente: documento, Análisis de Necesidades y Actores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28405" tIns="28405" rIns="28405" bIns="28405" numCol="1" spcCol="38100" rtlCol="0" anchor="ctr" upright="0">
        <a:spAutoFit/>
      </a:bodyPr>
      <a:lstStyle>
        <a:defPPr marL="0" marR="0" indent="0" algn="ctr" defTabSz="2438337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0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28405" tIns="28405" rIns="28405" bIns="28405" numCol="1" spcCol="38100" rtlCol="0" anchor="ctr" upright="0">
        <a:spAutoFit/>
      </a:bodyPr>
      <a:lstStyle>
        <a:defPPr marL="0" marR="0" indent="0" algn="ctr" defTabSz="2438337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0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28405" tIns="28405" rIns="28405" bIns="28405" numCol="1" spcCol="38100" rtlCol="0" anchor="ctr" upright="0">
        <a:spAutoFit/>
      </a:bodyPr>
      <a:lstStyle>
        <a:defPPr marL="0" marR="0" indent="0" algn="ctr" defTabSz="2438337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0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28405" tIns="28405" rIns="28405" bIns="28405" numCol="1" spcCol="38100" rtlCol="0" anchor="ctr" upright="0">
        <a:spAutoFit/>
      </a:bodyPr>
      <a:lstStyle>
        <a:defPPr marL="0" marR="0" indent="0" algn="ctr" defTabSz="2438337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0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UniWheels — Semana de la Ingeniería UNAB 2026</dc:title>
  <dc:creator>Santiago Serrano Ortiz</dc:creator>
</cp:coreProperties>
</file>